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e5a5251f54cb6" /><Relationship Type="http://schemas.openxmlformats.org/officeDocument/2006/relationships/extended-properties" Target="/docProps/app.xml" Id="R87cb19486bfe40b2" /><Relationship Type="http://schemas.openxmlformats.org/officeDocument/2006/relationships/officeDocument" Target="/ppt/presentation.xml" Id="R92d045627cb843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4801b11d37430d"/>
  </p:sldMasterIdLst>
  <p:notesMasterIdLst>
    <p:notesMasterId xmlns:r="http://schemas.openxmlformats.org/officeDocument/2006/relationships" r:id="R5ade5542f352482d"/>
  </p:notesMasterIdLst>
  <p:sldIdLst>
    <p:sldId xmlns:r="http://schemas.openxmlformats.org/officeDocument/2006/relationships" id="256" r:id="R714579964bcd47c7"/>
    <p:sldId xmlns:r="http://schemas.openxmlformats.org/officeDocument/2006/relationships" id="257" r:id="R397db0e1f8f04f5c"/>
    <p:sldId xmlns:r="http://schemas.openxmlformats.org/officeDocument/2006/relationships" id="258" r:id="R344d39bd6c7140c3"/>
    <p:sldId xmlns:r="http://schemas.openxmlformats.org/officeDocument/2006/relationships" id="259" r:id="Rf34f367a7de8411d"/>
    <p:sldId xmlns:r="http://schemas.openxmlformats.org/officeDocument/2006/relationships" id="260" r:id="R7dad0ca8da9247ed"/>
    <p:sldId xmlns:r="http://schemas.openxmlformats.org/officeDocument/2006/relationships" id="261" r:id="R74abaa4ecaf348c2"/>
    <p:sldId xmlns:r="http://schemas.openxmlformats.org/officeDocument/2006/relationships" id="262" r:id="R28362b35a0b34ece"/>
    <p:sldId xmlns:r="http://schemas.openxmlformats.org/officeDocument/2006/relationships" id="263" r:id="Rdca80bafa33643c0"/>
    <p:sldId xmlns:r="http://schemas.openxmlformats.org/officeDocument/2006/relationships" id="264" r:id="Rf7ec8849800940dd"/>
    <p:sldId xmlns:r="http://schemas.openxmlformats.org/officeDocument/2006/relationships" id="265" r:id="Rf65c7bf38d114459"/>
    <p:sldId xmlns:r="http://schemas.openxmlformats.org/officeDocument/2006/relationships" id="266" r:id="Rcbfc066aadc34c0d"/>
    <p:sldId xmlns:r="http://schemas.openxmlformats.org/officeDocument/2006/relationships" id="267" r:id="R324484bd3b2141d2"/>
    <p:sldId xmlns:r="http://schemas.openxmlformats.org/officeDocument/2006/relationships" id="268" r:id="R29810ed779e04199"/>
    <p:sldId xmlns:r="http://schemas.openxmlformats.org/officeDocument/2006/relationships" id="269" r:id="R30e218f25fe64065"/>
    <p:sldId xmlns:r="http://schemas.openxmlformats.org/officeDocument/2006/relationships" id="270" r:id="Rc759d21854c34e06"/>
    <p:sldId xmlns:r="http://schemas.openxmlformats.org/officeDocument/2006/relationships" id="271" r:id="Rc5c4339061454a14"/>
    <p:sldId xmlns:r="http://schemas.openxmlformats.org/officeDocument/2006/relationships" id="272" r:id="Re3a2393246e04f0e"/>
    <p:sldId xmlns:r="http://schemas.openxmlformats.org/officeDocument/2006/relationships" id="273" r:id="Rd78d3e9402ed47ac"/>
    <p:sldId xmlns:r="http://schemas.openxmlformats.org/officeDocument/2006/relationships" id="274" r:id="Rfcd5a43a517b4330"/>
    <p:sldId xmlns:r="http://schemas.openxmlformats.org/officeDocument/2006/relationships" id="275" r:id="R7172a1eb70194aa8"/>
    <p:sldId xmlns:r="http://schemas.openxmlformats.org/officeDocument/2006/relationships" id="276" r:id="R26bc3d0403684023"/>
    <p:sldId xmlns:r="http://schemas.openxmlformats.org/officeDocument/2006/relationships" id="277" r:id="Rac824ec370fd4266"/>
    <p:sldId xmlns:r="http://schemas.openxmlformats.org/officeDocument/2006/relationships" id="278" r:id="Ra5124e06c10746d9"/>
    <p:sldId xmlns:r="http://schemas.openxmlformats.org/officeDocument/2006/relationships" id="279" r:id="R1f371d73d9bc4f02"/>
    <p:sldId xmlns:r="http://schemas.openxmlformats.org/officeDocument/2006/relationships" id="280" r:id="Rf7f29a06ca1b40a8"/>
    <p:sldId xmlns:r="http://schemas.openxmlformats.org/officeDocument/2006/relationships" id="281" r:id="Rfaf8c486af7749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d2281a300243a7" /><Relationship Type="http://schemas.openxmlformats.org/officeDocument/2006/relationships/slideMaster" Target="/ppt/slideMasters/slideMaster1.xml" Id="R0e4801b11d37430d" /><Relationship Type="http://schemas.openxmlformats.org/officeDocument/2006/relationships/notesMaster" Target="/ppt/notesMasters/notesMaster1.xml" Id="R5ade5542f352482d" /><Relationship Type="http://schemas.openxmlformats.org/officeDocument/2006/relationships/presProps" Target="/ppt/presProps.xml" Id="Rb9a6c90a348a4a63" /><Relationship Type="http://schemas.openxmlformats.org/officeDocument/2006/relationships/tableStyles" Target="/ppt/tableStyles.xml" Id="Raa37628d56ed4251" /><Relationship Type="http://schemas.openxmlformats.org/officeDocument/2006/relationships/slide" Target="/ppt/slides/slide1.xml" Id="R714579964bcd47c7" /><Relationship Type="http://schemas.openxmlformats.org/officeDocument/2006/relationships/slide" Target="/ppt/slides/slide2.xml" Id="R397db0e1f8f04f5c" /><Relationship Type="http://schemas.openxmlformats.org/officeDocument/2006/relationships/slide" Target="/ppt/slides/slide3.xml" Id="R344d39bd6c7140c3" /><Relationship Type="http://schemas.openxmlformats.org/officeDocument/2006/relationships/slide" Target="/ppt/slides/slide4.xml" Id="Rf34f367a7de8411d" /><Relationship Type="http://schemas.openxmlformats.org/officeDocument/2006/relationships/slide" Target="/ppt/slides/slide5.xml" Id="R7dad0ca8da9247ed" /><Relationship Type="http://schemas.openxmlformats.org/officeDocument/2006/relationships/slide" Target="/ppt/slides/slide6.xml" Id="R74abaa4ecaf348c2" /><Relationship Type="http://schemas.openxmlformats.org/officeDocument/2006/relationships/slide" Target="/ppt/slides/slide7.xml" Id="R28362b35a0b34ece" /><Relationship Type="http://schemas.openxmlformats.org/officeDocument/2006/relationships/slide" Target="/ppt/slides/slide8.xml" Id="Rdca80bafa33643c0" /><Relationship Type="http://schemas.openxmlformats.org/officeDocument/2006/relationships/slide" Target="/ppt/slides/slide9.xml" Id="Rf7ec8849800940dd" /><Relationship Type="http://schemas.openxmlformats.org/officeDocument/2006/relationships/slide" Target="/ppt/slides/slide10.xml" Id="Rf65c7bf38d114459" /><Relationship Type="http://schemas.openxmlformats.org/officeDocument/2006/relationships/slide" Target="/ppt/slides/slide11.xml" Id="Rcbfc066aadc34c0d" /><Relationship Type="http://schemas.openxmlformats.org/officeDocument/2006/relationships/slide" Target="/ppt/slides/slide12.xml" Id="R324484bd3b2141d2" /><Relationship Type="http://schemas.openxmlformats.org/officeDocument/2006/relationships/slide" Target="/ppt/slides/slide13.xml" Id="R29810ed779e04199" /><Relationship Type="http://schemas.openxmlformats.org/officeDocument/2006/relationships/slide" Target="/ppt/slides/slide14.xml" Id="R30e218f25fe64065" /><Relationship Type="http://schemas.openxmlformats.org/officeDocument/2006/relationships/slide" Target="/ppt/slides/slide15.xml" Id="Rc759d21854c34e06" /><Relationship Type="http://schemas.openxmlformats.org/officeDocument/2006/relationships/slide" Target="/ppt/slides/slide16.xml" Id="Rc5c4339061454a14" /><Relationship Type="http://schemas.openxmlformats.org/officeDocument/2006/relationships/slide" Target="/ppt/slides/slide17.xml" Id="Re3a2393246e04f0e" /><Relationship Type="http://schemas.openxmlformats.org/officeDocument/2006/relationships/slide" Target="/ppt/slides/slide18.xml" Id="Rd78d3e9402ed47ac" /><Relationship Type="http://schemas.openxmlformats.org/officeDocument/2006/relationships/slide" Target="/ppt/slides/slide19.xml" Id="Rfcd5a43a517b4330" /><Relationship Type="http://schemas.openxmlformats.org/officeDocument/2006/relationships/slide" Target="/ppt/slides/slide20.xml" Id="R7172a1eb70194aa8" /><Relationship Type="http://schemas.openxmlformats.org/officeDocument/2006/relationships/slide" Target="/ppt/slides/slide21.xml" Id="R26bc3d0403684023" /><Relationship Type="http://schemas.openxmlformats.org/officeDocument/2006/relationships/slide" Target="/ppt/slides/slide22.xml" Id="Rac824ec370fd4266" /><Relationship Type="http://schemas.openxmlformats.org/officeDocument/2006/relationships/slide" Target="/ppt/slides/slide23.xml" Id="Ra5124e06c10746d9" /><Relationship Type="http://schemas.openxmlformats.org/officeDocument/2006/relationships/slide" Target="/ppt/slides/slide24.xml" Id="R1f371d73d9bc4f02" /><Relationship Type="http://schemas.openxmlformats.org/officeDocument/2006/relationships/slide" Target="/ppt/slides/slide25.xml" Id="Rf7f29a06ca1b40a8" /><Relationship Type="http://schemas.openxmlformats.org/officeDocument/2006/relationships/slide" Target="/ppt/slides/slide26.xml" Id="Rfaf8c486af7749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b7ee97557f49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ession 03 - Working with data, using AI Editorial">
      <a:dk1>
        <a:srgbClr val="1F1A14"/>
      </a:dk1>
      <a:lt1>
        <a:srgbClr val="FFFFFF"/>
      </a:lt1>
      <a:dk2>
        <a:srgbClr val="1E3A35"/>
      </a:dk2>
      <a:lt2>
        <a:srgbClr val="F5F0E8"/>
      </a:lt2>
      <a:accent1>
        <a:srgbClr val="1E3A35"/>
      </a:accent1>
      <a:accent2>
        <a:srgbClr val="C4581A"/>
      </a:accent2>
      <a:accent3>
        <a:srgbClr val="F0D478"/>
      </a:accent3>
      <a:accent4>
        <a:srgbClr val="EDE5D8"/>
      </a:accent4>
      <a:accent5>
        <a:srgbClr val="5C5046"/>
      </a:accent5>
      <a:accent6>
        <a:srgbClr val="9C8E82"/>
      </a:accent6>
      <a:hlink>
        <a:srgbClr val="C4581A"/>
      </a:hlink>
      <a:folHlink>
        <a:srgbClr val="5C504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ssion 03 - Working with data, using AI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17d0a9b4714670" /><Relationship Type="http://schemas.openxmlformats.org/officeDocument/2006/relationships/notesMaster" Target="/ppt/notesMasters/notesMaster1.xml" Id="R3f6e1b433a7941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17492318dd4116" /><Relationship Type="http://schemas.openxmlformats.org/officeDocument/2006/relationships/notesMaster" Target="/ppt/notesMasters/notesMaster1.xml" Id="Re01480351f1f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164e138e4d4060" /><Relationship Type="http://schemas.openxmlformats.org/officeDocument/2006/relationships/notesMaster" Target="/ppt/notesMasters/notesMaster1.xml" Id="R0b1a0d95fd724d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d074171fe742f4" /><Relationship Type="http://schemas.openxmlformats.org/officeDocument/2006/relationships/notesMaster" Target="/ppt/notesMasters/notesMaster1.xml" Id="Ra24a001eb21441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aad23442624ca0" /><Relationship Type="http://schemas.openxmlformats.org/officeDocument/2006/relationships/notesMaster" Target="/ppt/notesMasters/notesMaster1.xml" Id="Raa0561adb5fd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053f7e7f87439b" /><Relationship Type="http://schemas.openxmlformats.org/officeDocument/2006/relationships/notesMaster" Target="/ppt/notesMasters/notesMaster1.xml" Id="R7fb7bec9502841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d4387a72594636" /><Relationship Type="http://schemas.openxmlformats.org/officeDocument/2006/relationships/notesMaster" Target="/ppt/notesMasters/notesMaster1.xml" Id="R6bda3518c4f249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54dd49800249c4" /><Relationship Type="http://schemas.openxmlformats.org/officeDocument/2006/relationships/notesMaster" Target="/ppt/notesMasters/notesMaster1.xml" Id="R3ee7ab6cf18b43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8a608a67f74dcc" /><Relationship Type="http://schemas.openxmlformats.org/officeDocument/2006/relationships/notesMaster" Target="/ppt/notesMasters/notesMaster1.xml" Id="R932fa7cb180742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da8c72c94b4724" /><Relationship Type="http://schemas.openxmlformats.org/officeDocument/2006/relationships/notesMaster" Target="/ppt/notesMasters/notesMaster1.xml" Id="R1f446da1214542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e0851a47344b8a" /><Relationship Type="http://schemas.openxmlformats.org/officeDocument/2006/relationships/notesMaster" Target="/ppt/notesMasters/notesMaster1.xml" Id="Rb1d2d870265542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639bb0d1f94240" /><Relationship Type="http://schemas.openxmlformats.org/officeDocument/2006/relationships/notesMaster" Target="/ppt/notesMasters/notesMaster1.xml" Id="R6e0a95b2d9ef45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47504380f34600" /><Relationship Type="http://schemas.openxmlformats.org/officeDocument/2006/relationships/notesMaster" Target="/ppt/notesMasters/notesMaster1.xml" Id="Rbf3ef112e48441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46cf8219104747" /><Relationship Type="http://schemas.openxmlformats.org/officeDocument/2006/relationships/notesMaster" Target="/ppt/notesMasters/notesMaster1.xml" Id="Rddd061a6f0f64e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4a6c9d3a2c451f" /><Relationship Type="http://schemas.openxmlformats.org/officeDocument/2006/relationships/notesMaster" Target="/ppt/notesMasters/notesMaster1.xml" Id="Rf5fd547c038f44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7f2f012f494a8c" /><Relationship Type="http://schemas.openxmlformats.org/officeDocument/2006/relationships/notesMaster" Target="/ppt/notesMasters/notesMaster1.xml" Id="Rf6e52a36dbbd4b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22fec767cd476c" /><Relationship Type="http://schemas.openxmlformats.org/officeDocument/2006/relationships/notesMaster" Target="/ppt/notesMasters/notesMaster1.xml" Id="R091af58f7b504b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303045e88144dd" /><Relationship Type="http://schemas.openxmlformats.org/officeDocument/2006/relationships/notesMaster" Target="/ppt/notesMasters/notesMaster1.xml" Id="R8c84da1b4c984e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16432afa01f410d" /><Relationship Type="http://schemas.openxmlformats.org/officeDocument/2006/relationships/notesMaster" Target="/ppt/notesMasters/notesMaster1.xml" Id="Rff124a58309547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56d0f8dd3f460a" /><Relationship Type="http://schemas.openxmlformats.org/officeDocument/2006/relationships/notesMaster" Target="/ppt/notesMasters/notesMaster1.xml" Id="R3328392816bc42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69dbd8bedb84437" /><Relationship Type="http://schemas.openxmlformats.org/officeDocument/2006/relationships/notesMaster" Target="/ppt/notesMasters/notesMaster1.xml" Id="Rd8435b4f98324f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4a7a1b9abb34faf" /><Relationship Type="http://schemas.openxmlformats.org/officeDocument/2006/relationships/notesMaster" Target="/ppt/notesMasters/notesMaster1.xml" Id="R33394cecc5274d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c02c37541844f15" /><Relationship Type="http://schemas.openxmlformats.org/officeDocument/2006/relationships/notesMaster" Target="/ppt/notesMasters/notesMaster1.xml" Id="R17c26e3a12724db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bca763d624648da" /><Relationship Type="http://schemas.openxmlformats.org/officeDocument/2006/relationships/notesMaster" Target="/ppt/notesMasters/notesMaster1.xml" Id="Rdc2e51e837dd4e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c513dc09ff47c4" /><Relationship Type="http://schemas.openxmlformats.org/officeDocument/2006/relationships/notesMaster" Target="/ppt/notesMasters/notesMaster1.xml" Id="Rb15692924ac84b4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ac46bff3f274d2f" /><Relationship Type="http://schemas.openxmlformats.org/officeDocument/2006/relationships/notesMaster" Target="/ppt/notesMasters/notesMaster1.xml" Id="R51abbd2cad1041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00:00-00:01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Today the standard changes. A confident answer is not the artifact. The auditable path to it 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00:01-00:03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Recall the Session 2 Gemini in Sheets / upload CSV slide. Ask: What could make either route fail?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  <a:p xmlns:a="http://schemas.openxmlformats.org/drawingml/2006/main">
            <a:r>
              <a:t>- lms/docs/taught/2026-07-workshop-sessions-01-02-reference.pdf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00:03-00:05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 three answers: scale, missing data, unclear question. If students mention hallucination, ask what hallucination looks like in arithmetic.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00:05-00:08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Vote before discussion. Do not reveal which is correct. Values stay redacted unless using the approved non-graded demonstration query.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00:08-00:11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that both results can be mechanically correct under different assumptions. The failure was the question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00:11-00:14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to the data dictionary and version/checksum card. State the private classroom-use boundary. Do not disclose answer-bearing row 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00:14-00:16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tool choice does not score. Exact facts use deterministic validation; judgment uses evidence-bound provisional AI feedback and human finalisation.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00:16-00:17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the visible timer. The next slide stays up during work. State the spoken start and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00:17-00:38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Circulate. Use recovery prompts, not answer confirmation. At 10 minutes: If you only have a number, you are halfway.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00:38-00:41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learners to snapshot their draft. Pair-check filters and denominator.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00:41-00:46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Demonstrate the open-column blank trap, then repair it. Reveal the assumption, not any graded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  <a:p xmlns:a="http://schemas.openxmlformats.org/drawingml/2006/main">
            <a:r>
              <a:t>- https://support.google.com/docs/table/25273?hl=en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00:46-00:51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Show the exact token-count method. Product limits vary and change; the durable constraint is reliability and repeatability, not one upload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  <a:p xmlns:a="http://schemas.openxmlformats.org/drawingml/2006/main">
            <a:r>
              <a:t>- lms/docs/build/10_sessions_3_5_redesign_brief.md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00:51-00:54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schema/sample is for designing the method, not estimating the final answer. The gated file is gzip-compressed JSON Lines: one focal-startup/peer-startup comparison per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00:54-00:58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options, not maturity badges. The smallest reproducible method that manages the risk is usually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00:58-01:00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Learners submit S3-SCALE-01 before choosing a lane.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01:00-01:04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a non-graded formula request. Supported learners stay in this lane.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01:04-01:07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out that a sample can omit rare categories and outliers. It cannot support a population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01:07-01:10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Colab is a runtime, not an oracle. Learners review and run the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  <a:p xmlns:a="http://schemas.openxmlformats.org/drawingml/2006/main">
            <a:r>
              <a:t>- https://research.google.com/colaboratory/intl/en-GB/faq.html</a:t>
            </a:r>
          </a:p>
          <a:p xmlns:a="http://schemas.openxmlformats.org/drawingml/2006/main">
            <a:r>
              <a:t>- https://pandas.pydata.org/pandas-docs/stable/reference/io.html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01:10-01:22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Instructor and TA split lanes. If Colab fails, use the local runner or formula-equivalent extract in the fallback pack. State the spoken start and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01:22-01:26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Two prompts to the same model are not independent. Formula vs pivot, or Sheets vs pandas, are stronger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01:26-01:31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mechanic is deliberately retained from the earlier data lab. Learners complete S3-DATA-10.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  <a:p xmlns:a="http://schemas.openxmlformats.org/drawingml/2006/main">
            <a:r>
              <a:t>- lms/docs/taught/2026-07-workshop-sessions-01-02-reference.pdf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01:31-01:35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one-line example for each job. A snapshot growth rate is not a time series.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01:35-01:39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belief the first chart exaggerates. Call out missingness annotation and selection bias. Use only the approved non-graded demonstration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01:39-01:54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S3-VIZ-*; no coaching. Rationale should name the decision, data shape and one guardrail. The slide remains visible for the full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01:54-01:58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artifact gate open to the published deadline. Visual check may close now. Point to the separate public-safe memo template; learners start it after class, not during ship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  <a:p xmlns:a="http://schemas.openxmlformats.org/drawingml/2006/main">
            <a:r>
              <a:t>- lms/docs/build/01_scoring_methodology.md</a:t>
            </a:r>
          </a:p>
          <a:p xmlns:a="http://schemas.openxmlformats.org/drawingml/2006/main">
            <a:r>
              <a:t>- lms/course/session-03/public-safe-portfolio-data-memo-template.md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01:58-02:00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learners to record the 24-hour post-class memo deadline and exact portfolio label: Session 3 public-safe data memo. The memo covers problem, grain/schema, method, independent verification, and limitation/ethics, with no TrustMRR row, derived value, or screenshot. Do not begin it in class or preview the selected product's row-level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lms/course/session-03/deck-script.md</a:t>
            </a:r>
          </a:p>
          <a:p xmlns:a="http://schemas.openxmlformats.org/drawingml/2006/main">
            <a:r>
              <a:t>- lms/docs/taught/2026-07-session-01-industry-maps.html</a:t>
            </a:r>
          </a:p>
          <a:p xmlns:a="http://schemas.openxmlformats.org/drawingml/2006/main">
            <a:r>
              <a:t>- lms/course/session-03/public-safe-portfolio-data-memo-template.md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29519103b4a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dc21fe4ba64726" /><Relationship Type="http://schemas.openxmlformats.org/officeDocument/2006/relationships/slideLayout" Target="/ppt/slideLayouts/slideLayout1.xml" Id="Rce6bbbfe49514d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6bbbfe49514d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ession 03 - Working with data, using AI Editorial">
      <a:dk1>
        <a:srgbClr val="1F1A14"/>
      </a:dk1>
      <a:lt1>
        <a:srgbClr val="FFFFFF"/>
      </a:lt1>
      <a:dk2>
        <a:srgbClr val="1E3A35"/>
      </a:dk2>
      <a:lt2>
        <a:srgbClr val="F5F0E8"/>
      </a:lt2>
      <a:accent1>
        <a:srgbClr val="1E3A35"/>
      </a:accent1>
      <a:accent2>
        <a:srgbClr val="C4581A"/>
      </a:accent2>
      <a:accent3>
        <a:srgbClr val="F0D478"/>
      </a:accent3>
      <a:accent4>
        <a:srgbClr val="EDE5D8"/>
      </a:accent4>
      <a:accent5>
        <a:srgbClr val="5C5046"/>
      </a:accent5>
      <a:accent6>
        <a:srgbClr val="9C8E82"/>
      </a:accent6>
      <a:hlink>
        <a:srgbClr val="C4581A"/>
      </a:hlink>
      <a:folHlink>
        <a:srgbClr val="5C504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ssion 03 - Working with data, using AI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61ed3f43e4377" /><Relationship Type="http://schemas.openxmlformats.org/officeDocument/2006/relationships/notesSlide" Target="/ppt/notesSlides/notesSlide1.xml" Id="R3173ade7413344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f2efafea64904" /><Relationship Type="http://schemas.openxmlformats.org/officeDocument/2006/relationships/notesSlide" Target="/ppt/notesSlides/notesSlide2.xml" Id="R4d5aeb41712444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cd93f45e24ffd" /><Relationship Type="http://schemas.openxmlformats.org/officeDocument/2006/relationships/notesSlide" Target="/ppt/notesSlides/notesSlide3.xml" Id="R9939a508e83443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ef95df2ec4467" /><Relationship Type="http://schemas.openxmlformats.org/officeDocument/2006/relationships/notesSlide" Target="/ppt/notesSlides/notesSlide4.xml" Id="Ra9bebd54a69d44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38ffa649b41f8" /><Relationship Type="http://schemas.openxmlformats.org/officeDocument/2006/relationships/notesSlide" Target="/ppt/notesSlides/notesSlide5.xml" Id="R20f2bad4970443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665f488d84809" /><Relationship Type="http://schemas.openxmlformats.org/officeDocument/2006/relationships/notesSlide" Target="/ppt/notesSlides/notesSlide6.xml" Id="Rfac09fdcf93048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df1d131874f8a" /><Relationship Type="http://schemas.openxmlformats.org/officeDocument/2006/relationships/notesSlide" Target="/ppt/notesSlides/notesSlide7.xml" Id="Re9d7eb32197046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91da50b764cfc" /><Relationship Type="http://schemas.openxmlformats.org/officeDocument/2006/relationships/notesSlide" Target="/ppt/notesSlides/notesSlide8.xml" Id="R731e8e98a1f64f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2ed5040814630" /><Relationship Type="http://schemas.openxmlformats.org/officeDocument/2006/relationships/notesSlide" Target="/ppt/notesSlides/notesSlide9.xml" Id="R111dabdaf7b543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c49064377401d" /><Relationship Type="http://schemas.openxmlformats.org/officeDocument/2006/relationships/notesSlide" Target="/ppt/notesSlides/notesSlide10.xml" Id="R52fad68547f341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e207f9f9545c3" /><Relationship Type="http://schemas.openxmlformats.org/officeDocument/2006/relationships/notesSlide" Target="/ppt/notesSlides/notesSlide11.xml" Id="Ra461993d76db4a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00c7ebaa341c7" /><Relationship Type="http://schemas.openxmlformats.org/officeDocument/2006/relationships/notesSlide" Target="/ppt/notesSlides/notesSlide12.xml" Id="R5e6507ac120d4a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7e8232d834477" /><Relationship Type="http://schemas.openxmlformats.org/officeDocument/2006/relationships/notesSlide" Target="/ppt/notesSlides/notesSlide13.xml" Id="R95de85f32ffa46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de6e0501f44ba" /><Relationship Type="http://schemas.openxmlformats.org/officeDocument/2006/relationships/notesSlide" Target="/ppt/notesSlides/notesSlide14.xml" Id="Re2c3088cceea4c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616b0c45d4e15" /><Relationship Type="http://schemas.openxmlformats.org/officeDocument/2006/relationships/notesSlide" Target="/ppt/notesSlides/notesSlide15.xml" Id="R11ec46bcef0f4f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a159206544e86" /><Relationship Type="http://schemas.openxmlformats.org/officeDocument/2006/relationships/notesSlide" Target="/ppt/notesSlides/notesSlide16.xml" Id="R1ef9fd4e61bf4f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bd8aadc5a4ea6" /><Relationship Type="http://schemas.openxmlformats.org/officeDocument/2006/relationships/notesSlide" Target="/ppt/notesSlides/notesSlide17.xml" Id="Rf06dee1358e141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6a0cd8cac439a" /><Relationship Type="http://schemas.openxmlformats.org/officeDocument/2006/relationships/notesSlide" Target="/ppt/notesSlides/notesSlide18.xml" Id="R9e66c38a67ad48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604b0f9cc49e3" /><Relationship Type="http://schemas.openxmlformats.org/officeDocument/2006/relationships/notesSlide" Target="/ppt/notesSlides/notesSlide19.xml" Id="R3f72090fb71347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0f07a2b5547b7" /><Relationship Type="http://schemas.openxmlformats.org/officeDocument/2006/relationships/notesSlide" Target="/ppt/notesSlides/notesSlide20.xml" Id="Rae57254b404a45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2cdc414314225" /><Relationship Type="http://schemas.openxmlformats.org/officeDocument/2006/relationships/notesSlide" Target="/ppt/notesSlides/notesSlide21.xml" Id="Rd01753b64a0b4a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023c70885416b" /><Relationship Type="http://schemas.openxmlformats.org/officeDocument/2006/relationships/notesSlide" Target="/ppt/notesSlides/notesSlide22.xml" Id="Rd4b11e5e6cd64c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9bac8f83b4c2f" /><Relationship Type="http://schemas.openxmlformats.org/officeDocument/2006/relationships/notesSlide" Target="/ppt/notesSlides/notesSlide23.xml" Id="Rc7a521b7490b4d8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77fe1860243c6" /><Relationship Type="http://schemas.openxmlformats.org/officeDocument/2006/relationships/notesSlide" Target="/ppt/notesSlides/notesSlide24.xml" Id="R273ead8b4dd546b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ec21467a64c6e" /><Relationship Type="http://schemas.openxmlformats.org/officeDocument/2006/relationships/notesSlide" Target="/ppt/notesSlides/notesSlide25.xml" Id="Rf8219fb26f2f4a3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52aedc54f4814" /><Relationship Type="http://schemas.openxmlformats.org/officeDocument/2006/relationships/notesSlide" Target="/ppt/notesSlides/notesSlide26.xml" Id="R7da816c353754e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1-cover-accent">
            <a:extLst xmlns:a="http://schemas.openxmlformats.org/drawingml/2006/main">
              <a:ext uri="{FF2B5EF4-FFF2-40B4-BE49-F238E27FC236}">
                <a16:creationId xmlns:a16="http://schemas.microsoft.com/office/drawing/2014/main" id="{7521CD1B-008D-4D8D-B8C6-94C60936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2-kicker">
            <a:extLst xmlns:a="http://schemas.openxmlformats.org/drawingml/2006/main">
              <a:ext uri="{FF2B5EF4-FFF2-40B4-BE49-F238E27FC236}">
                <a16:creationId xmlns:a16="http://schemas.microsoft.com/office/drawing/2014/main" id="{9800B472-617F-4468-8009-E76E9EDE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SESSION 03 · JUDGMENT + CRAFT</a:t>
            </a:r>
          </a:p>
        </p:txBody>
      </p:sp>
      <p:sp>
        <p:nvSpPr>
          <p:cNvPr id="3" name="03-cover-title">
            <a:extLst xmlns:a="http://schemas.openxmlformats.org/drawingml/2006/main">
              <a:ext uri="{FF2B5EF4-FFF2-40B4-BE49-F238E27FC236}">
                <a16:creationId xmlns:a16="http://schemas.microsoft.com/office/drawing/2014/main" id="{62438A2C-080A-4C50-9F56-E19F2502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524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615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Working with data.</a:t>
            </a:r>
          </a:p>
        </p:txBody>
      </p:sp>
      <p:sp>
        <p:nvSpPr>
          <p:cNvPr id="4" name="04-cover-subtitle">
            <a:extLst xmlns:a="http://schemas.openxmlformats.org/drawingml/2006/main">
              <a:ext uri="{FF2B5EF4-FFF2-40B4-BE49-F238E27FC236}">
                <a16:creationId xmlns:a16="http://schemas.microsoft.com/office/drawing/2014/main" id="{3AC6D7C7-1BA1-4869-A5F5-ABBC2CFF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 i="1">
                <a:solidFill>
                  <a:srgbClr val="C4581A"/>
                </a:solidFill>
                <a:latin typeface="Fraunces 9pt"/>
                <a:ea typeface="Fraunces 9pt"/>
                <a:cs typeface="Fraunces 9pt"/>
              </a:defRPr>
            </a:pPr>
            <a:r>
              <a:rPr sz="5400" b="0" i="1">
                <a:solidFill>
                  <a:srgbClr val="C4581A"/>
                </a:solidFill>
                <a:latin typeface="Fraunces 9pt"/>
                <a:ea typeface="Fraunces 9pt"/>
                <a:cs typeface="Fraunces 9pt"/>
              </a:rPr>
              <a:t>Not chatting about it.</a:t>
            </a:r>
          </a:p>
        </p:txBody>
      </p:sp>
      <p:sp>
        <p:nvSpPr>
          <p:cNvPr id="5" name="05-grid-cell">
            <a:extLst xmlns:a="http://schemas.openxmlformats.org/drawingml/2006/main">
              <a:ext uri="{FF2B5EF4-FFF2-40B4-BE49-F238E27FC236}">
                <a16:creationId xmlns:a16="http://schemas.microsoft.com/office/drawing/2014/main" id="{2E8CBD26-3064-45C1-9BF3-61E4C75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3A35"/>
            </a:solidFill>
            <a:prstDash val="solid"/>
          </a:ln>
        </p:spPr>
      </p:sp>
      <p:sp>
        <p:nvSpPr>
          <p:cNvPr id="6" name="06-grid-label">
            <a:extLst xmlns:a="http://schemas.openxmlformats.org/drawingml/2006/main">
              <a:ext uri="{FF2B5EF4-FFF2-40B4-BE49-F238E27FC236}">
                <a16:creationId xmlns:a16="http://schemas.microsoft.com/office/drawing/2014/main" id="{2B3001D9-6B56-4082-96CA-D82624CF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14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record_id</a:t>
            </a:r>
          </a:p>
        </p:txBody>
      </p:sp>
      <p:sp>
        <p:nvSpPr>
          <p:cNvPr id="7" name="07-grid-cell">
            <a:extLst xmlns:a="http://schemas.openxmlformats.org/drawingml/2006/main">
              <a:ext uri="{FF2B5EF4-FFF2-40B4-BE49-F238E27FC236}">
                <a16:creationId xmlns:a16="http://schemas.microsoft.com/office/drawing/2014/main" id="{526530A7-26EB-4D55-88E3-63595AE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383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3A35"/>
            </a:solidFill>
            <a:prstDash val="solid"/>
          </a:ln>
        </p:spPr>
      </p:sp>
      <p:sp>
        <p:nvSpPr>
          <p:cNvPr id="8" name="08-grid-label">
            <a:extLst xmlns:a="http://schemas.openxmlformats.org/drawingml/2006/main">
              <a:ext uri="{FF2B5EF4-FFF2-40B4-BE49-F238E27FC236}">
                <a16:creationId xmlns:a16="http://schemas.microsoft.com/office/drawing/2014/main" id="{3351A790-92BF-4C17-8FB7-5FFC6B7D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sector</a:t>
            </a:r>
          </a:p>
        </p:txBody>
      </p:sp>
      <p:sp>
        <p:nvSpPr>
          <p:cNvPr id="9" name="09-grid-cell">
            <a:extLst xmlns:a="http://schemas.openxmlformats.org/drawingml/2006/main">
              <a:ext uri="{FF2B5EF4-FFF2-40B4-BE49-F238E27FC236}">
                <a16:creationId xmlns:a16="http://schemas.microsoft.com/office/drawing/2014/main" id="{53604B0F-9986-4271-96BA-DE2A706C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88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3A35"/>
            </a:solidFill>
            <a:prstDash val="solid"/>
          </a:ln>
        </p:spPr>
      </p:sp>
      <p:sp>
        <p:nvSpPr>
          <p:cNvPr id="10" name="10-grid-label">
            <a:extLst xmlns:a="http://schemas.openxmlformats.org/drawingml/2006/main">
              <a:ext uri="{FF2B5EF4-FFF2-40B4-BE49-F238E27FC236}">
                <a16:creationId xmlns:a16="http://schemas.microsoft.com/office/drawing/2014/main" id="{D289126E-DB98-4980-B54E-C1404AC4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0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currency</a:t>
            </a:r>
          </a:p>
        </p:txBody>
      </p:sp>
      <p:sp>
        <p:nvSpPr>
          <p:cNvPr id="11" name="11-grid-cell">
            <a:extLst xmlns:a="http://schemas.openxmlformats.org/drawingml/2006/main">
              <a:ext uri="{FF2B5EF4-FFF2-40B4-BE49-F238E27FC236}">
                <a16:creationId xmlns:a16="http://schemas.microsoft.com/office/drawing/2014/main" id="{F970A3DC-8B90-4D6B-8493-B1EE4E88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3A35"/>
            </a:solidFill>
            <a:prstDash val="solid"/>
          </a:ln>
        </p:spPr>
      </p:sp>
      <p:sp>
        <p:nvSpPr>
          <p:cNvPr id="12" name="12-grid-label">
            <a:extLst xmlns:a="http://schemas.openxmlformats.org/drawingml/2006/main">
              <a:ext uri="{FF2B5EF4-FFF2-40B4-BE49-F238E27FC236}">
                <a16:creationId xmlns:a16="http://schemas.microsoft.com/office/drawing/2014/main" id="{9AB8D54A-DB21-448F-8E79-B4B9FD40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0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mrr_usd</a:t>
            </a:r>
          </a:p>
        </p:txBody>
      </p:sp>
      <p:sp>
        <p:nvSpPr>
          <p:cNvPr id="13" name="13-grid-cell">
            <a:extLst xmlns:a="http://schemas.openxmlformats.org/drawingml/2006/main">
              <a:ext uri="{FF2B5EF4-FFF2-40B4-BE49-F238E27FC236}">
                <a16:creationId xmlns:a16="http://schemas.microsoft.com/office/drawing/2014/main" id="{EEBC26EB-C211-4852-9BC1-1E989C60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3A35"/>
            </a:solidFill>
            <a:prstDash val="solid"/>
          </a:ln>
        </p:spPr>
      </p:sp>
      <p:sp>
        <p:nvSpPr>
          <p:cNvPr id="14" name="14-grid-label">
            <a:extLst xmlns:a="http://schemas.openxmlformats.org/drawingml/2006/main">
              <a:ext uri="{FF2B5EF4-FFF2-40B4-BE49-F238E27FC236}">
                <a16:creationId xmlns:a16="http://schemas.microsoft.com/office/drawing/2014/main" id="{944DE6D0-AC96-4188-8727-D8BCAB74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runway</a:t>
            </a:r>
          </a:p>
        </p:txBody>
      </p:sp>
      <p:sp>
        <p:nvSpPr>
          <p:cNvPr id="15" name="15-grid-cell">
            <a:extLst xmlns:a="http://schemas.openxmlformats.org/drawingml/2006/main">
              <a:ext uri="{FF2B5EF4-FFF2-40B4-BE49-F238E27FC236}">
                <a16:creationId xmlns:a16="http://schemas.microsoft.com/office/drawing/2014/main" id="{509624F5-4ADA-4CBE-8BB9-2D25C73F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194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3A35"/>
            </a:solidFill>
            <a:prstDash val="solid"/>
          </a:ln>
        </p:spPr>
      </p:sp>
      <p:sp>
        <p:nvSpPr>
          <p:cNvPr id="16" name="16-grid-label">
            <a:extLst xmlns:a="http://schemas.openxmlformats.org/drawingml/2006/main">
              <a:ext uri="{FF2B5EF4-FFF2-40B4-BE49-F238E27FC236}">
                <a16:creationId xmlns:a16="http://schemas.microsoft.com/office/drawing/2014/main" id="{4F67098B-304F-4B01-A6D3-4C4E1A38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95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growth_rate</a:t>
            </a:r>
          </a:p>
        </p:txBody>
      </p:sp>
      <p:sp>
        <p:nvSpPr>
          <p:cNvPr id="17" name="17-footer-rule">
            <a:extLst xmlns:a="http://schemas.openxmlformats.org/drawingml/2006/main">
              <a:ext uri="{FF2B5EF4-FFF2-40B4-BE49-F238E27FC236}">
                <a16:creationId xmlns:a16="http://schemas.microsoft.com/office/drawing/2014/main" id="{4AD9AA93-5250-4F4F-BD1B-6712E507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8" name="18-footer-left">
            <a:extLst xmlns:a="http://schemas.openxmlformats.org/drawingml/2006/main">
              <a:ext uri="{FF2B5EF4-FFF2-40B4-BE49-F238E27FC236}">
                <a16:creationId xmlns:a16="http://schemas.microsoft.com/office/drawing/2014/main" id="{AF1C8007-0F36-4BC2-9D5D-E76E13F0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00:00-00:01</a:t>
            </a:r>
          </a:p>
        </p:txBody>
      </p:sp>
      <p:sp>
        <p:nvSpPr>
          <p:cNvPr id="19" name="19-footer-right">
            <a:extLst xmlns:a="http://schemas.openxmlformats.org/drawingml/2006/main">
              <a:ext uri="{FF2B5EF4-FFF2-40B4-BE49-F238E27FC236}">
                <a16:creationId xmlns:a16="http://schemas.microsoft.com/office/drawing/2014/main" id="{8E1D70C3-0220-4EFB-80F2-DAEAAA29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01 / 26</a:t>
            </a:r>
          </a:p>
        </p:txBody>
      </p:sp>
    </p:spTree>
    <p:extLst>
      <p:ext uri="{BB962C8B-B14F-4D97-AF65-F5344CB8AC3E}">
        <p14:creationId xmlns:p14="http://schemas.microsoft.com/office/powerpoint/2010/main" val="1177772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1-kicker">
            <a:extLst xmlns:a="http://schemas.openxmlformats.org/drawingml/2006/main">
              <a:ext uri="{FF2B5EF4-FFF2-40B4-BE49-F238E27FC236}">
                <a16:creationId xmlns:a16="http://schemas.microsoft.com/office/drawing/2014/main" id="{A65855A2-5D94-40AA-9887-8843CB16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RECALL · TWO USEFUL ROUTES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F91F76A1-5A07-413B-ABF2-CCF285A7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Last time: two paths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7A21DCE3-1E6D-4D09-9508-A9C4FA05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arrow">
            <a:extLst xmlns:a="http://schemas.openxmlformats.org/drawingml/2006/main">
              <a:ext uri="{FF2B5EF4-FFF2-40B4-BE49-F238E27FC236}">
                <a16:creationId xmlns:a16="http://schemas.microsoft.com/office/drawing/2014/main" id="{A7CC8C3F-9EF7-4440-8E87-D7135D35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1714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arrow">
            <a:extLst xmlns:a="http://schemas.openxmlformats.org/drawingml/2006/main">
              <a:ext uri="{FF2B5EF4-FFF2-40B4-BE49-F238E27FC236}">
                <a16:creationId xmlns:a16="http://schemas.microsoft.com/office/drawing/2014/main" id="{A69B905C-3480-4E47-A89E-BF28EFB1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1714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node-bg">
            <a:extLst xmlns:a="http://schemas.openxmlformats.org/drawingml/2006/main">
              <a:ext uri="{FF2B5EF4-FFF2-40B4-BE49-F238E27FC236}">
                <a16:creationId xmlns:a16="http://schemas.microsoft.com/office/drawing/2014/main" id="{F9F75A9E-8888-4134-8322-40862071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E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7" name="07-node-label">
            <a:extLst xmlns:a="http://schemas.openxmlformats.org/drawingml/2006/main">
              <a:ext uri="{FF2B5EF4-FFF2-40B4-BE49-F238E27FC236}">
                <a16:creationId xmlns:a16="http://schemas.microsoft.com/office/drawing/2014/main" id="{867ABFB1-3D9B-41FA-95CB-CB41E17C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21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IN SHEETS</a:t>
            </a:r>
          </a:p>
        </p:txBody>
      </p:sp>
      <p:sp>
        <p:nvSpPr>
          <p:cNvPr id="8" name="08-node-bg">
            <a:extLst xmlns:a="http://schemas.openxmlformats.org/drawingml/2006/main">
              <a:ext uri="{FF2B5EF4-FFF2-40B4-BE49-F238E27FC236}">
                <a16:creationId xmlns:a16="http://schemas.microsoft.com/office/drawing/2014/main" id="{E1F94BA5-898B-4B65-AEBF-6A2AEB1C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67000"/>
            <a:ext cx="1638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9" name="09-node-label">
            <a:extLst xmlns:a="http://schemas.openxmlformats.org/drawingml/2006/main">
              <a:ext uri="{FF2B5EF4-FFF2-40B4-BE49-F238E27FC236}">
                <a16:creationId xmlns:a16="http://schemas.microsoft.com/office/drawing/2014/main" id="{52BC1CC1-72BF-434A-8BD6-66691C40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4320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65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DATA</a:t>
            </a:r>
          </a:p>
        </p:txBody>
      </p:sp>
      <p:sp>
        <p:nvSpPr>
          <p:cNvPr id="10" name="10-node-bg">
            <a:extLst xmlns:a="http://schemas.openxmlformats.org/drawingml/2006/main">
              <a:ext uri="{FF2B5EF4-FFF2-40B4-BE49-F238E27FC236}">
                <a16:creationId xmlns:a16="http://schemas.microsoft.com/office/drawing/2014/main" id="{C14AB391-92AE-4722-A580-8E2ED7F9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581A"/>
            </a:solidFill>
            <a:prstDash val="solid"/>
          </a:ln>
        </p:spPr>
      </p:sp>
      <p:sp>
        <p:nvSpPr>
          <p:cNvPr id="11" name="11-node-label">
            <a:extLst xmlns:a="http://schemas.openxmlformats.org/drawingml/2006/main">
              <a:ext uri="{FF2B5EF4-FFF2-40B4-BE49-F238E27FC236}">
                <a16:creationId xmlns:a16="http://schemas.microsoft.com/office/drawing/2014/main" id="{62450A2F-CFA5-49F9-8014-02594ECB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20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UPLOAD + ASK</a:t>
            </a:r>
          </a:p>
        </p:txBody>
      </p:sp>
      <p:sp>
        <p:nvSpPr>
          <p:cNvPr id="12" name="12-question-mark">
            <a:extLst xmlns:a="http://schemas.openxmlformats.org/drawingml/2006/main">
              <a:ext uri="{FF2B5EF4-FFF2-40B4-BE49-F238E27FC236}">
                <a16:creationId xmlns:a16="http://schemas.microsoft.com/office/drawing/2014/main" id="{7B8798CE-7010-41CD-B21D-B98E3AD6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24300"/>
            <a:ext cx="1447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 i="0">
                <a:solidFill>
                  <a:srgbClr val="C4581A"/>
                </a:solidFill>
                <a:latin typeface="Fraunces 9pt"/>
                <a:ea typeface="Fraunces 9pt"/>
                <a:cs typeface="Fraunces 9pt"/>
              </a:defRPr>
            </a:pPr>
            <a:r>
              <a:rPr sz="5700" b="1" i="0">
                <a:solidFill>
                  <a:srgbClr val="C4581A"/>
                </a:solidFill>
                <a:latin typeface="Fraunces 9pt"/>
                <a:ea typeface="Fraunces 9pt"/>
                <a:cs typeface="Fraunces 9pt"/>
              </a:rPr>
              <a:t>?</a:t>
            </a:r>
          </a:p>
        </p:txBody>
      </p:sp>
      <p:sp>
        <p:nvSpPr>
          <p:cNvPr id="13" name="13-takeaway">
            <a:extLst xmlns:a="http://schemas.openxmlformats.org/drawingml/2006/main">
              <a:ext uri="{FF2B5EF4-FFF2-40B4-BE49-F238E27FC236}">
                <a16:creationId xmlns:a16="http://schemas.microsoft.com/office/drawing/2014/main" id="{70013305-728F-4BC9-85D5-54CCE2F8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91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5C5046"/>
                </a:solidFill>
                <a:latin typeface="Geist"/>
                <a:ea typeface="Geist"/>
                <a:cs typeface="Geist"/>
              </a:defRPr>
            </a:pPr>
            <a:r>
              <a:rPr sz="1875" b="0" i="1">
                <a:solidFill>
                  <a:srgbClr val="5C5046"/>
                </a:solidFill>
                <a:latin typeface="Geist"/>
                <a:ea typeface="Geist"/>
                <a:cs typeface="Geist"/>
              </a:rPr>
              <a:t>Both are useful. Neither is universal.</a:t>
            </a:r>
          </a:p>
        </p:txBody>
      </p:sp>
      <p:sp>
        <p:nvSpPr>
          <p:cNvPr id="14" name="14-footer-rule">
            <a:extLst xmlns:a="http://schemas.openxmlformats.org/drawingml/2006/main">
              <a:ext uri="{FF2B5EF4-FFF2-40B4-BE49-F238E27FC236}">
                <a16:creationId xmlns:a16="http://schemas.microsoft.com/office/drawing/2014/main" id="{25C19106-74ED-4874-9BCA-54168027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5" name="15-footer-left">
            <a:extLst xmlns:a="http://schemas.openxmlformats.org/drawingml/2006/main">
              <a:ext uri="{FF2B5EF4-FFF2-40B4-BE49-F238E27FC236}">
                <a16:creationId xmlns:a16="http://schemas.microsoft.com/office/drawing/2014/main" id="{D74EEE21-796E-405C-AEDC-EF172874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00:01-00:03</a:t>
            </a:r>
          </a:p>
        </p:txBody>
      </p:sp>
      <p:sp>
        <p:nvSpPr>
          <p:cNvPr id="16" name="16-footer-right">
            <a:extLst xmlns:a="http://schemas.openxmlformats.org/drawingml/2006/main">
              <a:ext uri="{FF2B5EF4-FFF2-40B4-BE49-F238E27FC236}">
                <a16:creationId xmlns:a16="http://schemas.microsoft.com/office/drawing/2014/main" id="{4CEEE441-8AAD-4899-A9C9-78EC83CD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02 / 26</a:t>
            </a:r>
          </a:p>
        </p:txBody>
      </p:sp>
    </p:spTree>
    <p:extLst>
      <p:ext uri="{BB962C8B-B14F-4D97-AF65-F5344CB8AC3E}">
        <p14:creationId xmlns:p14="http://schemas.microsoft.com/office/powerpoint/2010/main" val="2123005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-kicker">
            <a:extLst xmlns:a="http://schemas.openxmlformats.org/drawingml/2006/main">
              <a:ext uri="{FF2B5EF4-FFF2-40B4-BE49-F238E27FC236}">
                <a16:creationId xmlns:a16="http://schemas.microsoft.com/office/drawing/2014/main" id="{253FBEC5-E025-4777-BFF0-DF0C5B03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60 SECONDS · SOLO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B681F853-4632-461D-B585-9607B3CB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Retrieval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E011A04B-1B99-46A2-89E1-5B54D051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prompt">
            <a:extLst xmlns:a="http://schemas.openxmlformats.org/drawingml/2006/main">
              <a:ext uri="{FF2B5EF4-FFF2-40B4-BE49-F238E27FC236}">
                <a16:creationId xmlns:a16="http://schemas.microsoft.com/office/drawing/2014/main" id="{ABD8E794-6FF0-4569-BC35-23F65001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39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Write one condition that makes an AI data answer unsafe.</a:t>
            </a:r>
          </a:p>
        </p:txBody>
      </p:sp>
      <p:sp>
        <p:nvSpPr>
          <p:cNvPr id="5" name="05-solo-strip">
            <a:extLst xmlns:a="http://schemas.openxmlformats.org/drawingml/2006/main">
              <a:ext uri="{FF2B5EF4-FFF2-40B4-BE49-F238E27FC236}">
                <a16:creationId xmlns:a16="http://schemas.microsoft.com/office/drawing/2014/main" id="{AA372585-D26F-4BA5-A253-253EB591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958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4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solo-label">
            <a:extLst xmlns:a="http://schemas.openxmlformats.org/drawingml/2006/main">
              <a:ext uri="{FF2B5EF4-FFF2-40B4-BE49-F238E27FC236}">
                <a16:creationId xmlns:a16="http://schemas.microsoft.com/office/drawing/2014/main" id="{C360C33B-63F7-4380-927C-0A4C69EC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91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2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60 SECONDS · SOLO</a:t>
            </a:r>
          </a:p>
        </p:txBody>
      </p:sp>
      <p:sp>
        <p:nvSpPr>
          <p:cNvPr id="7" name="07-footer-rule">
            <a:extLst xmlns:a="http://schemas.openxmlformats.org/drawingml/2006/main">
              <a:ext uri="{FF2B5EF4-FFF2-40B4-BE49-F238E27FC236}">
                <a16:creationId xmlns:a16="http://schemas.microsoft.com/office/drawing/2014/main" id="{6A5616CF-5576-42C7-9BE5-A8C22514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8" name="08-footer-left">
            <a:extLst xmlns:a="http://schemas.openxmlformats.org/drawingml/2006/main">
              <a:ext uri="{FF2B5EF4-FFF2-40B4-BE49-F238E27FC236}">
                <a16:creationId xmlns:a16="http://schemas.microsoft.com/office/drawing/2014/main" id="{61EDCF00-DE45-4244-BC6A-EFD2C6F5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00:03-00:05</a:t>
            </a:r>
          </a:p>
        </p:txBody>
      </p:sp>
      <p:sp>
        <p:nvSpPr>
          <p:cNvPr id="9" name="09-footer-right">
            <a:extLst xmlns:a="http://schemas.openxmlformats.org/drawingml/2006/main">
              <a:ext uri="{FF2B5EF4-FFF2-40B4-BE49-F238E27FC236}">
                <a16:creationId xmlns:a16="http://schemas.microsoft.com/office/drawing/2014/main" id="{9D57D93A-69A4-4790-88BB-0F2CD042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03 / 26</a:t>
            </a:r>
          </a:p>
        </p:txBody>
      </p:sp>
    </p:spTree>
    <p:extLst>
      <p:ext uri="{BB962C8B-B14F-4D97-AF65-F5344CB8AC3E}">
        <p14:creationId xmlns:p14="http://schemas.microsoft.com/office/powerpoint/2010/main" val="1026153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1-kicker">
            <a:extLst xmlns:a="http://schemas.openxmlformats.org/drawingml/2006/main">
              <a:ext uri="{FF2B5EF4-FFF2-40B4-BE49-F238E27FC236}">
                <a16:creationId xmlns:a16="http://schemas.microsoft.com/office/drawing/2014/main" id="{6FF72706-1C75-43B1-AF5A-312A631C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VOTE BEFORE DISCUSSION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9FF7F858-3362-4372-AC89-7BE586E2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Same data. Two answers.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CAC2758C-4E26-4A76-9F26-E799C2AC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answer-a-bg">
            <a:extLst xmlns:a="http://schemas.openxmlformats.org/drawingml/2006/main">
              <a:ext uri="{FF2B5EF4-FFF2-40B4-BE49-F238E27FC236}">
                <a16:creationId xmlns:a16="http://schemas.microsoft.com/office/drawing/2014/main" id="{80E461B4-6BC5-45D8-B3A6-FEB5035B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857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9525">
            <a:solidFill>
              <a:srgbClr val="1E3A35"/>
            </a:solidFill>
            <a:prstDash val="solid"/>
          </a:ln>
        </p:spPr>
      </p:sp>
      <p:sp>
        <p:nvSpPr>
          <p:cNvPr id="5" name="05-answer-a-label">
            <a:extLst xmlns:a="http://schemas.openxmlformats.org/drawingml/2006/main">
              <a:ext uri="{FF2B5EF4-FFF2-40B4-BE49-F238E27FC236}">
                <a16:creationId xmlns:a16="http://schemas.microsoft.com/office/drawing/2014/main" id="{BCA89704-6D38-45AD-AFB7-084D78BE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275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ANSWER A</a:t>
            </a:r>
          </a:p>
        </p:txBody>
      </p:sp>
      <p:sp>
        <p:nvSpPr>
          <p:cNvPr id="6" name="06-answer-a-value">
            <a:extLst xmlns:a="http://schemas.openxmlformats.org/drawingml/2006/main">
              <a:ext uri="{FF2B5EF4-FFF2-40B4-BE49-F238E27FC236}">
                <a16:creationId xmlns:a16="http://schemas.microsoft.com/office/drawing/2014/main" id="{398888AD-3DB2-4ED2-A637-362CE329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324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5F0E8"/>
                </a:solidFill>
                <a:latin typeface="Fraunces 9pt"/>
                <a:ea typeface="Fraunces 9pt"/>
                <a:cs typeface="Fraunces 9pt"/>
              </a:defRPr>
            </a:pPr>
            <a:r>
              <a:rPr sz="2700" b="1" i="0">
                <a:solidFill>
                  <a:srgbClr val="F5F0E8"/>
                </a:solidFill>
                <a:latin typeface="Fraunces 9pt"/>
                <a:ea typeface="Fraunces 9pt"/>
                <a:cs typeface="Fraunces 9pt"/>
              </a:rPr>
              <a:t>RESULT REDACTED</a:t>
            </a:r>
          </a:p>
        </p:txBody>
      </p:sp>
      <p:sp>
        <p:nvSpPr>
          <p:cNvPr id="7" name="07-answer-b-bg">
            <a:extLst xmlns:a="http://schemas.openxmlformats.org/drawingml/2006/main">
              <a:ext uri="{FF2B5EF4-FFF2-40B4-BE49-F238E27FC236}">
                <a16:creationId xmlns:a16="http://schemas.microsoft.com/office/drawing/2014/main" id="{8167511E-4FA5-4CD7-8187-A665C9AF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4857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8" name="08-answer-b-label">
            <a:extLst xmlns:a="http://schemas.openxmlformats.org/drawingml/2006/main">
              <a:ext uri="{FF2B5EF4-FFF2-40B4-BE49-F238E27FC236}">
                <a16:creationId xmlns:a16="http://schemas.microsoft.com/office/drawing/2014/main" id="{11BA9B05-582C-4856-904D-8EE72CA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7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ANSWER B</a:t>
            </a:r>
          </a:p>
        </p:txBody>
      </p:sp>
      <p:sp>
        <p:nvSpPr>
          <p:cNvPr id="9" name="09-answer-b-value">
            <a:extLst xmlns:a="http://schemas.openxmlformats.org/drawingml/2006/main">
              <a:ext uri="{FF2B5EF4-FFF2-40B4-BE49-F238E27FC236}">
                <a16:creationId xmlns:a16="http://schemas.microsoft.com/office/drawing/2014/main" id="{1B4B7016-E744-4729-9831-961E22A0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4324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27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RESULT REDACTED</a:t>
            </a:r>
          </a:p>
        </p:txBody>
      </p:sp>
      <p:sp>
        <p:nvSpPr>
          <p:cNvPr id="10" name="10-vote-question">
            <a:extLst xmlns:a="http://schemas.openxmlformats.org/drawingml/2006/main">
              <a:ext uri="{FF2B5EF4-FFF2-40B4-BE49-F238E27FC236}">
                <a16:creationId xmlns:a16="http://schemas.microsoft.com/office/drawing/2014/main" id="{9E6A786A-A850-4AA8-A854-2C5FEC83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550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Which one would you send to a founder?</a:t>
            </a:r>
          </a:p>
        </p:txBody>
      </p:sp>
      <p:sp>
        <p:nvSpPr>
          <p:cNvPr id="11" name="11-footer-rule">
            <a:extLst xmlns:a="http://schemas.openxmlformats.org/drawingml/2006/main">
              <a:ext uri="{FF2B5EF4-FFF2-40B4-BE49-F238E27FC236}">
                <a16:creationId xmlns:a16="http://schemas.microsoft.com/office/drawing/2014/main" id="{2AA48844-6CF7-4123-9408-085ACB01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2" name="12-footer-left">
            <a:extLst xmlns:a="http://schemas.openxmlformats.org/drawingml/2006/main">
              <a:ext uri="{FF2B5EF4-FFF2-40B4-BE49-F238E27FC236}">
                <a16:creationId xmlns:a16="http://schemas.microsoft.com/office/drawing/2014/main" id="{34F2EFC4-C8AA-45C2-9E60-E8FBA26E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00:05-00:08</a:t>
            </a:r>
          </a:p>
        </p:txBody>
      </p:sp>
      <p:sp>
        <p:nvSpPr>
          <p:cNvPr id="13" name="13-footer-right">
            <a:extLst xmlns:a="http://schemas.openxmlformats.org/drawingml/2006/main">
              <a:ext uri="{FF2B5EF4-FFF2-40B4-BE49-F238E27FC236}">
                <a16:creationId xmlns:a16="http://schemas.microsoft.com/office/drawing/2014/main" id="{9DEA284B-C213-479E-B8EC-D53ACFA2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04 / 26</a:t>
            </a:r>
          </a:p>
        </p:txBody>
      </p:sp>
    </p:spTree>
    <p:extLst>
      <p:ext uri="{BB962C8B-B14F-4D97-AF65-F5344CB8AC3E}">
        <p14:creationId xmlns:p14="http://schemas.microsoft.com/office/powerpoint/2010/main" val="189896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1-kicker">
            <a:extLst xmlns:a="http://schemas.openxmlformats.org/drawingml/2006/main">
              <a:ext uri="{FF2B5EF4-FFF2-40B4-BE49-F238E27FC236}">
                <a16:creationId xmlns:a16="http://schemas.microsoft.com/office/drawing/2014/main" id="{E27DB5A5-909E-44BC-B025-E8FB399D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THE QUESTION CONTRACT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88AF525E-B6CC-4208-A3D4-14468E75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The number is not the disagreement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22FA90EE-3533-4CE4-A454-B615A1F7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contract-term">
            <a:extLst xmlns:a="http://schemas.openxmlformats.org/drawingml/2006/main">
              <a:ext uri="{FF2B5EF4-FFF2-40B4-BE49-F238E27FC236}">
                <a16:creationId xmlns:a16="http://schemas.microsoft.com/office/drawing/2014/main" id="{7210EBD4-6BB2-4E46-9EAC-89A3D88E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GRAIN</a:t>
            </a:r>
          </a:p>
        </p:txBody>
      </p:sp>
      <p:sp>
        <p:nvSpPr>
          <p:cNvPr id="5" name="05-term-divider">
            <a:extLst xmlns:a="http://schemas.openxmlformats.org/drawingml/2006/main">
              <a:ext uri="{FF2B5EF4-FFF2-40B4-BE49-F238E27FC236}">
                <a16:creationId xmlns:a16="http://schemas.microsoft.com/office/drawing/2014/main" id="{0F51273A-4F27-4609-92F0-DDCA91EC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52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6" name="06-contract-term">
            <a:extLst xmlns:a="http://schemas.openxmlformats.org/drawingml/2006/main">
              <a:ext uri="{FF2B5EF4-FFF2-40B4-BE49-F238E27FC236}">
                <a16:creationId xmlns:a16="http://schemas.microsoft.com/office/drawing/2014/main" id="{50B9B9B2-017A-4583-87E6-F2FCC192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FILTER</a:t>
            </a:r>
          </a:p>
        </p:txBody>
      </p:sp>
      <p:sp>
        <p:nvSpPr>
          <p:cNvPr id="7" name="07-term-divider">
            <a:extLst xmlns:a="http://schemas.openxmlformats.org/drawingml/2006/main">
              <a:ext uri="{FF2B5EF4-FFF2-40B4-BE49-F238E27FC236}">
                <a16:creationId xmlns:a16="http://schemas.microsoft.com/office/drawing/2014/main" id="{BC5AAD5A-FC8E-4DB9-BC7A-D531747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8" name="08-contract-term">
            <a:extLst xmlns:a="http://schemas.openxmlformats.org/drawingml/2006/main">
              <a:ext uri="{FF2B5EF4-FFF2-40B4-BE49-F238E27FC236}">
                <a16:creationId xmlns:a16="http://schemas.microsoft.com/office/drawing/2014/main" id="{7B87C399-0355-4714-8118-FD9C0FB1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33600"/>
            <a:ext cx="2628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57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DENOMINATOR</a:t>
            </a:r>
          </a:p>
        </p:txBody>
      </p:sp>
      <p:sp>
        <p:nvSpPr>
          <p:cNvPr id="9" name="09-term-divider">
            <a:extLst xmlns:a="http://schemas.openxmlformats.org/drawingml/2006/main">
              <a:ext uri="{FF2B5EF4-FFF2-40B4-BE49-F238E27FC236}">
                <a16:creationId xmlns:a16="http://schemas.microsoft.com/office/drawing/2014/main" id="{104DDAE5-AFA7-47C1-8D30-10128EB1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10" name="10-contract-term">
            <a:extLst xmlns:a="http://schemas.openxmlformats.org/drawingml/2006/main">
              <a:ext uri="{FF2B5EF4-FFF2-40B4-BE49-F238E27FC236}">
                <a16:creationId xmlns:a16="http://schemas.microsoft.com/office/drawing/2014/main" id="{A2D25B21-D3D3-47EA-91B1-E234D993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336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NULLS</a:t>
            </a:r>
          </a:p>
        </p:txBody>
      </p:sp>
      <p:sp>
        <p:nvSpPr>
          <p:cNvPr id="11" name="11-term-divider">
            <a:extLst xmlns:a="http://schemas.openxmlformats.org/drawingml/2006/main">
              <a:ext uri="{FF2B5EF4-FFF2-40B4-BE49-F238E27FC236}">
                <a16:creationId xmlns:a16="http://schemas.microsoft.com/office/drawing/2014/main" id="{F850DC3D-68DA-467B-8B54-085194D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12" name="12-contract-term">
            <a:extLst xmlns:a="http://schemas.openxmlformats.org/drawingml/2006/main">
              <a:ext uri="{FF2B5EF4-FFF2-40B4-BE49-F238E27FC236}">
                <a16:creationId xmlns:a16="http://schemas.microsoft.com/office/drawing/2014/main" id="{05C9543D-E231-4006-88B9-FCA409D8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UNIT</a:t>
            </a:r>
          </a:p>
        </p:txBody>
      </p:sp>
      <p:sp>
        <p:nvSpPr>
          <p:cNvPr id="13" name="13-contract-takeaway">
            <a:extLst xmlns:a="http://schemas.openxmlformats.org/drawingml/2006/main">
              <a:ext uri="{FF2B5EF4-FFF2-40B4-BE49-F238E27FC236}">
                <a16:creationId xmlns:a16="http://schemas.microsoft.com/office/drawing/2014/main" id="{A0D4DD39-FB38-4892-9262-88BE58B8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48100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285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Two methods can be mechanically correct and still answer different questions.</a:t>
            </a:r>
          </a:p>
        </p:txBody>
      </p:sp>
      <p:sp>
        <p:nvSpPr>
          <p:cNvPr id="14" name="14-footer-rule">
            <a:extLst xmlns:a="http://schemas.openxmlformats.org/drawingml/2006/main">
              <a:ext uri="{FF2B5EF4-FFF2-40B4-BE49-F238E27FC236}">
                <a16:creationId xmlns:a16="http://schemas.microsoft.com/office/drawing/2014/main" id="{7426B070-95ED-49C4-826A-B6E33C44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5" name="15-footer-left">
            <a:extLst xmlns:a="http://schemas.openxmlformats.org/drawingml/2006/main">
              <a:ext uri="{FF2B5EF4-FFF2-40B4-BE49-F238E27FC236}">
                <a16:creationId xmlns:a16="http://schemas.microsoft.com/office/drawing/2014/main" id="{F58A6657-F767-4066-BB0F-58AA63CB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00:08-00:11</a:t>
            </a:r>
          </a:p>
        </p:txBody>
      </p:sp>
      <p:sp>
        <p:nvSpPr>
          <p:cNvPr id="16" name="16-footer-right">
            <a:extLst xmlns:a="http://schemas.openxmlformats.org/drawingml/2006/main">
              <a:ext uri="{FF2B5EF4-FFF2-40B4-BE49-F238E27FC236}">
                <a16:creationId xmlns:a16="http://schemas.microsoft.com/office/drawing/2014/main" id="{63EAE656-057A-4B3A-B9AB-A5FA114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05 / 26</a:t>
            </a:r>
          </a:p>
        </p:txBody>
      </p:sp>
    </p:spTree>
    <p:extLst>
      <p:ext uri="{BB962C8B-B14F-4D97-AF65-F5344CB8AC3E}">
        <p14:creationId xmlns:p14="http://schemas.microsoft.com/office/powerpoint/2010/main" val="556662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1-kicker">
            <a:extLst xmlns:a="http://schemas.openxmlformats.org/drawingml/2006/main">
              <a:ext uri="{FF2B5EF4-FFF2-40B4-BE49-F238E27FC236}">
                <a16:creationId xmlns:a16="http://schemas.microsoft.com/office/drawing/2014/main" id="{F3D44F8C-CDDB-47AD-A634-E46CC8DA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READ BEFORE YOU COMPUTE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A0D965DA-BFC3-4B13-97DC-9A1A711A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Your dataset contract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93D06BDF-32F8-4520-BBE7-CE777925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bullet-marker">
            <a:extLst xmlns:a="http://schemas.openxmlformats.org/drawingml/2006/main">
              <a:ext uri="{FF2B5EF4-FFF2-40B4-BE49-F238E27FC236}">
                <a16:creationId xmlns:a16="http://schemas.microsoft.com/office/drawing/2014/main" id="{DCC70F6F-5724-44DC-B69A-64350910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5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5" name="05-bullet-copy">
            <a:extLst xmlns:a="http://schemas.openxmlformats.org/drawingml/2006/main">
              <a:ext uri="{FF2B5EF4-FFF2-40B4-BE49-F238E27FC236}">
                <a16:creationId xmlns:a16="http://schemas.microsoft.com/office/drawing/2014/main" id="{353487C0-7F2D-4C35-A3C9-91E2FF31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973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75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One row = one startup snapshot</a:t>
            </a:r>
          </a:p>
        </p:txBody>
      </p:sp>
      <p:sp>
        <p:nvSpPr>
          <p:cNvPr id="6" name="06-bullet-marker">
            <a:extLst xmlns:a="http://schemas.openxmlformats.org/drawingml/2006/main">
              <a:ext uri="{FF2B5EF4-FFF2-40B4-BE49-F238E27FC236}">
                <a16:creationId xmlns:a16="http://schemas.microsoft.com/office/drawing/2014/main" id="{E2F4727C-BD51-4B97-8822-75A3ADEA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5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7" name="07-bullet-copy">
            <a:extLst xmlns:a="http://schemas.openxmlformats.org/drawingml/2006/main">
              <a:ext uri="{FF2B5EF4-FFF2-40B4-BE49-F238E27FC236}">
                <a16:creationId xmlns:a16="http://schemas.microsoft.com/office/drawing/2014/main" id="{07849F6C-251A-4D5E-818A-1D348FC4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973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75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Currency fields = USD</a:t>
            </a:r>
          </a:p>
        </p:txBody>
      </p:sp>
      <p:sp>
        <p:nvSpPr>
          <p:cNvPr id="8" name="08-bullet-marker">
            <a:extLst xmlns:a="http://schemas.openxmlformats.org/drawingml/2006/main">
              <a:ext uri="{FF2B5EF4-FFF2-40B4-BE49-F238E27FC236}">
                <a16:creationId xmlns:a16="http://schemas.microsoft.com/office/drawing/2014/main" id="{B45876AF-B33E-4782-A03A-751B18EA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45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9" name="09-bullet-copy">
            <a:extLst xmlns:a="http://schemas.openxmlformats.org/drawingml/2006/main">
              <a:ext uri="{FF2B5EF4-FFF2-40B4-BE49-F238E27FC236}">
                <a16:creationId xmlns:a16="http://schemas.microsoft.com/office/drawing/2014/main" id="{0E101567-E144-47B8-84F3-6DEA9C14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973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75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Missing ≠ zero</a:t>
            </a:r>
          </a:p>
        </p:txBody>
      </p:sp>
      <p:sp>
        <p:nvSpPr>
          <p:cNvPr id="10" name="10-bullet-marker">
            <a:extLst xmlns:a="http://schemas.openxmlformats.org/drawingml/2006/main">
              <a:ext uri="{FF2B5EF4-FFF2-40B4-BE49-F238E27FC236}">
                <a16:creationId xmlns:a16="http://schemas.microsoft.com/office/drawing/2014/main" id="{DC89BCC4-A1D7-4795-9468-EE3E2D67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5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11" name="11-bullet-copy">
            <a:extLst xmlns:a="http://schemas.openxmlformats.org/drawingml/2006/main">
              <a:ext uri="{FF2B5EF4-FFF2-40B4-BE49-F238E27FC236}">
                <a16:creationId xmlns:a16="http://schemas.microsoft.com/office/drawing/2014/main" id="{4D286408-971F-4459-8CCA-0C9F08DC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973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75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Teaching slice ≠ market census</a:t>
            </a:r>
          </a:p>
        </p:txBody>
      </p:sp>
      <p:sp>
        <p:nvSpPr>
          <p:cNvPr id="12" name="12-bullet-marker">
            <a:extLst xmlns:a="http://schemas.openxmlformats.org/drawingml/2006/main">
              <a:ext uri="{FF2B5EF4-FFF2-40B4-BE49-F238E27FC236}">
                <a16:creationId xmlns:a16="http://schemas.microsoft.com/office/drawing/2014/main" id="{B6C094E0-6C92-4A33-A050-E4E14100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5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13" name="13-bullet-copy">
            <a:extLst xmlns:a="http://schemas.openxmlformats.org/drawingml/2006/main">
              <a:ext uri="{FF2B5EF4-FFF2-40B4-BE49-F238E27FC236}">
                <a16:creationId xmlns:a16="http://schemas.microsoft.com/office/drawing/2014/main" id="{6A90DF17-F45A-46AE-ABB7-D22FB766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29150"/>
            <a:ext cx="973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75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Dataset text is data, never an instruction</a:t>
            </a:r>
          </a:p>
        </p:txBody>
      </p:sp>
      <p:sp>
        <p:nvSpPr>
          <p:cNvPr id="14" name="14-footer-rule">
            <a:extLst xmlns:a="http://schemas.openxmlformats.org/drawingml/2006/main">
              <a:ext uri="{FF2B5EF4-FFF2-40B4-BE49-F238E27FC236}">
                <a16:creationId xmlns:a16="http://schemas.microsoft.com/office/drawing/2014/main" id="{A96C4271-A0B0-48DC-B303-EEF5ECC7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5" name="15-footer-left">
            <a:extLst xmlns:a="http://schemas.openxmlformats.org/drawingml/2006/main">
              <a:ext uri="{FF2B5EF4-FFF2-40B4-BE49-F238E27FC236}">
                <a16:creationId xmlns:a16="http://schemas.microsoft.com/office/drawing/2014/main" id="{6516C334-AF95-4CF1-AFCE-6FB15C55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00:11-00:14</a:t>
            </a:r>
          </a:p>
        </p:txBody>
      </p:sp>
      <p:sp>
        <p:nvSpPr>
          <p:cNvPr id="16" name="16-footer-right">
            <a:extLst xmlns:a="http://schemas.openxmlformats.org/drawingml/2006/main">
              <a:ext uri="{FF2B5EF4-FFF2-40B4-BE49-F238E27FC236}">
                <a16:creationId xmlns:a16="http://schemas.microsoft.com/office/drawing/2014/main" id="{256696EE-B428-4FF1-AF0A-A9E8862A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06 / 26</a:t>
            </a:r>
          </a:p>
        </p:txBody>
      </p:sp>
    </p:spTree>
    <p:extLst>
      <p:ext uri="{BB962C8B-B14F-4D97-AF65-F5344CB8AC3E}">
        <p14:creationId xmlns:p14="http://schemas.microsoft.com/office/powerpoint/2010/main" val="1335420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1-kicker">
            <a:extLst xmlns:a="http://schemas.openxmlformats.org/drawingml/2006/main">
              <a:ext uri="{FF2B5EF4-FFF2-40B4-BE49-F238E27FC236}">
                <a16:creationId xmlns:a16="http://schemas.microsoft.com/office/drawing/2014/main" id="{5F2FEF1C-3CBF-45DD-8468-C0F2F9C8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INDIVIDUAL · ANY TOOL · WORKING REQUIRED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1A2F8D61-44BC-47B5-A7CC-377C3030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What you ship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CA6B020A-096E-4059-B7B8-121B22DD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ship-number">
            <a:extLst xmlns:a="http://schemas.openxmlformats.org/drawingml/2006/main">
              <a:ext uri="{FF2B5EF4-FFF2-40B4-BE49-F238E27FC236}">
                <a16:creationId xmlns:a16="http://schemas.microsoft.com/office/drawing/2014/main" id="{4CD521CB-A670-4C3B-9BE8-3EBD7ADD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0" b="1" i="0">
                <a:solidFill>
                  <a:srgbClr val="1E3A35"/>
                </a:solidFill>
                <a:latin typeface="Fraunces 9pt"/>
                <a:ea typeface="Fraunces 9pt"/>
                <a:cs typeface="Fraunces 9pt"/>
              </a:defRPr>
            </a:pPr>
            <a:r>
              <a:rPr sz="8100" b="1" i="0">
                <a:solidFill>
                  <a:srgbClr val="1E3A35"/>
                </a:solidFill>
                <a:latin typeface="Fraunces 9pt"/>
                <a:ea typeface="Fraunces 9pt"/>
                <a:cs typeface="Fraunces 9pt"/>
              </a:rPr>
              <a:t>6</a:t>
            </a:r>
          </a:p>
        </p:txBody>
      </p:sp>
      <p:sp>
        <p:nvSpPr>
          <p:cNvPr id="5" name="05-ship-label">
            <a:extLst xmlns:a="http://schemas.openxmlformats.org/drawingml/2006/main">
              <a:ext uri="{FF2B5EF4-FFF2-40B4-BE49-F238E27FC236}">
                <a16:creationId xmlns:a16="http://schemas.microsoft.com/office/drawing/2014/main" id="{4D533F72-C620-4762-A22A-526F4B82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FACTS</a:t>
            </a:r>
          </a:p>
        </p:txBody>
      </p:sp>
      <p:sp>
        <p:nvSpPr>
          <p:cNvPr id="6" name="06-ship-number">
            <a:extLst xmlns:a="http://schemas.openxmlformats.org/drawingml/2006/main">
              <a:ext uri="{FF2B5EF4-FFF2-40B4-BE49-F238E27FC236}">
                <a16:creationId xmlns:a16="http://schemas.microsoft.com/office/drawing/2014/main" id="{CD9E2357-5E8C-452F-B200-084DFB74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0" b="1" i="0">
                <a:solidFill>
                  <a:srgbClr val="1E3A35"/>
                </a:solidFill>
                <a:latin typeface="Fraunces 9pt"/>
                <a:ea typeface="Fraunces 9pt"/>
                <a:cs typeface="Fraunces 9pt"/>
              </a:defRPr>
            </a:pPr>
            <a:r>
              <a:rPr sz="8100" b="1" i="0">
                <a:solidFill>
                  <a:srgbClr val="1E3A35"/>
                </a:solidFill>
                <a:latin typeface="Fraunces 9pt"/>
                <a:ea typeface="Fraunces 9pt"/>
                <a:cs typeface="Fraunces 9pt"/>
              </a:rPr>
              <a:t>3</a:t>
            </a:r>
          </a:p>
        </p:txBody>
      </p:sp>
      <p:sp>
        <p:nvSpPr>
          <p:cNvPr id="7" name="07-ship-label">
            <a:extLst xmlns:a="http://schemas.openxmlformats.org/drawingml/2006/main">
              <a:ext uri="{FF2B5EF4-FFF2-40B4-BE49-F238E27FC236}">
                <a16:creationId xmlns:a16="http://schemas.microsoft.com/office/drawing/2014/main" id="{9EF5CCD8-E023-43DF-AC7B-F1695DD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90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JUDGMENTS</a:t>
            </a:r>
          </a:p>
        </p:txBody>
      </p:sp>
      <p:sp>
        <p:nvSpPr>
          <p:cNvPr id="8" name="08-ship-number">
            <a:extLst xmlns:a="http://schemas.openxmlformats.org/drawingml/2006/main">
              <a:ext uri="{FF2B5EF4-FFF2-40B4-BE49-F238E27FC236}">
                <a16:creationId xmlns:a16="http://schemas.microsoft.com/office/drawing/2014/main" id="{B8DC8BE7-04E0-4D4B-BB92-ED509538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0" b="1" i="0">
                <a:solidFill>
                  <a:srgbClr val="C4581A"/>
                </a:solidFill>
                <a:latin typeface="Fraunces 9pt"/>
                <a:ea typeface="Fraunces 9pt"/>
                <a:cs typeface="Fraunces 9pt"/>
              </a:defRPr>
            </a:pPr>
            <a:r>
              <a:rPr sz="8100" b="1" i="0">
                <a:solidFill>
                  <a:srgbClr val="C4581A"/>
                </a:solidFill>
                <a:latin typeface="Fraunces 9pt"/>
                <a:ea typeface="Fraunces 9pt"/>
                <a:cs typeface="Fraunces 9pt"/>
              </a:rPr>
              <a:t>1</a:t>
            </a:r>
          </a:p>
        </p:txBody>
      </p:sp>
      <p:sp>
        <p:nvSpPr>
          <p:cNvPr id="9" name="09-ship-label">
            <a:extLst xmlns:a="http://schemas.openxmlformats.org/drawingml/2006/main">
              <a:ext uri="{FF2B5EF4-FFF2-40B4-BE49-F238E27FC236}">
                <a16:creationId xmlns:a16="http://schemas.microsoft.com/office/drawing/2014/main" id="{D0B9B5D1-6F17-48AF-9A2B-7F283C0A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VERIFICATION TRACE</a:t>
            </a:r>
          </a:p>
        </p:txBody>
      </p:sp>
      <p:sp>
        <p:nvSpPr>
          <p:cNvPr id="10" name="10-ship-footer">
            <a:extLst xmlns:a="http://schemas.openxmlformats.org/drawingml/2006/main">
              <a:ext uri="{FF2B5EF4-FFF2-40B4-BE49-F238E27FC236}">
                <a16:creationId xmlns:a16="http://schemas.microsoft.com/office/drawing/2014/main" id="{CEB43B69-392C-41E1-8603-7CE48E61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387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1">
                <a:solidFill>
                  <a:srgbClr val="5C5046"/>
                </a:solidFill>
                <a:latin typeface="Geist"/>
                <a:ea typeface="Geist"/>
                <a:cs typeface="Geist"/>
              </a:defRPr>
            </a:pPr>
            <a:r>
              <a:rPr sz="2100" b="0" i="1">
                <a:solidFill>
                  <a:srgbClr val="5C5046"/>
                </a:solidFill>
                <a:latin typeface="Geist"/>
                <a:ea typeface="Geist"/>
                <a:cs typeface="Geist"/>
              </a:rPr>
              <a:t>Tool choice does not score. The auditable path does.</a:t>
            </a:r>
          </a:p>
        </p:txBody>
      </p:sp>
      <p:sp>
        <p:nvSpPr>
          <p:cNvPr id="11" name="11-footer-rule">
            <a:extLst xmlns:a="http://schemas.openxmlformats.org/drawingml/2006/main">
              <a:ext uri="{FF2B5EF4-FFF2-40B4-BE49-F238E27FC236}">
                <a16:creationId xmlns:a16="http://schemas.microsoft.com/office/drawing/2014/main" id="{C09E6ADF-012F-44BF-92EC-65CEC56D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2" name="12-footer-left">
            <a:extLst xmlns:a="http://schemas.openxmlformats.org/drawingml/2006/main">
              <a:ext uri="{FF2B5EF4-FFF2-40B4-BE49-F238E27FC236}">
                <a16:creationId xmlns:a16="http://schemas.microsoft.com/office/drawing/2014/main" id="{60B2592F-B2EC-462D-9728-4F9BE1B0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00:14-00:16</a:t>
            </a:r>
          </a:p>
        </p:txBody>
      </p:sp>
      <p:sp>
        <p:nvSpPr>
          <p:cNvPr id="13" name="13-footer-right">
            <a:extLst xmlns:a="http://schemas.openxmlformats.org/drawingml/2006/main">
              <a:ext uri="{FF2B5EF4-FFF2-40B4-BE49-F238E27FC236}">
                <a16:creationId xmlns:a16="http://schemas.microsoft.com/office/drawing/2014/main" id="{4A0BA575-AA05-4D03-9DB3-86CE854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07 / 26</a:t>
            </a:r>
          </a:p>
        </p:txBody>
      </p:sp>
    </p:spTree>
    <p:extLst>
      <p:ext uri="{BB962C8B-B14F-4D97-AF65-F5344CB8AC3E}">
        <p14:creationId xmlns:p14="http://schemas.microsoft.com/office/powerpoint/2010/main" val="1032876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-kicker">
            <a:extLst xmlns:a="http://schemas.openxmlformats.org/drawingml/2006/main">
              <a:ext uri="{FF2B5EF4-FFF2-40B4-BE49-F238E27FC236}">
                <a16:creationId xmlns:a16="http://schemas.microsoft.com/office/drawing/2014/main" id="{0F89A606-A013-48EA-8F02-CEAAEB1E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OPEN S3-DATA-01 THROUGH S3-DATA-09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0575E60D-B8C6-4FEF-B30A-FDB20DB5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Data sprint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A5552FA9-7EF5-4132-9A2A-3695EA85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sprint-timer">
            <a:extLst xmlns:a="http://schemas.openxmlformats.org/drawingml/2006/main">
              <a:ext uri="{FF2B5EF4-FFF2-40B4-BE49-F238E27FC236}">
                <a16:creationId xmlns:a16="http://schemas.microsoft.com/office/drawing/2014/main" id="{0AD51AED-7099-4092-8DBC-5B56A7E5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99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22:00</a:t>
            </a:r>
          </a:p>
        </p:txBody>
      </p:sp>
      <p:sp>
        <p:nvSpPr>
          <p:cNvPr id="5" name="05-sprint-note-bg">
            <a:extLst xmlns:a="http://schemas.openxmlformats.org/drawingml/2006/main">
              <a:ext uri="{FF2B5EF4-FFF2-40B4-BE49-F238E27FC236}">
                <a16:creationId xmlns:a16="http://schemas.microsoft.com/office/drawing/2014/main" id="{21753A1D-4EC1-4A99-9ACF-2C7F9189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33900"/>
            <a:ext cx="7543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4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sprint-note">
            <a:extLst xmlns:a="http://schemas.openxmlformats.org/drawingml/2006/main">
              <a:ext uri="{FF2B5EF4-FFF2-40B4-BE49-F238E27FC236}">
                <a16:creationId xmlns:a16="http://schemas.microsoft.com/office/drawing/2014/main" id="{182E751C-5C05-4025-BABB-AAE077C5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67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E3A35"/>
                </a:solidFill>
                <a:latin typeface="Geist"/>
                <a:ea typeface="Geist"/>
                <a:cs typeface="Geist"/>
              </a:defRPr>
            </a:pPr>
            <a:r>
              <a:rPr sz="1725" b="1" i="0">
                <a:solidFill>
                  <a:srgbClr val="1E3A35"/>
                </a:solidFill>
                <a:latin typeface="Geist"/>
                <a:ea typeface="Geist"/>
                <a:cs typeface="Geist"/>
              </a:rPr>
              <a:t>Save the formula, query, or code that produced each answer.</a:t>
            </a:r>
          </a:p>
        </p:txBody>
      </p:sp>
      <p:sp>
        <p:nvSpPr>
          <p:cNvPr id="7" name="07-footer-rule">
            <a:extLst xmlns:a="http://schemas.openxmlformats.org/drawingml/2006/main">
              <a:ext uri="{FF2B5EF4-FFF2-40B4-BE49-F238E27FC236}">
                <a16:creationId xmlns:a16="http://schemas.microsoft.com/office/drawing/2014/main" id="{C27BA950-CA39-4B4A-A42D-64425986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8" name="08-footer-left">
            <a:extLst xmlns:a="http://schemas.openxmlformats.org/drawingml/2006/main">
              <a:ext uri="{FF2B5EF4-FFF2-40B4-BE49-F238E27FC236}">
                <a16:creationId xmlns:a16="http://schemas.microsoft.com/office/drawing/2014/main" id="{45C22C7C-F7B1-47C6-A798-A27BB6DB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00:16-00:17</a:t>
            </a:r>
          </a:p>
        </p:txBody>
      </p:sp>
      <p:sp>
        <p:nvSpPr>
          <p:cNvPr id="9" name="09-footer-right">
            <a:extLst xmlns:a="http://schemas.openxmlformats.org/drawingml/2006/main">
              <a:ext uri="{FF2B5EF4-FFF2-40B4-BE49-F238E27FC236}">
                <a16:creationId xmlns:a16="http://schemas.microsoft.com/office/drawing/2014/main" id="{C17CFEF2-F3C7-4568-A410-4EA5FA8B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08 / 26</a:t>
            </a:r>
          </a:p>
        </p:txBody>
      </p:sp>
    </p:spTree>
    <p:extLst>
      <p:ext uri="{BB962C8B-B14F-4D97-AF65-F5344CB8AC3E}">
        <p14:creationId xmlns:p14="http://schemas.microsoft.com/office/powerpoint/2010/main" val="427196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1-kicker">
            <a:extLst xmlns:a="http://schemas.openxmlformats.org/drawingml/2006/main">
              <a:ext uri="{FF2B5EF4-FFF2-40B4-BE49-F238E27FC236}">
                <a16:creationId xmlns:a16="http://schemas.microsoft.com/office/drawing/2014/main" id="{9838C862-BD63-4987-B748-92DC0EAF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21 MINUTES · KEEP THIS VISIBLE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D25FDF1F-2008-45BE-8433-DEEE643D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The working screen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CCA255CA-792E-4A82-B11A-9BFA359A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bullet-marker">
            <a:extLst xmlns:a="http://schemas.openxmlformats.org/drawingml/2006/main">
              <a:ext uri="{FF2B5EF4-FFF2-40B4-BE49-F238E27FC236}">
                <a16:creationId xmlns:a16="http://schemas.microsoft.com/office/drawing/2014/main" id="{238F6A38-876F-4B54-B6AC-DBD0A30B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45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01</a:t>
            </a:r>
          </a:p>
        </p:txBody>
      </p:sp>
      <p:sp>
        <p:nvSpPr>
          <p:cNvPr id="5" name="05-bullet-copy">
            <a:extLst xmlns:a="http://schemas.openxmlformats.org/drawingml/2006/main">
              <a:ext uri="{FF2B5EF4-FFF2-40B4-BE49-F238E27FC236}">
                <a16:creationId xmlns:a16="http://schemas.microsoft.com/office/drawing/2014/main" id="{1B881395-3755-44AF-8219-26973360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954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Name the grain.</a:t>
            </a:r>
          </a:p>
        </p:txBody>
      </p:sp>
      <p:sp>
        <p:nvSpPr>
          <p:cNvPr id="6" name="06-bullet-marker">
            <a:extLst xmlns:a="http://schemas.openxmlformats.org/drawingml/2006/main">
              <a:ext uri="{FF2B5EF4-FFF2-40B4-BE49-F238E27FC236}">
                <a16:creationId xmlns:a16="http://schemas.microsoft.com/office/drawing/2014/main" id="{5D69C879-2B14-4690-8CF6-A9654916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5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7" name="07-bullet-copy">
            <a:extLst xmlns:a="http://schemas.openxmlformats.org/drawingml/2006/main">
              <a:ext uri="{FF2B5EF4-FFF2-40B4-BE49-F238E27FC236}">
                <a16:creationId xmlns:a16="http://schemas.microsoft.com/office/drawing/2014/main" id="{6A4874EE-58E9-4B38-8A3A-E278C0C4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71750"/>
            <a:ext cx="954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State the inclusion rule.</a:t>
            </a:r>
          </a:p>
        </p:txBody>
      </p:sp>
      <p:sp>
        <p:nvSpPr>
          <p:cNvPr id="8" name="08-bullet-marker">
            <a:extLst xmlns:a="http://schemas.openxmlformats.org/drawingml/2006/main">
              <a:ext uri="{FF2B5EF4-FFF2-40B4-BE49-F238E27FC236}">
                <a16:creationId xmlns:a16="http://schemas.microsoft.com/office/drawing/2014/main" id="{B6FD2B69-D932-45D5-ACF9-577690A5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45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03</a:t>
            </a:r>
          </a:p>
        </p:txBody>
      </p:sp>
      <p:sp>
        <p:nvSpPr>
          <p:cNvPr id="9" name="09-bullet-copy">
            <a:extLst xmlns:a="http://schemas.openxmlformats.org/drawingml/2006/main">
              <a:ext uri="{FF2B5EF4-FFF2-40B4-BE49-F238E27FC236}">
                <a16:creationId xmlns:a16="http://schemas.microsoft.com/office/drawing/2014/main" id="{D8C0ED21-10F6-45FA-8E1E-FD8D847A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57550"/>
            <a:ext cx="954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Run the method.</a:t>
            </a:r>
          </a:p>
        </p:txBody>
      </p:sp>
      <p:sp>
        <p:nvSpPr>
          <p:cNvPr id="10" name="10-bullet-marker">
            <a:extLst xmlns:a="http://schemas.openxmlformats.org/drawingml/2006/main">
              <a:ext uri="{FF2B5EF4-FFF2-40B4-BE49-F238E27FC236}">
                <a16:creationId xmlns:a16="http://schemas.microsoft.com/office/drawing/2014/main" id="{03C570F5-3F26-4639-81D0-2B72E096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45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04</a:t>
            </a:r>
          </a:p>
        </p:txBody>
      </p:sp>
      <p:sp>
        <p:nvSpPr>
          <p:cNvPr id="11" name="11-bullet-copy">
            <a:extLst xmlns:a="http://schemas.openxmlformats.org/drawingml/2006/main">
              <a:ext uri="{FF2B5EF4-FFF2-40B4-BE49-F238E27FC236}">
                <a16:creationId xmlns:a16="http://schemas.microsoft.com/office/drawing/2014/main" id="{780764A0-01E3-41B8-8BB9-0E957A35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3350"/>
            <a:ext cx="954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Record units and rounding.</a:t>
            </a:r>
          </a:p>
        </p:txBody>
      </p:sp>
      <p:sp>
        <p:nvSpPr>
          <p:cNvPr id="12" name="12-bullet-marker">
            <a:extLst xmlns:a="http://schemas.openxmlformats.org/drawingml/2006/main">
              <a:ext uri="{FF2B5EF4-FFF2-40B4-BE49-F238E27FC236}">
                <a16:creationId xmlns:a16="http://schemas.microsoft.com/office/drawing/2014/main" id="{36165AE8-B26E-444A-A1DB-10A23CA6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45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05</a:t>
            </a:r>
          </a:p>
        </p:txBody>
      </p:sp>
      <p:sp>
        <p:nvSpPr>
          <p:cNvPr id="13" name="13-bullet-copy">
            <a:extLst xmlns:a="http://schemas.openxmlformats.org/drawingml/2006/main">
              <a:ext uri="{FF2B5EF4-FFF2-40B4-BE49-F238E27FC236}">
                <a16:creationId xmlns:a16="http://schemas.microsoft.com/office/drawing/2014/main" id="{6F2E00E2-1F2E-4079-BF69-F143A93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29150"/>
            <a:ext cx="954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Flag a limitation.</a:t>
            </a:r>
          </a:p>
        </p:txBody>
      </p:sp>
      <p:sp>
        <p:nvSpPr>
          <p:cNvPr id="14" name="14-footer-rule">
            <a:extLst xmlns:a="http://schemas.openxmlformats.org/drawingml/2006/main">
              <a:ext uri="{FF2B5EF4-FFF2-40B4-BE49-F238E27FC236}">
                <a16:creationId xmlns:a16="http://schemas.microsoft.com/office/drawing/2014/main" id="{59AD4AA0-D84F-4E2B-A190-53E9FB66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5" name="15-footer-left">
            <a:extLst xmlns:a="http://schemas.openxmlformats.org/drawingml/2006/main">
              <a:ext uri="{FF2B5EF4-FFF2-40B4-BE49-F238E27FC236}">
                <a16:creationId xmlns:a16="http://schemas.microsoft.com/office/drawing/2014/main" id="{27E0D2C7-2C02-47C0-8351-5B9CD77C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00:17-00:38</a:t>
            </a:r>
          </a:p>
        </p:txBody>
      </p:sp>
      <p:sp>
        <p:nvSpPr>
          <p:cNvPr id="16" name="16-footer-right">
            <a:extLst xmlns:a="http://schemas.openxmlformats.org/drawingml/2006/main">
              <a:ext uri="{FF2B5EF4-FFF2-40B4-BE49-F238E27FC236}">
                <a16:creationId xmlns:a16="http://schemas.microsoft.com/office/drawing/2014/main" id="{C5C1508A-DFC8-44E1-BDDA-CF373678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09 / 26</a:t>
            </a:r>
          </a:p>
        </p:txBody>
      </p:sp>
    </p:spTree>
    <p:extLst>
      <p:ext uri="{BB962C8B-B14F-4D97-AF65-F5344CB8AC3E}">
        <p14:creationId xmlns:p14="http://schemas.microsoft.com/office/powerpoint/2010/main" val="7173406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-kicker">
            <a:extLst xmlns:a="http://schemas.openxmlformats.org/drawingml/2006/main">
              <a:ext uri="{FF2B5EF4-FFF2-40B4-BE49-F238E27FC236}">
                <a16:creationId xmlns:a16="http://schemas.microsoft.com/office/drawing/2014/main" id="{6CA64E89-EA37-4D9C-8B0B-6884480B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PAIR CHECK · FILTERS + DENOMINATOR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5D4AFCA7-7095-4BAF-8223-DF203343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Freeze. Inspect.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549D3B37-2116-474F-B184-BFE6BE27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freeze-line-1">
            <a:extLst xmlns:a="http://schemas.openxmlformats.org/drawingml/2006/main">
              <a:ext uri="{FF2B5EF4-FFF2-40B4-BE49-F238E27FC236}">
                <a16:creationId xmlns:a16="http://schemas.microsoft.com/office/drawing/2014/main" id="{29F9B908-4A04-4341-B3E1-E2012636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39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Pick one answer.</a:t>
            </a:r>
          </a:p>
        </p:txBody>
      </p:sp>
      <p:sp>
        <p:nvSpPr>
          <p:cNvPr id="5" name="05-freeze-line-2">
            <a:extLst xmlns:a="http://schemas.openxmlformats.org/drawingml/2006/main">
              <a:ext uri="{FF2B5EF4-FFF2-40B4-BE49-F238E27FC236}">
                <a16:creationId xmlns:a16="http://schemas.microsoft.com/office/drawing/2014/main" id="{BD0FECEB-ED59-4FF7-96B5-8465BDDE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0" i="1">
                <a:solidFill>
                  <a:srgbClr val="C4581A"/>
                </a:solidFill>
                <a:latin typeface="Fraunces 9pt"/>
                <a:ea typeface="Fraunces 9pt"/>
                <a:cs typeface="Fraunces 9pt"/>
              </a:defRPr>
            </a:pPr>
            <a:r>
              <a:rPr sz="3600" b="0" i="1">
                <a:solidFill>
                  <a:srgbClr val="C4581A"/>
                </a:solidFill>
                <a:latin typeface="Fraunces 9pt"/>
                <a:ea typeface="Fraunces 9pt"/>
                <a:cs typeface="Fraunces 9pt"/>
              </a:rPr>
              <a:t>What did your method silently exclude?</a:t>
            </a:r>
          </a:p>
        </p:txBody>
      </p:sp>
      <p:sp>
        <p:nvSpPr>
          <p:cNvPr id="6" name="06-freeze-rule">
            <a:extLst xmlns:a="http://schemas.openxmlformats.org/drawingml/2006/main">
              <a:ext uri="{FF2B5EF4-FFF2-40B4-BE49-F238E27FC236}">
                <a16:creationId xmlns:a16="http://schemas.microsoft.com/office/drawing/2014/main" id="{60835DA8-EEC6-4096-A5AA-B1FD2826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720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3A35"/>
            </a:solidFill>
            <a:prstDash val="solid"/>
          </a:ln>
        </p:spPr>
      </p:sp>
      <p:sp>
        <p:nvSpPr>
          <p:cNvPr id="7" name="07-footer-rule">
            <a:extLst xmlns:a="http://schemas.openxmlformats.org/drawingml/2006/main">
              <a:ext uri="{FF2B5EF4-FFF2-40B4-BE49-F238E27FC236}">
                <a16:creationId xmlns:a16="http://schemas.microsoft.com/office/drawing/2014/main" id="{4D4E725A-EBF0-4CF9-A6EB-C244789D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8" name="08-footer-left">
            <a:extLst xmlns:a="http://schemas.openxmlformats.org/drawingml/2006/main">
              <a:ext uri="{FF2B5EF4-FFF2-40B4-BE49-F238E27FC236}">
                <a16:creationId xmlns:a16="http://schemas.microsoft.com/office/drawing/2014/main" id="{96EE3E77-AF45-43EA-A937-D770A0E4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00:38-00:41</a:t>
            </a:r>
          </a:p>
        </p:txBody>
      </p:sp>
      <p:sp>
        <p:nvSpPr>
          <p:cNvPr id="9" name="09-footer-right">
            <a:extLst xmlns:a="http://schemas.openxmlformats.org/drawingml/2006/main">
              <a:ext uri="{FF2B5EF4-FFF2-40B4-BE49-F238E27FC236}">
                <a16:creationId xmlns:a16="http://schemas.microsoft.com/office/drawing/2014/main" id="{996FFDB5-60DB-4706-BF70-C9CBB18D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10 / 26</a:t>
            </a:r>
          </a:p>
        </p:txBody>
      </p:sp>
    </p:spTree>
    <p:extLst>
      <p:ext uri="{BB962C8B-B14F-4D97-AF65-F5344CB8AC3E}">
        <p14:creationId xmlns:p14="http://schemas.microsoft.com/office/powerpoint/2010/main" val="2909694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1-kicker">
            <a:extLst xmlns:a="http://schemas.openxmlformats.org/drawingml/2006/main">
              <a:ext uri="{FF2B5EF4-FFF2-40B4-BE49-F238E27FC236}">
                <a16:creationId xmlns:a16="http://schemas.microsoft.com/office/drawing/2014/main" id="{A8711851-60D9-49CA-A34D-39D58EDA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OPEN-COLUMN BLANK TRAP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8F8BC4CF-521C-4FB8-9970-E4FB0525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36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A formula can be wrong beautifully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EE5533CB-D8C0-42ED-869D-23FFCF7D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formula-bg">
            <a:extLst xmlns:a="http://schemas.openxmlformats.org/drawingml/2006/main">
              <a:ext uri="{FF2B5EF4-FFF2-40B4-BE49-F238E27FC236}">
                <a16:creationId xmlns:a16="http://schemas.microsoft.com/office/drawing/2014/main" id="{73855B79-891A-4909-808E-7D3578CD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0058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formula">
            <a:extLst xmlns:a="http://schemas.openxmlformats.org/drawingml/2006/main">
              <a:ext uri="{FF2B5EF4-FFF2-40B4-BE49-F238E27FC236}">
                <a16:creationId xmlns:a16="http://schemas.microsoft.com/office/drawing/2014/main" id="{8FB6F84A-7D02-4B19-8955-4387E4DA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955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322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COUNTBLANK(G:G)</a:t>
            </a:r>
          </a:p>
        </p:txBody>
      </p:sp>
      <p:sp>
        <p:nvSpPr>
          <p:cNvPr id="6" name="06-bad-assumption">
            <a:extLst xmlns:a="http://schemas.openxmlformats.org/drawingml/2006/main">
              <a:ext uri="{FF2B5EF4-FFF2-40B4-BE49-F238E27FC236}">
                <a16:creationId xmlns:a16="http://schemas.microsoft.com/office/drawing/2014/main" id="{40A6E944-7F76-4464-A1FC-66F39BA5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210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unused sheet rows</a:t>
            </a:r>
          </a:p>
        </p:txBody>
      </p:sp>
      <p:sp>
        <p:nvSpPr>
          <p:cNvPr id="7" name="07-strike">
            <a:extLst xmlns:a="http://schemas.openxmlformats.org/drawingml/2006/main">
              <a:ext uri="{FF2B5EF4-FFF2-40B4-BE49-F238E27FC236}">
                <a16:creationId xmlns:a16="http://schemas.microsoft.com/office/drawing/2014/main" id="{BCC46406-D291-4B35-B739-59DF4558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2907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581A"/>
            </a:solidFill>
            <a:prstDash val="solid"/>
          </a:ln>
        </p:spPr>
      </p:sp>
      <p:sp>
        <p:nvSpPr>
          <p:cNvPr id="8" name="08-arrow">
            <a:extLst xmlns:a="http://schemas.openxmlformats.org/drawingml/2006/main">
              <a:ext uri="{FF2B5EF4-FFF2-40B4-BE49-F238E27FC236}">
                <a16:creationId xmlns:a16="http://schemas.microsoft.com/office/drawing/2014/main" id="{FD9FD876-1D06-45BA-929B-DBA3EA84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24300"/>
            <a:ext cx="1028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9-repair">
            <a:extLst xmlns:a="http://schemas.openxmlformats.org/drawingml/2006/main">
              <a:ext uri="{FF2B5EF4-FFF2-40B4-BE49-F238E27FC236}">
                <a16:creationId xmlns:a16="http://schemas.microsoft.com/office/drawing/2014/main" id="{BD9FE2F7-970A-41CD-8F4C-92478F8A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E3A35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1E3A35"/>
                </a:solidFill>
                <a:latin typeface="Geist"/>
                <a:ea typeface="Geist"/>
                <a:cs typeface="Geist"/>
              </a:rPr>
              <a:t>count blank G only where record_id exists</a:t>
            </a:r>
          </a:p>
        </p:txBody>
      </p:sp>
      <p:sp>
        <p:nvSpPr>
          <p:cNvPr id="10" name="10-formula-takeaway">
            <a:extLst xmlns:a="http://schemas.openxmlformats.org/drawingml/2006/main">
              <a:ext uri="{FF2B5EF4-FFF2-40B4-BE49-F238E27FC236}">
                <a16:creationId xmlns:a16="http://schemas.microsoft.com/office/drawing/2014/main" id="{D11D97B5-FA93-4A1C-9861-3FD627F9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720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5C5046"/>
                </a:solidFill>
                <a:latin typeface="Geist"/>
                <a:ea typeface="Geist"/>
                <a:cs typeface="Geist"/>
              </a:defRPr>
            </a:pPr>
            <a:r>
              <a:rPr sz="1875" b="0" i="1">
                <a:solidFill>
                  <a:srgbClr val="5C5046"/>
                </a:solidFill>
                <a:latin typeface="Geist"/>
                <a:ea typeface="Geist"/>
                <a:cs typeface="Geist"/>
              </a:rPr>
              <a:t>The repaired formula names the population before it counts.</a:t>
            </a:r>
          </a:p>
        </p:txBody>
      </p:sp>
      <p:sp>
        <p:nvSpPr>
          <p:cNvPr id="11" name="11-footer-rule">
            <a:extLst xmlns:a="http://schemas.openxmlformats.org/drawingml/2006/main">
              <a:ext uri="{FF2B5EF4-FFF2-40B4-BE49-F238E27FC236}">
                <a16:creationId xmlns:a16="http://schemas.microsoft.com/office/drawing/2014/main" id="{3414C510-F150-49FC-891A-37C48948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2" name="12-footer-left">
            <a:extLst xmlns:a="http://schemas.openxmlformats.org/drawingml/2006/main">
              <a:ext uri="{FF2B5EF4-FFF2-40B4-BE49-F238E27FC236}">
                <a16:creationId xmlns:a16="http://schemas.microsoft.com/office/drawing/2014/main" id="{E8100948-4A38-4573-8FFC-E5F02A0A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00:41-00:46</a:t>
            </a:r>
          </a:p>
        </p:txBody>
      </p:sp>
      <p:sp>
        <p:nvSpPr>
          <p:cNvPr id="13" name="13-footer-right">
            <a:extLst xmlns:a="http://schemas.openxmlformats.org/drawingml/2006/main">
              <a:ext uri="{FF2B5EF4-FFF2-40B4-BE49-F238E27FC236}">
                <a16:creationId xmlns:a16="http://schemas.microsoft.com/office/drawing/2014/main" id="{BE4AC3DB-19EC-4387-8804-B9E5A4B2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11 / 26</a:t>
            </a:r>
          </a:p>
        </p:txBody>
      </p:sp>
    </p:spTree>
    <p:extLst>
      <p:ext uri="{BB962C8B-B14F-4D97-AF65-F5344CB8AC3E}">
        <p14:creationId xmlns:p14="http://schemas.microsoft.com/office/powerpoint/2010/main" val="20892783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3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1-kicker">
            <a:extLst xmlns:a="http://schemas.openxmlformats.org/drawingml/2006/main">
              <a:ext uri="{FF2B5EF4-FFF2-40B4-BE49-F238E27FC236}">
                <a16:creationId xmlns:a16="http://schemas.microsoft.com/office/drawing/2014/main" id="{E55D4860-D76C-4559-8604-979FB0C4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THE WALL · PRIVATE MANIFEST</a:t>
            </a:r>
          </a:p>
        </p:txBody>
      </p:sp>
      <p:sp>
        <p:nvSpPr>
          <p:cNvPr id="2" name="02-token-count">
            <a:extLst xmlns:a="http://schemas.openxmlformats.org/drawingml/2006/main">
              <a:ext uri="{FF2B5EF4-FFF2-40B4-BE49-F238E27FC236}">
                <a16:creationId xmlns:a16="http://schemas.microsoft.com/office/drawing/2014/main" id="{AE6DFB72-CB57-4D7A-87BA-815E5FDD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99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8,757,576</a:t>
            </a:r>
          </a:p>
        </p:txBody>
      </p:sp>
      <p:sp>
        <p:nvSpPr>
          <p:cNvPr id="3" name="03-token-unit">
            <a:extLst xmlns:a="http://schemas.openxmlformats.org/drawingml/2006/main">
              <a:ext uri="{FF2B5EF4-FFF2-40B4-BE49-F238E27FC236}">
                <a16:creationId xmlns:a16="http://schemas.microsoft.com/office/drawing/2014/main" id="{B7317435-99CA-48AE-8619-9073CC1C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1">
                <a:solidFill>
                  <a:srgbClr val="F0D478"/>
                </a:solidFill>
                <a:latin typeface="Fraunces 9pt"/>
                <a:ea typeface="Fraunces 9pt"/>
                <a:cs typeface="Fraunces 9pt"/>
              </a:defRPr>
            </a:pPr>
            <a:r>
              <a:rPr sz="2625" b="0" i="1">
                <a:solidFill>
                  <a:srgbClr val="F0D478"/>
                </a:solidFill>
                <a:latin typeface="Fraunces 9pt"/>
                <a:ea typeface="Fraunces 9pt"/>
                <a:cs typeface="Fraunces 9pt"/>
              </a:rPr>
              <a:t>tokens</a:t>
            </a:r>
          </a:p>
        </p:txBody>
      </p:sp>
      <p:sp>
        <p:nvSpPr>
          <p:cNvPr id="4" name="04-wall-claim">
            <a:extLst xmlns:a="http://schemas.openxmlformats.org/drawingml/2006/main">
              <a:ext uri="{FF2B5EF4-FFF2-40B4-BE49-F238E27FC236}">
                <a16:creationId xmlns:a16="http://schemas.microsoft.com/office/drawing/2014/main" id="{ECA0AC23-2C39-4BD2-AB4C-036C7621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WHOLE-FILE CHAT IS NOW A BET, NOT A METHOD.</a:t>
            </a:r>
          </a:p>
        </p:txBody>
      </p:sp>
      <p:sp>
        <p:nvSpPr>
          <p:cNvPr id="5" name="05-wall-trace">
            <a:extLst xmlns:a="http://schemas.openxmlformats.org/drawingml/2006/main">
              <a:ext uri="{FF2B5EF4-FFF2-40B4-BE49-F238E27FC236}">
                <a16:creationId xmlns:a16="http://schemas.microsoft.com/office/drawing/2014/main" id="{D96B56A3-4C13-4C38-8139-80EC994B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cl100k_base · tiktoken 0.12.0 · uncompressed JSONL</a:t>
            </a:r>
          </a:p>
        </p:txBody>
      </p:sp>
      <p:sp>
        <p:nvSpPr>
          <p:cNvPr id="6" name="06-footer-rule">
            <a:extLst xmlns:a="http://schemas.openxmlformats.org/drawingml/2006/main">
              <a:ext uri="{FF2B5EF4-FFF2-40B4-BE49-F238E27FC236}">
                <a16:creationId xmlns:a16="http://schemas.microsoft.com/office/drawing/2014/main" id="{09F22CFB-AA70-44EF-92EE-33D7B96B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35D"/>
            </a:solidFill>
            <a:prstDash val="solid"/>
          </a:ln>
        </p:spPr>
      </p:sp>
      <p:sp>
        <p:nvSpPr>
          <p:cNvPr id="7" name="07-footer-left">
            <a:extLst xmlns:a="http://schemas.openxmlformats.org/drawingml/2006/main">
              <a:ext uri="{FF2B5EF4-FFF2-40B4-BE49-F238E27FC236}">
                <a16:creationId xmlns:a16="http://schemas.microsoft.com/office/drawing/2014/main" id="{8DB0E976-C5C5-40D2-90C7-C8E4FEEB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SESSION 03  /  00:46-00:51</a:t>
            </a:r>
          </a:p>
        </p:txBody>
      </p:sp>
      <p:sp>
        <p:nvSpPr>
          <p:cNvPr id="8" name="08-footer-right">
            <a:extLst xmlns:a="http://schemas.openxmlformats.org/drawingml/2006/main">
              <a:ext uri="{FF2B5EF4-FFF2-40B4-BE49-F238E27FC236}">
                <a16:creationId xmlns:a16="http://schemas.microsoft.com/office/drawing/2014/main" id="{93EEE981-2F3A-4A83-BAE7-C88FB8A3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12 / 26</a:t>
            </a:r>
          </a:p>
        </p:txBody>
      </p:sp>
    </p:spTree>
    <p:extLst>
      <p:ext uri="{BB962C8B-B14F-4D97-AF65-F5344CB8AC3E}">
        <p14:creationId xmlns:p14="http://schemas.microsoft.com/office/powerpoint/2010/main" val="19439409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1-kicker">
            <a:extLst xmlns:a="http://schemas.openxmlformats.org/drawingml/2006/main">
              <a:ext uri="{FF2B5EF4-FFF2-40B4-BE49-F238E27FC236}">
                <a16:creationId xmlns:a16="http://schemas.microsoft.com/office/drawing/2014/main" id="{0B4BD79D-9BAF-46EA-BCBB-6363C657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BRING THE METHOD TO THE DATA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E45CCE42-E815-409A-B5B2-ABFB52A1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Don’t fight the wall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A5D3385A-E382-425E-8D26-7586AA70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arrow">
            <a:extLst xmlns:a="http://schemas.openxmlformats.org/drawingml/2006/main">
              <a:ext uri="{FF2B5EF4-FFF2-40B4-BE49-F238E27FC236}">
                <a16:creationId xmlns:a16="http://schemas.microsoft.com/office/drawing/2014/main" id="{74E6A76D-5773-4C37-9BB4-862A5317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952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arrow">
            <a:extLst xmlns:a="http://schemas.openxmlformats.org/drawingml/2006/main">
              <a:ext uri="{FF2B5EF4-FFF2-40B4-BE49-F238E27FC236}">
                <a16:creationId xmlns:a16="http://schemas.microsoft.com/office/drawing/2014/main" id="{8A807AD0-6D7C-4AA2-8112-725ABF48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05150"/>
            <a:ext cx="952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node-bg">
            <a:extLst xmlns:a="http://schemas.openxmlformats.org/drawingml/2006/main">
              <a:ext uri="{FF2B5EF4-FFF2-40B4-BE49-F238E27FC236}">
                <a16:creationId xmlns:a16="http://schemas.microsoft.com/office/drawing/2014/main" id="{3389D483-931E-44EC-AEBE-C39A71F7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724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E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7" name="07-node-label">
            <a:extLst xmlns:a="http://schemas.openxmlformats.org/drawingml/2006/main">
              <a:ext uri="{FF2B5EF4-FFF2-40B4-BE49-F238E27FC236}">
                <a16:creationId xmlns:a16="http://schemas.microsoft.com/office/drawing/2014/main" id="{8D9E40A0-CA11-4491-BB0D-73A4E56D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4955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E3A35"/>
                </a:solidFill>
                <a:latin typeface="Geist"/>
                <a:ea typeface="Geist"/>
                <a:cs typeface="Geist"/>
              </a:defRPr>
            </a:pPr>
            <a:r>
              <a:rPr sz="2100" b="1" i="0">
                <a:solidFill>
                  <a:srgbClr val="1E3A35"/>
                </a:solidFill>
                <a:latin typeface="Geist"/>
                <a:ea typeface="Geist"/>
                <a:cs typeface="Geist"/>
              </a:rPr>
              <a:t>FORMULA</a:t>
            </a:r>
          </a:p>
          <a:p xmlns:a="http://schemas.openxmlformats.org/drawingml/2006/main">
            <a:pPr algn="ctr">
              <a:defRPr sz="2100" b="1" i="0">
                <a:solidFill>
                  <a:srgbClr val="1E3A35"/>
                </a:solidFill>
                <a:latin typeface="Geist"/>
                <a:ea typeface="Geist"/>
                <a:cs typeface="Geist"/>
              </a:defRPr>
            </a:pPr>
            <a:r>
              <a:rPr sz="2100" b="1" i="0">
                <a:solidFill>
                  <a:srgbClr val="1E3A35"/>
                </a:solidFill>
                <a:latin typeface="Geist"/>
                <a:ea typeface="Geist"/>
                <a:cs typeface="Geist"/>
              </a:rPr>
              <a:t>in the sheet</a:t>
            </a:r>
          </a:p>
        </p:txBody>
      </p:sp>
      <p:sp>
        <p:nvSpPr>
          <p:cNvPr id="8" name="08-node-bg">
            <a:extLst xmlns:a="http://schemas.openxmlformats.org/drawingml/2006/main">
              <a:ext uri="{FF2B5EF4-FFF2-40B4-BE49-F238E27FC236}">
                <a16:creationId xmlns:a16="http://schemas.microsoft.com/office/drawing/2014/main" id="{32D4AE67-CE7E-4A90-BED1-942265B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3467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581A"/>
            </a:solidFill>
            <a:prstDash val="solid"/>
          </a:ln>
        </p:spPr>
      </p:sp>
      <p:sp>
        <p:nvSpPr>
          <p:cNvPr id="9" name="09-node-label">
            <a:extLst xmlns:a="http://schemas.openxmlformats.org/drawingml/2006/main">
              <a:ext uri="{FF2B5EF4-FFF2-40B4-BE49-F238E27FC236}">
                <a16:creationId xmlns:a16="http://schemas.microsoft.com/office/drawing/2014/main" id="{93EABF83-E7CF-46E9-A385-495045F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2025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SCHEMA + SAMPLE</a:t>
            </a:r>
          </a:p>
          <a:p xmlns:a="http://schemas.openxmlformats.org/drawingml/2006/main">
            <a:pPr algn="ctr">
              <a:defRPr sz="2025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2025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to draft code</a:t>
            </a:r>
          </a:p>
        </p:txBody>
      </p:sp>
      <p:sp>
        <p:nvSpPr>
          <p:cNvPr id="10" name="10-node-bg">
            <a:extLst xmlns:a="http://schemas.openxmlformats.org/drawingml/2006/main">
              <a:ext uri="{FF2B5EF4-FFF2-40B4-BE49-F238E27FC236}">
                <a16:creationId xmlns:a16="http://schemas.microsoft.com/office/drawing/2014/main" id="{2A39CF37-E078-436D-9BA8-F59B32C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38400"/>
            <a:ext cx="2724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E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11" name="11-node-label">
            <a:extLst xmlns:a="http://schemas.openxmlformats.org/drawingml/2006/main">
              <a:ext uri="{FF2B5EF4-FFF2-40B4-BE49-F238E27FC236}">
                <a16:creationId xmlns:a16="http://schemas.microsoft.com/office/drawing/2014/main" id="{C6FFD563-8481-4A25-90F8-B21A5DB2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14600"/>
            <a:ext cx="24955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E3A35"/>
                </a:solidFill>
                <a:latin typeface="Geist"/>
                <a:ea typeface="Geist"/>
                <a:cs typeface="Geist"/>
              </a:defRPr>
            </a:pPr>
            <a:r>
              <a:rPr sz="1875" b="1" i="0">
                <a:solidFill>
                  <a:srgbClr val="1E3A35"/>
                </a:solidFill>
                <a:latin typeface="Geist"/>
                <a:ea typeface="Geist"/>
                <a:cs typeface="Geist"/>
              </a:rPr>
              <a:t>SCRIPT / NOTEBOOK</a:t>
            </a:r>
          </a:p>
          <a:p xmlns:a="http://schemas.openxmlformats.org/drawingml/2006/main">
            <a:pPr algn="ctr">
              <a:defRPr sz="1875" b="1" i="0">
                <a:solidFill>
                  <a:srgbClr val="1E3A35"/>
                </a:solidFill>
                <a:latin typeface="Geist"/>
                <a:ea typeface="Geist"/>
                <a:cs typeface="Geist"/>
              </a:defRPr>
            </a:pPr>
            <a:r>
              <a:rPr sz="1875" b="1" i="0">
                <a:solidFill>
                  <a:srgbClr val="1E3A35"/>
                </a:solidFill>
                <a:latin typeface="Geist"/>
                <a:ea typeface="Geist"/>
                <a:cs typeface="Geist"/>
              </a:rPr>
              <a:t>against full file</a:t>
            </a:r>
          </a:p>
        </p:txBody>
      </p:sp>
      <p:sp>
        <p:nvSpPr>
          <p:cNvPr id="12" name="12-wall-method">
            <a:extLst xmlns:a="http://schemas.openxmlformats.org/drawingml/2006/main">
              <a:ext uri="{FF2B5EF4-FFF2-40B4-BE49-F238E27FC236}">
                <a16:creationId xmlns:a16="http://schemas.microsoft.com/office/drawing/2014/main" id="{A235BF30-0347-4947-904F-2E70EBB4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1">
                <a:solidFill>
                  <a:srgbClr val="5C5046"/>
                </a:solidFill>
                <a:latin typeface="Fraunces 9pt"/>
                <a:ea typeface="Fraunces 9pt"/>
                <a:cs typeface="Fraunces 9pt"/>
              </a:defRPr>
            </a:pPr>
            <a:r>
              <a:rPr sz="2175" b="0" i="1">
                <a:solidFill>
                  <a:srgbClr val="5C5046"/>
                </a:solidFill>
                <a:latin typeface="Fraunces 9pt"/>
                <a:ea typeface="Fraunces 9pt"/>
                <a:cs typeface="Fraunces 9pt"/>
              </a:rPr>
              <a:t>A sample designs the method. The full file produces the answer.</a:t>
            </a:r>
          </a:p>
        </p:txBody>
      </p:sp>
      <p:sp>
        <p:nvSpPr>
          <p:cNvPr id="13" name="13-footer-rule">
            <a:extLst xmlns:a="http://schemas.openxmlformats.org/drawingml/2006/main">
              <a:ext uri="{FF2B5EF4-FFF2-40B4-BE49-F238E27FC236}">
                <a16:creationId xmlns:a16="http://schemas.microsoft.com/office/drawing/2014/main" id="{9DD42D4E-0B77-46FD-90E0-256B900F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4" name="14-footer-left">
            <a:extLst xmlns:a="http://schemas.openxmlformats.org/drawingml/2006/main">
              <a:ext uri="{FF2B5EF4-FFF2-40B4-BE49-F238E27FC236}">
                <a16:creationId xmlns:a16="http://schemas.microsoft.com/office/drawing/2014/main" id="{4345F4C2-374C-46B8-9774-38C6E101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00:51-00:54</a:t>
            </a:r>
          </a:p>
        </p:txBody>
      </p:sp>
      <p:sp>
        <p:nvSpPr>
          <p:cNvPr id="15" name="15-footer-right">
            <a:extLst xmlns:a="http://schemas.openxmlformats.org/drawingml/2006/main">
              <a:ext uri="{FF2B5EF4-FFF2-40B4-BE49-F238E27FC236}">
                <a16:creationId xmlns:a16="http://schemas.microsoft.com/office/drawing/2014/main" id="{179255F4-FA9F-4101-96EC-19534264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13 / 26</a:t>
            </a:r>
          </a:p>
        </p:txBody>
      </p:sp>
    </p:spTree>
    <p:extLst>
      <p:ext uri="{BB962C8B-B14F-4D97-AF65-F5344CB8AC3E}">
        <p14:creationId xmlns:p14="http://schemas.microsoft.com/office/powerpoint/2010/main" val="9342367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01-kicker">
            <a:extLst xmlns:a="http://schemas.openxmlformats.org/drawingml/2006/main">
              <a:ext uri="{FF2B5EF4-FFF2-40B4-BE49-F238E27FC236}">
                <a16:creationId xmlns:a16="http://schemas.microsoft.com/office/drawing/2014/main" id="{F97600F9-2DF1-42AC-9AE4-33683161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OPTIONS, NOT MATURITY BADGES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0ECB716A-1CC0-4CFA-82F1-8647C229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Six escalating moves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38FE891E-6799-4778-8CF2-79516311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arrow">
            <a:extLst xmlns:a="http://schemas.openxmlformats.org/drawingml/2006/main">
              <a:ext uri="{FF2B5EF4-FFF2-40B4-BE49-F238E27FC236}">
                <a16:creationId xmlns:a16="http://schemas.microsoft.com/office/drawing/2014/main" id="{4E9880A0-40D9-4369-B4CF-1C6846E3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527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arrow">
            <a:extLst xmlns:a="http://schemas.openxmlformats.org/drawingml/2006/main">
              <a:ext uri="{FF2B5EF4-FFF2-40B4-BE49-F238E27FC236}">
                <a16:creationId xmlns:a16="http://schemas.microsoft.com/office/drawing/2014/main" id="{9675E2A7-6A33-4074-ACD1-97E627B2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arrow">
            <a:extLst xmlns:a="http://schemas.openxmlformats.org/drawingml/2006/main">
              <a:ext uri="{FF2B5EF4-FFF2-40B4-BE49-F238E27FC236}">
                <a16:creationId xmlns:a16="http://schemas.microsoft.com/office/drawing/2014/main" id="{C3327955-1CFE-49FB-95C5-6B1DB1E9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07-arrow">
            <a:extLst xmlns:a="http://schemas.openxmlformats.org/drawingml/2006/main">
              <a:ext uri="{FF2B5EF4-FFF2-40B4-BE49-F238E27FC236}">
                <a16:creationId xmlns:a16="http://schemas.microsoft.com/office/drawing/2014/main" id="{48FCE3A3-DEFE-4012-B439-7D0FE73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8-arrow">
            <a:extLst xmlns:a="http://schemas.openxmlformats.org/drawingml/2006/main">
              <a:ext uri="{FF2B5EF4-FFF2-40B4-BE49-F238E27FC236}">
                <a16:creationId xmlns:a16="http://schemas.microsoft.com/office/drawing/2014/main" id="{A7F5FBA8-EEB5-40A8-9C36-7D960CDC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527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9-move-number">
            <a:extLst xmlns:a="http://schemas.openxmlformats.org/drawingml/2006/main">
              <a:ext uri="{FF2B5EF4-FFF2-40B4-BE49-F238E27FC236}">
                <a16:creationId xmlns:a16="http://schemas.microsoft.com/office/drawing/2014/main" id="{91854215-7A26-4016-9115-5FEB7468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01</a:t>
            </a:r>
          </a:p>
        </p:txBody>
      </p:sp>
      <p:sp>
        <p:nvSpPr>
          <p:cNvPr id="10" name="10-node-bg">
            <a:extLst xmlns:a="http://schemas.openxmlformats.org/drawingml/2006/main">
              <a:ext uri="{FF2B5EF4-FFF2-40B4-BE49-F238E27FC236}">
                <a16:creationId xmlns:a16="http://schemas.microsoft.com/office/drawing/2014/main" id="{BAE5B98E-DE5E-44EE-894B-CF024570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1" name="11-node-label">
            <a:extLst xmlns:a="http://schemas.openxmlformats.org/drawingml/2006/main">
              <a:ext uri="{FF2B5EF4-FFF2-40B4-BE49-F238E27FC236}">
                <a16:creationId xmlns:a16="http://schemas.microsoft.com/office/drawing/2014/main" id="{C18B88BC-ECA0-4269-8EAE-2604ACE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Inspect</a:t>
            </a:r>
          </a:p>
        </p:txBody>
      </p:sp>
      <p:sp>
        <p:nvSpPr>
          <p:cNvPr id="12" name="12-move-number">
            <a:extLst xmlns:a="http://schemas.openxmlformats.org/drawingml/2006/main">
              <a:ext uri="{FF2B5EF4-FFF2-40B4-BE49-F238E27FC236}">
                <a16:creationId xmlns:a16="http://schemas.microsoft.com/office/drawing/2014/main" id="{2D88C602-0D83-47EC-B1ED-F0FFFA06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098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13" name="13-node-bg">
            <a:extLst xmlns:a="http://schemas.openxmlformats.org/drawingml/2006/main">
              <a:ext uri="{FF2B5EF4-FFF2-40B4-BE49-F238E27FC236}">
                <a16:creationId xmlns:a16="http://schemas.microsoft.com/office/drawing/2014/main" id="{D184AABD-B0B9-4E53-8AFD-2CB38D8F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4" name="14-node-label">
            <a:extLst xmlns:a="http://schemas.openxmlformats.org/drawingml/2006/main">
              <a:ext uri="{FF2B5EF4-FFF2-40B4-BE49-F238E27FC236}">
                <a16:creationId xmlns:a16="http://schemas.microsoft.com/office/drawing/2014/main" id="{58593068-C914-40A9-9301-8591E424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Ask</a:t>
            </a:r>
          </a:p>
        </p:txBody>
      </p:sp>
      <p:sp>
        <p:nvSpPr>
          <p:cNvPr id="15" name="15-move-number">
            <a:extLst xmlns:a="http://schemas.openxmlformats.org/drawingml/2006/main">
              <a:ext uri="{FF2B5EF4-FFF2-40B4-BE49-F238E27FC236}">
                <a16:creationId xmlns:a16="http://schemas.microsoft.com/office/drawing/2014/main" id="{EC22ED71-8210-40D7-A0D9-6978741E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03</a:t>
            </a:r>
          </a:p>
        </p:txBody>
      </p:sp>
      <p:sp>
        <p:nvSpPr>
          <p:cNvPr id="16" name="16-node-bg">
            <a:extLst xmlns:a="http://schemas.openxmlformats.org/drawingml/2006/main">
              <a:ext uri="{FF2B5EF4-FFF2-40B4-BE49-F238E27FC236}">
                <a16:creationId xmlns:a16="http://schemas.microsoft.com/office/drawing/2014/main" id="{87B2D1F9-5493-4665-A69C-B96F668A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7" name="17-node-label">
            <a:extLst xmlns:a="http://schemas.openxmlformats.org/drawingml/2006/main">
              <a:ext uri="{FF2B5EF4-FFF2-40B4-BE49-F238E27FC236}">
                <a16:creationId xmlns:a16="http://schemas.microsoft.com/office/drawing/2014/main" id="{6388B86D-44D8-4749-B2A9-B938667E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Formula</a:t>
            </a:r>
          </a:p>
        </p:txBody>
      </p:sp>
      <p:sp>
        <p:nvSpPr>
          <p:cNvPr id="18" name="18-move-number">
            <a:extLst xmlns:a="http://schemas.openxmlformats.org/drawingml/2006/main">
              <a:ext uri="{FF2B5EF4-FFF2-40B4-BE49-F238E27FC236}">
                <a16:creationId xmlns:a16="http://schemas.microsoft.com/office/drawing/2014/main" id="{BF8F51C2-B9BC-4D8E-832F-92F1DD4F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04</a:t>
            </a:r>
          </a:p>
        </p:txBody>
      </p:sp>
      <p:sp>
        <p:nvSpPr>
          <p:cNvPr id="19" name="19-node-bg">
            <a:extLst xmlns:a="http://schemas.openxmlformats.org/drawingml/2006/main">
              <a:ext uri="{FF2B5EF4-FFF2-40B4-BE49-F238E27FC236}">
                <a16:creationId xmlns:a16="http://schemas.microsoft.com/office/drawing/2014/main" id="{004F0590-64A9-4591-B2A5-5968E1FD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20" name="20-node-label">
            <a:extLst xmlns:a="http://schemas.openxmlformats.org/drawingml/2006/main">
              <a:ext uri="{FF2B5EF4-FFF2-40B4-BE49-F238E27FC236}">
                <a16:creationId xmlns:a16="http://schemas.microsoft.com/office/drawing/2014/main" id="{9C152AE0-DDE5-4946-8F20-346C5DAD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Schema + sample</a:t>
            </a:r>
          </a:p>
        </p:txBody>
      </p:sp>
      <p:sp>
        <p:nvSpPr>
          <p:cNvPr id="21" name="21-move-number">
            <a:extLst xmlns:a="http://schemas.openxmlformats.org/drawingml/2006/main">
              <a:ext uri="{FF2B5EF4-FFF2-40B4-BE49-F238E27FC236}">
                <a16:creationId xmlns:a16="http://schemas.microsoft.com/office/drawing/2014/main" id="{EB91C64B-311E-4A24-AC39-A2753EAD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05</a:t>
            </a:r>
          </a:p>
        </p:txBody>
      </p:sp>
      <p:sp>
        <p:nvSpPr>
          <p:cNvPr id="22" name="22-node-bg">
            <a:extLst xmlns:a="http://schemas.openxmlformats.org/drawingml/2006/main">
              <a:ext uri="{FF2B5EF4-FFF2-40B4-BE49-F238E27FC236}">
                <a16:creationId xmlns:a16="http://schemas.microsoft.com/office/drawing/2014/main" id="{6DEE02F2-661D-43BC-81F6-3F1D303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23" name="23-node-label">
            <a:extLst xmlns:a="http://schemas.openxmlformats.org/drawingml/2006/main">
              <a:ext uri="{FF2B5EF4-FFF2-40B4-BE49-F238E27FC236}">
                <a16:creationId xmlns:a16="http://schemas.microsoft.com/office/drawing/2014/main" id="{0B6A7CF7-F259-43FF-B9BA-1DE6C59E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Execute code</a:t>
            </a:r>
          </a:p>
        </p:txBody>
      </p:sp>
      <p:sp>
        <p:nvSpPr>
          <p:cNvPr id="24" name="24-move-number">
            <a:extLst xmlns:a="http://schemas.openxmlformats.org/drawingml/2006/main">
              <a:ext uri="{FF2B5EF4-FFF2-40B4-BE49-F238E27FC236}">
                <a16:creationId xmlns:a16="http://schemas.microsoft.com/office/drawing/2014/main" id="{5562B74D-EE90-4000-BAE5-03DCC939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098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06</a:t>
            </a:r>
          </a:p>
        </p:txBody>
      </p:sp>
      <p:sp>
        <p:nvSpPr>
          <p:cNvPr id="25" name="25-node-bg">
            <a:extLst xmlns:a="http://schemas.openxmlformats.org/drawingml/2006/main">
              <a:ext uri="{FF2B5EF4-FFF2-40B4-BE49-F238E27FC236}">
                <a16:creationId xmlns:a16="http://schemas.microsoft.com/office/drawing/2014/main" id="{A2760999-3558-4ED5-B8F1-2836FF0C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7"/>
          </a:solidFill>
          <a:ln xmlns:a="http://schemas.openxmlformats.org/drawingml/2006/main" w="14288">
            <a:solidFill>
              <a:srgbClr val="C4581A"/>
            </a:solidFill>
            <a:prstDash val="solid"/>
          </a:ln>
        </p:spPr>
      </p:sp>
      <p:sp>
        <p:nvSpPr>
          <p:cNvPr id="26" name="26-node-label">
            <a:extLst xmlns:a="http://schemas.openxmlformats.org/drawingml/2006/main">
              <a:ext uri="{FF2B5EF4-FFF2-40B4-BE49-F238E27FC236}">
                <a16:creationId xmlns:a16="http://schemas.microsoft.com/office/drawing/2014/main" id="{16DBA5FD-54CC-4852-9FD3-B47CE213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241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425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Verify + visualise</a:t>
            </a:r>
          </a:p>
        </p:txBody>
      </p:sp>
      <p:sp>
        <p:nvSpPr>
          <p:cNvPr id="27" name="27-moves-takeaway">
            <a:extLst xmlns:a="http://schemas.openxmlformats.org/drawingml/2006/main">
              <a:ext uri="{FF2B5EF4-FFF2-40B4-BE49-F238E27FC236}">
                <a16:creationId xmlns:a16="http://schemas.microsoft.com/office/drawing/2014/main" id="{8D30AF34-AD0E-4C96-B896-43F8BEF9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255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Use the smallest reproducible method that manages the risk.</a:t>
            </a:r>
          </a:p>
        </p:txBody>
      </p:sp>
      <p:sp>
        <p:nvSpPr>
          <p:cNvPr id="28" name="28-footer-rule">
            <a:extLst xmlns:a="http://schemas.openxmlformats.org/drawingml/2006/main">
              <a:ext uri="{FF2B5EF4-FFF2-40B4-BE49-F238E27FC236}">
                <a16:creationId xmlns:a16="http://schemas.microsoft.com/office/drawing/2014/main" id="{9B60C966-C714-46B9-A604-3BFAFDC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9" name="29-footer-left">
            <a:extLst xmlns:a="http://schemas.openxmlformats.org/drawingml/2006/main">
              <a:ext uri="{FF2B5EF4-FFF2-40B4-BE49-F238E27FC236}">
                <a16:creationId xmlns:a16="http://schemas.microsoft.com/office/drawing/2014/main" id="{9696EDD7-9563-4FD1-8C91-73E9BD37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00:54-00:58</a:t>
            </a:r>
          </a:p>
        </p:txBody>
      </p:sp>
      <p:sp>
        <p:nvSpPr>
          <p:cNvPr id="30" name="30-footer-right">
            <a:extLst xmlns:a="http://schemas.openxmlformats.org/drawingml/2006/main">
              <a:ext uri="{FF2B5EF4-FFF2-40B4-BE49-F238E27FC236}">
                <a16:creationId xmlns:a16="http://schemas.microsoft.com/office/drawing/2014/main" id="{E421AD9F-8BC1-47D2-AD8C-861E6328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14 / 26</a:t>
            </a:r>
          </a:p>
        </p:txBody>
      </p:sp>
    </p:spTree>
    <p:extLst>
      <p:ext uri="{BB962C8B-B14F-4D97-AF65-F5344CB8AC3E}">
        <p14:creationId xmlns:p14="http://schemas.microsoft.com/office/powerpoint/2010/main" val="18808011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01-kicker">
            <a:extLst xmlns:a="http://schemas.openxmlformats.org/drawingml/2006/main">
              <a:ext uri="{FF2B5EF4-FFF2-40B4-BE49-F238E27FC236}">
                <a16:creationId xmlns:a16="http://schemas.microsoft.com/office/drawing/2014/main" id="{B76068C5-C0E1-482C-BC5E-11B55A37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SUBMIT S3-SCALE-01 FIRST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4B5C461A-8B0C-4DCC-98A0-AA4B380B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Pick the route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4C7F49AE-3395-473B-BAAF-95438E9E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table-head-bg">
            <a:extLst xmlns:a="http://schemas.openxmlformats.org/drawingml/2006/main">
              <a:ext uri="{FF2B5EF4-FFF2-40B4-BE49-F238E27FC236}">
                <a16:creationId xmlns:a16="http://schemas.microsoft.com/office/drawing/2014/main" id="{F6340D80-4FA1-4387-9F3C-31A6F20B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table-head">
            <a:extLst xmlns:a="http://schemas.openxmlformats.org/drawingml/2006/main">
              <a:ext uri="{FF2B5EF4-FFF2-40B4-BE49-F238E27FC236}">
                <a16:creationId xmlns:a16="http://schemas.microsoft.com/office/drawing/2014/main" id="{47FD4055-6FE6-48FD-8F50-4B32D6AD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659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2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NEED</a:t>
            </a:r>
          </a:p>
        </p:txBody>
      </p:sp>
      <p:sp>
        <p:nvSpPr>
          <p:cNvPr id="6" name="06-table-head-bg">
            <a:extLst xmlns:a="http://schemas.openxmlformats.org/drawingml/2006/main">
              <a:ext uri="{FF2B5EF4-FFF2-40B4-BE49-F238E27FC236}">
                <a16:creationId xmlns:a16="http://schemas.microsoft.com/office/drawing/2014/main" id="{94067485-0746-4D5F-AF32-5D5ED11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85950"/>
            <a:ext cx="4114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07-table-head">
            <a:extLst xmlns:a="http://schemas.openxmlformats.org/drawingml/2006/main">
              <a:ext uri="{FF2B5EF4-FFF2-40B4-BE49-F238E27FC236}">
                <a16:creationId xmlns:a16="http://schemas.microsoft.com/office/drawing/2014/main" id="{63669EA5-815D-4BA9-A91C-16F9374C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62150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2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ROUTE</a:t>
            </a:r>
          </a:p>
        </p:txBody>
      </p:sp>
      <p:sp>
        <p:nvSpPr>
          <p:cNvPr id="8" name="08-table-cell-bg">
            <a:extLst xmlns:a="http://schemas.openxmlformats.org/drawingml/2006/main">
              <a:ext uri="{FF2B5EF4-FFF2-40B4-BE49-F238E27FC236}">
                <a16:creationId xmlns:a16="http://schemas.microsoft.com/office/drawing/2014/main" id="{63AE31D2-4EA5-4B55-A37F-1A77C123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9" name="09-table-cell">
            <a:extLst xmlns:a="http://schemas.openxmlformats.org/drawingml/2006/main">
              <a:ext uri="{FF2B5EF4-FFF2-40B4-BE49-F238E27FC236}">
                <a16:creationId xmlns:a16="http://schemas.microsoft.com/office/drawing/2014/main" id="{29C87FAF-1722-4AB4-970D-2D569E33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659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one bounded aggregate, sheet already open</a:t>
            </a:r>
          </a:p>
        </p:txBody>
      </p:sp>
      <p:sp>
        <p:nvSpPr>
          <p:cNvPr id="10" name="10-table-cell-bg">
            <a:extLst xmlns:a="http://schemas.openxmlformats.org/drawingml/2006/main">
              <a:ext uri="{FF2B5EF4-FFF2-40B4-BE49-F238E27FC236}">
                <a16:creationId xmlns:a16="http://schemas.microsoft.com/office/drawing/2014/main" id="{D452719F-9FF2-47FF-85CC-E62B48A9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4114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1" name="11-table-cell">
            <a:extLst xmlns:a="http://schemas.openxmlformats.org/drawingml/2006/main">
              <a:ext uri="{FF2B5EF4-FFF2-40B4-BE49-F238E27FC236}">
                <a16:creationId xmlns:a16="http://schemas.microsoft.com/office/drawing/2014/main" id="{D3F0A63E-7C94-4F0F-BE7D-FEE159EC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3842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formula / pivot</a:t>
            </a:r>
          </a:p>
        </p:txBody>
      </p:sp>
      <p:sp>
        <p:nvSpPr>
          <p:cNvPr id="12" name="12-table-cell-bg">
            <a:extLst xmlns:a="http://schemas.openxmlformats.org/drawingml/2006/main">
              <a:ext uri="{FF2B5EF4-FFF2-40B4-BE49-F238E27FC236}">
                <a16:creationId xmlns:a16="http://schemas.microsoft.com/office/drawing/2014/main" id="{2711D441-E840-4F17-A692-2D05FAA7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3" name="13-table-cell">
            <a:extLst xmlns:a="http://schemas.openxmlformats.org/drawingml/2006/main">
              <a:ext uri="{FF2B5EF4-FFF2-40B4-BE49-F238E27FC236}">
                <a16:creationId xmlns:a16="http://schemas.microsoft.com/office/drawing/2014/main" id="{420D1643-CDF4-4499-AFC7-27250D86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659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repeat across versions or many groups</a:t>
            </a:r>
          </a:p>
        </p:txBody>
      </p:sp>
      <p:sp>
        <p:nvSpPr>
          <p:cNvPr id="14" name="14-table-cell-bg">
            <a:extLst xmlns:a="http://schemas.openxmlformats.org/drawingml/2006/main">
              <a:ext uri="{FF2B5EF4-FFF2-40B4-BE49-F238E27FC236}">
                <a16:creationId xmlns:a16="http://schemas.microsoft.com/office/drawing/2014/main" id="{ECF936ED-BB31-433F-AC70-7F84E4F2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57550"/>
            <a:ext cx="4114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5" name="15-table-cell">
            <a:extLst xmlns:a="http://schemas.openxmlformats.org/drawingml/2006/main">
              <a:ext uri="{FF2B5EF4-FFF2-40B4-BE49-F238E27FC236}">
                <a16:creationId xmlns:a16="http://schemas.microsoft.com/office/drawing/2014/main" id="{2951D7C6-8161-4946-AB42-4707558D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2422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script / notebook</a:t>
            </a:r>
          </a:p>
        </p:txBody>
      </p:sp>
      <p:sp>
        <p:nvSpPr>
          <p:cNvPr id="16" name="16-table-cell-bg">
            <a:extLst xmlns:a="http://schemas.openxmlformats.org/drawingml/2006/main">
              <a:ext uri="{FF2B5EF4-FFF2-40B4-BE49-F238E27FC236}">
                <a16:creationId xmlns:a16="http://schemas.microsoft.com/office/drawing/2014/main" id="{4373D860-26D0-4F3C-9C03-A0F2415B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7" name="17-table-cell">
            <a:extLst xmlns:a="http://schemas.openxmlformats.org/drawingml/2006/main">
              <a:ext uri="{FF2B5EF4-FFF2-40B4-BE49-F238E27FC236}">
                <a16:creationId xmlns:a16="http://schemas.microsoft.com/office/drawing/2014/main" id="{6ECDFECD-9335-4A49-B3E5-52D5DC1C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659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file cannot enter chat</a:t>
            </a:r>
          </a:p>
        </p:txBody>
      </p:sp>
      <p:sp>
        <p:nvSpPr>
          <p:cNvPr id="18" name="18-table-cell-bg">
            <a:extLst xmlns:a="http://schemas.openxmlformats.org/drawingml/2006/main">
              <a:ext uri="{FF2B5EF4-FFF2-40B4-BE49-F238E27FC236}">
                <a16:creationId xmlns:a16="http://schemas.microsoft.com/office/drawing/2014/main" id="{CF1A95D4-ABFF-434E-BAD4-6FD8479E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43350"/>
            <a:ext cx="4114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9" name="19-table-cell">
            <a:extLst xmlns:a="http://schemas.openxmlformats.org/drawingml/2006/main">
              <a:ext uri="{FF2B5EF4-FFF2-40B4-BE49-F238E27FC236}">
                <a16:creationId xmlns:a16="http://schemas.microsoft.com/office/drawing/2014/main" id="{B5318C4F-4B33-42C6-BC8B-4D3FE1F7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1002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schema + sample to draft code</a:t>
            </a:r>
          </a:p>
        </p:txBody>
      </p:sp>
      <p:sp>
        <p:nvSpPr>
          <p:cNvPr id="20" name="20-table-cell-bg">
            <a:extLst xmlns:a="http://schemas.openxmlformats.org/drawingml/2006/main">
              <a:ext uri="{FF2B5EF4-FFF2-40B4-BE49-F238E27FC236}">
                <a16:creationId xmlns:a16="http://schemas.microsoft.com/office/drawing/2014/main" id="{393115DF-746E-4E22-8B07-761B9B05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1" name="21-table-cell">
            <a:extLst xmlns:a="http://schemas.openxmlformats.org/drawingml/2006/main">
              <a:ext uri="{FF2B5EF4-FFF2-40B4-BE49-F238E27FC236}">
                <a16:creationId xmlns:a16="http://schemas.microsoft.com/office/drawing/2014/main" id="{D23DD194-3DE6-4970-9EC3-DD0E4A33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659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answer affects a real decision</a:t>
            </a:r>
          </a:p>
        </p:txBody>
      </p:sp>
      <p:sp>
        <p:nvSpPr>
          <p:cNvPr id="22" name="22-table-cell-bg">
            <a:extLst xmlns:a="http://schemas.openxmlformats.org/drawingml/2006/main">
              <a:ext uri="{FF2B5EF4-FFF2-40B4-BE49-F238E27FC236}">
                <a16:creationId xmlns:a16="http://schemas.microsoft.com/office/drawing/2014/main" id="{F4D0554B-222A-463B-B2FF-BD65F8E0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29150"/>
            <a:ext cx="4114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3" name="23-table-cell">
            <a:extLst xmlns:a="http://schemas.openxmlformats.org/drawingml/2006/main">
              <a:ext uri="{FF2B5EF4-FFF2-40B4-BE49-F238E27FC236}">
                <a16:creationId xmlns:a16="http://schemas.microsoft.com/office/drawing/2014/main" id="{8F2ADBA5-FF08-4E95-A532-A50ABFFB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9582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6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independent verification</a:t>
            </a:r>
          </a:p>
        </p:txBody>
      </p:sp>
      <p:sp>
        <p:nvSpPr>
          <p:cNvPr id="24" name="24-footer-rule">
            <a:extLst xmlns:a="http://schemas.openxmlformats.org/drawingml/2006/main">
              <a:ext uri="{FF2B5EF4-FFF2-40B4-BE49-F238E27FC236}">
                <a16:creationId xmlns:a16="http://schemas.microsoft.com/office/drawing/2014/main" id="{4F8788A4-5F7B-47F6-A1E8-5C594ACC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5" name="25-footer-left">
            <a:extLst xmlns:a="http://schemas.openxmlformats.org/drawingml/2006/main">
              <a:ext uri="{FF2B5EF4-FFF2-40B4-BE49-F238E27FC236}">
                <a16:creationId xmlns:a16="http://schemas.microsoft.com/office/drawing/2014/main" id="{051454F5-8174-476E-899B-95114922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00:58-01:00</a:t>
            </a:r>
          </a:p>
        </p:txBody>
      </p:sp>
      <p:sp>
        <p:nvSpPr>
          <p:cNvPr id="26" name="26-footer-right">
            <a:extLst xmlns:a="http://schemas.openxmlformats.org/drawingml/2006/main">
              <a:ext uri="{FF2B5EF4-FFF2-40B4-BE49-F238E27FC236}">
                <a16:creationId xmlns:a16="http://schemas.microsoft.com/office/drawing/2014/main" id="{415B7BD7-726B-447B-94D6-F9C6AE85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15 / 26</a:t>
            </a:r>
          </a:p>
        </p:txBody>
      </p:sp>
    </p:spTree>
    <p:extLst>
      <p:ext uri="{BB962C8B-B14F-4D97-AF65-F5344CB8AC3E}">
        <p14:creationId xmlns:p14="http://schemas.microsoft.com/office/powerpoint/2010/main" val="3419872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-kicker">
            <a:extLst xmlns:a="http://schemas.openxmlformats.org/drawingml/2006/main">
              <a:ext uri="{FF2B5EF4-FFF2-40B4-BE49-F238E27FC236}">
                <a16:creationId xmlns:a16="http://schemas.microsoft.com/office/drawing/2014/main" id="{C470F868-D368-418A-BFA9-0663E4D3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ASK AI · RUN IT YOURSELF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0C95517E-A27C-4FFA-B2D8-4218CB48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Formula lane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52ECB4BA-3DA8-4AFD-9C9D-9F043EAE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formula-lane-claim">
            <a:extLst xmlns:a="http://schemas.openxmlformats.org/drawingml/2006/main">
              <a:ext uri="{FF2B5EF4-FFF2-40B4-BE49-F238E27FC236}">
                <a16:creationId xmlns:a16="http://schemas.microsoft.com/office/drawing/2014/main" id="{E462C5B7-84D9-4223-8AD5-6168C5A8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14550"/>
            <a:ext cx="9753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33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Ask AI for the formula. Run it yourself.</a:t>
            </a:r>
          </a:p>
        </p:txBody>
      </p:sp>
      <p:sp>
        <p:nvSpPr>
          <p:cNvPr id="5" name="05-formula-skeleton-bg">
            <a:extLst xmlns:a="http://schemas.openxmlformats.org/drawingml/2006/main">
              <a:ext uri="{FF2B5EF4-FFF2-40B4-BE49-F238E27FC236}">
                <a16:creationId xmlns:a16="http://schemas.microsoft.com/office/drawing/2014/main" id="{A237448E-A72E-4B05-BE91-9144C75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0058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formula-skeleton">
            <a:extLst xmlns:a="http://schemas.openxmlformats.org/drawingml/2006/main">
              <a:ext uri="{FF2B5EF4-FFF2-40B4-BE49-F238E27FC236}">
                <a16:creationId xmlns:a16="http://schemas.microsoft.com/office/drawing/2014/main" id="{42A5175B-80B1-42DD-A51D-69D34ACE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385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grain + column + inclusion rule + unit + rounding + error behavior</a:t>
            </a:r>
          </a:p>
        </p:txBody>
      </p:sp>
      <p:sp>
        <p:nvSpPr>
          <p:cNvPr id="7" name="07-footer-rule">
            <a:extLst xmlns:a="http://schemas.openxmlformats.org/drawingml/2006/main">
              <a:ext uri="{FF2B5EF4-FFF2-40B4-BE49-F238E27FC236}">
                <a16:creationId xmlns:a16="http://schemas.microsoft.com/office/drawing/2014/main" id="{C6209A08-3E6C-46DE-93B9-A78A3B5D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8" name="08-footer-left">
            <a:extLst xmlns:a="http://schemas.openxmlformats.org/drawingml/2006/main">
              <a:ext uri="{FF2B5EF4-FFF2-40B4-BE49-F238E27FC236}">
                <a16:creationId xmlns:a16="http://schemas.microsoft.com/office/drawing/2014/main" id="{C30FB678-415A-405C-B378-C3A26BC1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01:00-01:04</a:t>
            </a:r>
          </a:p>
        </p:txBody>
      </p:sp>
      <p:sp>
        <p:nvSpPr>
          <p:cNvPr id="9" name="09-footer-right">
            <a:extLst xmlns:a="http://schemas.openxmlformats.org/drawingml/2006/main">
              <a:ext uri="{FF2B5EF4-FFF2-40B4-BE49-F238E27FC236}">
                <a16:creationId xmlns:a16="http://schemas.microsoft.com/office/drawing/2014/main" id="{A437709F-F9E4-427E-B420-2F29882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16 / 26</a:t>
            </a:r>
          </a:p>
        </p:txBody>
      </p:sp>
    </p:spTree>
    <p:extLst>
      <p:ext uri="{BB962C8B-B14F-4D97-AF65-F5344CB8AC3E}">
        <p14:creationId xmlns:p14="http://schemas.microsoft.com/office/powerpoint/2010/main" val="16326409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1-kicker">
            <a:extLst xmlns:a="http://schemas.openxmlformats.org/drawingml/2006/main">
              <a:ext uri="{FF2B5EF4-FFF2-40B4-BE49-F238E27FC236}">
                <a16:creationId xmlns:a16="http://schemas.microsoft.com/office/drawing/2014/main" id="{BBF6253E-B2C1-4E52-8DAC-29037D29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SHAPE FIRST · POPULATION LATER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FA87FB2E-BDDB-4DA3-BA3F-D7608750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Schema + sample lane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99DC2BA2-0B40-403A-999A-30D0AA2C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sample-line-1">
            <a:extLst xmlns:a="http://schemas.openxmlformats.org/drawingml/2006/main">
              <a:ext uri="{FF2B5EF4-FFF2-40B4-BE49-F238E27FC236}">
                <a16:creationId xmlns:a16="http://schemas.microsoft.com/office/drawing/2014/main" id="{1659DB72-4C20-4CFD-A440-A093E866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33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The sample teaches shape.</a:t>
            </a:r>
          </a:p>
        </p:txBody>
      </p:sp>
      <p:sp>
        <p:nvSpPr>
          <p:cNvPr id="5" name="05-sample-line-2">
            <a:extLst xmlns:a="http://schemas.openxmlformats.org/drawingml/2006/main">
              <a:ext uri="{FF2B5EF4-FFF2-40B4-BE49-F238E27FC236}">
                <a16:creationId xmlns:a16="http://schemas.microsoft.com/office/drawing/2014/main" id="{C8E6782A-A875-46EB-97EB-CDCC89EF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1">
                <a:solidFill>
                  <a:srgbClr val="C4581A"/>
                </a:solidFill>
                <a:latin typeface="Fraunces 9pt"/>
                <a:ea typeface="Fraunces 9pt"/>
                <a:cs typeface="Fraunces 9pt"/>
              </a:defRPr>
            </a:pPr>
            <a:r>
              <a:rPr sz="3225" b="0" i="1">
                <a:solidFill>
                  <a:srgbClr val="C4581A"/>
                </a:solidFill>
                <a:latin typeface="Fraunces 9pt"/>
                <a:ea typeface="Fraunces 9pt"/>
                <a:cs typeface="Fraunces 9pt"/>
              </a:rPr>
              <a:t>The full file produces the answer.</a:t>
            </a:r>
          </a:p>
        </p:txBody>
      </p:sp>
      <p:sp>
        <p:nvSpPr>
          <p:cNvPr id="6" name="06-check-rule">
            <a:extLst xmlns:a="http://schemas.openxmlformats.org/drawingml/2006/main">
              <a:ext uri="{FF2B5EF4-FFF2-40B4-BE49-F238E27FC236}">
                <a16:creationId xmlns:a16="http://schemas.microsoft.com/office/drawing/2014/main" id="{C58D5924-6571-44AE-972A-40DF51BF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35"/>
            </a:solidFill>
            <a:prstDash val="solid"/>
          </a:ln>
        </p:spPr>
      </p:sp>
      <p:sp>
        <p:nvSpPr>
          <p:cNvPr id="7" name="07-sample-check">
            <a:extLst xmlns:a="http://schemas.openxmlformats.org/drawingml/2006/main">
              <a:ext uri="{FF2B5EF4-FFF2-40B4-BE49-F238E27FC236}">
                <a16:creationId xmlns:a16="http://schemas.microsoft.com/office/drawing/2014/main" id="{145C34AA-91F4-4DE7-AC83-87664712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exact columns</a:t>
            </a:r>
          </a:p>
        </p:txBody>
      </p:sp>
      <p:sp>
        <p:nvSpPr>
          <p:cNvPr id="8" name="08-check-rule">
            <a:extLst xmlns:a="http://schemas.openxmlformats.org/drawingml/2006/main">
              <a:ext uri="{FF2B5EF4-FFF2-40B4-BE49-F238E27FC236}">
                <a16:creationId xmlns:a16="http://schemas.microsoft.com/office/drawing/2014/main" id="{0BC019C4-1BD1-4E6F-86DC-652BE8ED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48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35"/>
            </a:solidFill>
            <a:prstDash val="solid"/>
          </a:ln>
        </p:spPr>
      </p:sp>
      <p:sp>
        <p:nvSpPr>
          <p:cNvPr id="9" name="09-sample-check">
            <a:extLst xmlns:a="http://schemas.openxmlformats.org/drawingml/2006/main">
              <a:ext uri="{FF2B5EF4-FFF2-40B4-BE49-F238E27FC236}">
                <a16:creationId xmlns:a16="http://schemas.microsoft.com/office/drawing/2014/main" id="{D63FA475-9637-4DCF-AD23-52943F3C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types</a:t>
            </a:r>
          </a:p>
        </p:txBody>
      </p:sp>
      <p:sp>
        <p:nvSpPr>
          <p:cNvPr id="10" name="10-check-rule">
            <a:extLst xmlns:a="http://schemas.openxmlformats.org/drawingml/2006/main">
              <a:ext uri="{FF2B5EF4-FFF2-40B4-BE49-F238E27FC236}">
                <a16:creationId xmlns:a16="http://schemas.microsoft.com/office/drawing/2014/main" id="{BF56BDBE-3254-4529-BE49-32009AFB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148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35"/>
            </a:solidFill>
            <a:prstDash val="solid"/>
          </a:ln>
        </p:spPr>
      </p:sp>
      <p:sp>
        <p:nvSpPr>
          <p:cNvPr id="11" name="11-sample-check">
            <a:extLst xmlns:a="http://schemas.openxmlformats.org/drawingml/2006/main">
              <a:ext uri="{FF2B5EF4-FFF2-40B4-BE49-F238E27FC236}">
                <a16:creationId xmlns:a16="http://schemas.microsoft.com/office/drawing/2014/main" id="{92D359C6-F489-4544-B0F7-7E52ECEE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4815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null policy</a:t>
            </a:r>
          </a:p>
        </p:txBody>
      </p:sp>
      <p:sp>
        <p:nvSpPr>
          <p:cNvPr id="12" name="12-check-rule">
            <a:extLst xmlns:a="http://schemas.openxmlformats.org/drawingml/2006/main">
              <a:ext uri="{FF2B5EF4-FFF2-40B4-BE49-F238E27FC236}">
                <a16:creationId xmlns:a16="http://schemas.microsoft.com/office/drawing/2014/main" id="{B373AC46-7CD5-4A89-8FF8-644386CB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148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35"/>
            </a:solidFill>
            <a:prstDash val="solid"/>
          </a:ln>
        </p:spPr>
      </p:sp>
      <p:sp>
        <p:nvSpPr>
          <p:cNvPr id="13" name="13-sample-check">
            <a:extLst xmlns:a="http://schemas.openxmlformats.org/drawingml/2006/main">
              <a:ext uri="{FF2B5EF4-FFF2-40B4-BE49-F238E27FC236}">
                <a16:creationId xmlns:a16="http://schemas.microsoft.com/office/drawing/2014/main" id="{FBB919C9-C228-4001-914C-ADECF12E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4815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output contract</a:t>
            </a:r>
          </a:p>
        </p:txBody>
      </p:sp>
      <p:sp>
        <p:nvSpPr>
          <p:cNvPr id="14" name="14-check-rule">
            <a:extLst xmlns:a="http://schemas.openxmlformats.org/drawingml/2006/main">
              <a:ext uri="{FF2B5EF4-FFF2-40B4-BE49-F238E27FC236}">
                <a16:creationId xmlns:a16="http://schemas.microsoft.com/office/drawing/2014/main" id="{2A3CE7B6-C405-481C-9909-CD590D1A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148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581A"/>
            </a:solidFill>
            <a:prstDash val="solid"/>
          </a:ln>
        </p:spPr>
      </p:sp>
      <p:sp>
        <p:nvSpPr>
          <p:cNvPr id="15" name="15-sample-check">
            <a:extLst xmlns:a="http://schemas.openxmlformats.org/drawingml/2006/main">
              <a:ext uri="{FF2B5EF4-FFF2-40B4-BE49-F238E27FC236}">
                <a16:creationId xmlns:a16="http://schemas.microsoft.com/office/drawing/2014/main" id="{AC9705E1-BE97-4861-9D31-22685962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assertions</a:t>
            </a:r>
          </a:p>
        </p:txBody>
      </p:sp>
      <p:sp>
        <p:nvSpPr>
          <p:cNvPr id="16" name="16-footer-rule">
            <a:extLst xmlns:a="http://schemas.openxmlformats.org/drawingml/2006/main">
              <a:ext uri="{FF2B5EF4-FFF2-40B4-BE49-F238E27FC236}">
                <a16:creationId xmlns:a16="http://schemas.microsoft.com/office/drawing/2014/main" id="{CA9A132C-6E2F-472C-97DB-0E57CD3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7" name="17-footer-left">
            <a:extLst xmlns:a="http://schemas.openxmlformats.org/drawingml/2006/main">
              <a:ext uri="{FF2B5EF4-FFF2-40B4-BE49-F238E27FC236}">
                <a16:creationId xmlns:a16="http://schemas.microsoft.com/office/drawing/2014/main" id="{6C6BF504-8AD6-4C5E-94C8-429C7A52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01:04-01:07</a:t>
            </a:r>
          </a:p>
        </p:txBody>
      </p:sp>
      <p:sp>
        <p:nvSpPr>
          <p:cNvPr id="18" name="18-footer-right">
            <a:extLst xmlns:a="http://schemas.openxmlformats.org/drawingml/2006/main">
              <a:ext uri="{FF2B5EF4-FFF2-40B4-BE49-F238E27FC236}">
                <a16:creationId xmlns:a16="http://schemas.microsoft.com/office/drawing/2014/main" id="{95CEAD23-0F51-4227-BCEE-E1DB7274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17 / 26</a:t>
            </a:r>
          </a:p>
        </p:txBody>
      </p:sp>
    </p:spTree>
    <p:extLst>
      <p:ext uri="{BB962C8B-B14F-4D97-AF65-F5344CB8AC3E}">
        <p14:creationId xmlns:p14="http://schemas.microsoft.com/office/powerpoint/2010/main" val="3022641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-kicker">
            <a:extLst xmlns:a="http://schemas.openxmlformats.org/drawingml/2006/main">
              <a:ext uri="{FF2B5EF4-FFF2-40B4-BE49-F238E27FC236}">
                <a16:creationId xmlns:a16="http://schemas.microsoft.com/office/drawing/2014/main" id="{9C92688B-8F9D-4C3F-8DDC-E23CA80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READ · ASSERT · COMPUTE · EXPORT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7A0E9D95-9E31-439F-AEB0-7DDB4DD8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Colab lane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1EB82C19-8883-43B4-9994-84BDC8B5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code-bg">
            <a:extLst xmlns:a="http://schemas.openxmlformats.org/drawingml/2006/main">
              <a:ext uri="{FF2B5EF4-FFF2-40B4-BE49-F238E27FC236}">
                <a16:creationId xmlns:a16="http://schemas.microsoft.com/office/drawing/2014/main" id="{9D4FF32C-D9E9-413E-A44E-48167811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102108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code">
            <a:extLst xmlns:a="http://schemas.openxmlformats.org/drawingml/2006/main">
              <a:ext uri="{FF2B5EF4-FFF2-40B4-BE49-F238E27FC236}">
                <a16:creationId xmlns:a16="http://schemas.microsoft.com/office/drawing/2014/main" id="{2F948B52-1687-4CCB-8A18-D0C4E6ED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00300"/>
            <a:ext cx="9372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800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records = pd.read_json(DATA_FILE, lines=True, compression="gzip")</a:t>
            </a:r>
          </a:p>
          <a:p xmlns:a="http://schemas.openxmlformats.org/drawingml/2006/main">
            <a:pPr algn="l">
              <a:defRPr sz="1800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800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focal = pd.json_normalize(records["focal"])</a:t>
            </a:r>
          </a:p>
          <a:p xmlns:a="http://schemas.openxmlformats.org/drawingml/2006/main">
            <a:pPr algn="l">
              <a:defRPr sz="1800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800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assert required_columns &lt;= set(focal.columns)</a:t>
            </a:r>
          </a:p>
        </p:txBody>
      </p:sp>
      <p:sp>
        <p:nvSpPr>
          <p:cNvPr id="6" name="06-colab-takeaway">
            <a:extLst xmlns:a="http://schemas.openxmlformats.org/drawingml/2006/main">
              <a:ext uri="{FF2B5EF4-FFF2-40B4-BE49-F238E27FC236}">
                <a16:creationId xmlns:a16="http://schemas.microsoft.com/office/drawing/2014/main" id="{0B8F52BA-D61C-4537-A88C-DEDA2D64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53000"/>
            <a:ext cx="849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1">
                <a:solidFill>
                  <a:srgbClr val="5C5046"/>
                </a:solidFill>
                <a:latin typeface="Geist"/>
                <a:ea typeface="Geist"/>
                <a:cs typeface="Geist"/>
              </a:defRPr>
            </a:pPr>
            <a:r>
              <a:rPr sz="2025" b="0" i="1">
                <a:solidFill>
                  <a:srgbClr val="5C5046"/>
                </a:solidFill>
                <a:latin typeface="Geist"/>
                <a:ea typeface="Geist"/>
                <a:cs typeface="Geist"/>
              </a:rPr>
              <a:t>A runtime is not an oracle. Review and run the code.</a:t>
            </a:r>
          </a:p>
        </p:txBody>
      </p:sp>
      <p:sp>
        <p:nvSpPr>
          <p:cNvPr id="7" name="07-footer-rule">
            <a:extLst xmlns:a="http://schemas.openxmlformats.org/drawingml/2006/main">
              <a:ext uri="{FF2B5EF4-FFF2-40B4-BE49-F238E27FC236}">
                <a16:creationId xmlns:a16="http://schemas.microsoft.com/office/drawing/2014/main" id="{548E5805-C604-4D62-B429-EBA1BF8D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8" name="08-footer-left">
            <a:extLst xmlns:a="http://schemas.openxmlformats.org/drawingml/2006/main">
              <a:ext uri="{FF2B5EF4-FFF2-40B4-BE49-F238E27FC236}">
                <a16:creationId xmlns:a16="http://schemas.microsoft.com/office/drawing/2014/main" id="{7D6F74DC-18EF-455F-8182-D5DC9D38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01:07-01:10</a:t>
            </a:r>
          </a:p>
        </p:txBody>
      </p:sp>
      <p:sp>
        <p:nvSpPr>
          <p:cNvPr id="9" name="09-footer-right">
            <a:extLst xmlns:a="http://schemas.openxmlformats.org/drawingml/2006/main">
              <a:ext uri="{FF2B5EF4-FFF2-40B4-BE49-F238E27FC236}">
                <a16:creationId xmlns:a16="http://schemas.microsoft.com/office/drawing/2014/main" id="{8CE88713-D9F3-4E74-B181-6C373A27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18 / 26</a:t>
            </a:r>
          </a:p>
        </p:txBody>
      </p:sp>
    </p:spTree>
    <p:extLst>
      <p:ext uri="{BB962C8B-B14F-4D97-AF65-F5344CB8AC3E}">
        <p14:creationId xmlns:p14="http://schemas.microsoft.com/office/powerpoint/2010/main" val="1594575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E3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1-kicker">
            <a:extLst xmlns:a="http://schemas.openxmlformats.org/drawingml/2006/main">
              <a:ext uri="{FF2B5EF4-FFF2-40B4-BE49-F238E27FC236}">
                <a16:creationId xmlns:a16="http://schemas.microsoft.com/office/drawing/2014/main" id="{6E12C3D6-510F-4B61-ABB1-206131B2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BUILD · PRODUCE ONE AGGREGATE</a:t>
            </a:r>
          </a:p>
        </p:txBody>
      </p:sp>
      <p:sp>
        <p:nvSpPr>
          <p:cNvPr id="2" name="02-timer">
            <a:extLst xmlns:a="http://schemas.openxmlformats.org/drawingml/2006/main">
              <a:ext uri="{FF2B5EF4-FFF2-40B4-BE49-F238E27FC236}">
                <a16:creationId xmlns:a16="http://schemas.microsoft.com/office/drawing/2014/main" id="{0B5A0620-9689-46D5-9779-9CBF8EC3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125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12:00</a:t>
            </a:r>
          </a:p>
        </p:txBody>
      </p:sp>
      <p:sp>
        <p:nvSpPr>
          <p:cNvPr id="3" name="03-timer-track">
            <a:extLst xmlns:a="http://schemas.openxmlformats.org/drawingml/2006/main">
              <a:ext uri="{FF2B5EF4-FFF2-40B4-BE49-F238E27FC236}">
                <a16:creationId xmlns:a16="http://schemas.microsoft.com/office/drawing/2014/main" id="{5F9BBBDF-C254-4E12-A581-A88A39AC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4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4-timer-progress">
            <a:extLst xmlns:a="http://schemas.openxmlformats.org/drawingml/2006/main">
              <a:ext uri="{FF2B5EF4-FFF2-40B4-BE49-F238E27FC236}">
                <a16:creationId xmlns:a16="http://schemas.microsoft.com/office/drawing/2014/main" id="{FEF5FE1E-D812-4010-9F70-9EAFFA2B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timer-footer">
            <a:extLst xmlns:a="http://schemas.openxmlformats.org/drawingml/2006/main">
              <a:ext uri="{FF2B5EF4-FFF2-40B4-BE49-F238E27FC236}">
                <a16:creationId xmlns:a16="http://schemas.microsoft.com/office/drawing/2014/main" id="{246ECF1F-62AB-46CE-A0D0-D2F0AE4A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7D3CE"/>
                </a:solidFill>
                <a:latin typeface="Geist"/>
                <a:ea typeface="Geist"/>
                <a:cs typeface="Geist"/>
              </a:defRPr>
            </a:pPr>
            <a:r>
              <a:rPr sz="1800" b="0" i="0">
                <a:solidFill>
                  <a:srgbClr val="C7D3CE"/>
                </a:solidFill>
                <a:latin typeface="Geist"/>
                <a:ea typeface="Geist"/>
                <a:cs typeface="Geist"/>
              </a:rPr>
              <a:t>FORMULA LANE or COLAB LANE · evidence = method + output + one check</a:t>
            </a:r>
          </a:p>
        </p:txBody>
      </p:sp>
      <p:sp>
        <p:nvSpPr>
          <p:cNvPr id="6" name="06-footer-rule">
            <a:extLst xmlns:a="http://schemas.openxmlformats.org/drawingml/2006/main">
              <a:ext uri="{FF2B5EF4-FFF2-40B4-BE49-F238E27FC236}">
                <a16:creationId xmlns:a16="http://schemas.microsoft.com/office/drawing/2014/main" id="{87ADA482-7AF5-499E-86B4-06E476D0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35D"/>
            </a:solidFill>
            <a:prstDash val="solid"/>
          </a:ln>
        </p:spPr>
      </p:sp>
      <p:sp>
        <p:nvSpPr>
          <p:cNvPr id="7" name="07-footer-left">
            <a:extLst xmlns:a="http://schemas.openxmlformats.org/drawingml/2006/main">
              <a:ext uri="{FF2B5EF4-FFF2-40B4-BE49-F238E27FC236}">
                <a16:creationId xmlns:a16="http://schemas.microsoft.com/office/drawing/2014/main" id="{29D048BE-3489-433C-9D95-66312AEA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SESSION 03  /  01:10-01:22</a:t>
            </a:r>
          </a:p>
        </p:txBody>
      </p:sp>
      <p:sp>
        <p:nvSpPr>
          <p:cNvPr id="8" name="08-footer-right">
            <a:extLst xmlns:a="http://schemas.openxmlformats.org/drawingml/2006/main">
              <a:ext uri="{FF2B5EF4-FFF2-40B4-BE49-F238E27FC236}">
                <a16:creationId xmlns:a16="http://schemas.microsoft.com/office/drawing/2014/main" id="{79F182F9-C991-4D05-B51A-3B352E5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19 / 26</a:t>
            </a:r>
          </a:p>
        </p:txBody>
      </p:sp>
    </p:spTree>
    <p:extLst>
      <p:ext uri="{BB962C8B-B14F-4D97-AF65-F5344CB8AC3E}">
        <p14:creationId xmlns:p14="http://schemas.microsoft.com/office/powerpoint/2010/main" val="1635505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E3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1-kicker">
            <a:extLst xmlns:a="http://schemas.openxmlformats.org/drawingml/2006/main">
              <a:ext uri="{FF2B5EF4-FFF2-40B4-BE49-F238E27FC236}">
                <a16:creationId xmlns:a16="http://schemas.microsoft.com/office/drawing/2014/main" id="{48A13598-DCD8-474E-B1DD-DEF8C7C8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INDEPENDENCE MATTERS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72A353A0-F7FF-4253-BBC6-262C0802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5F0E8"/>
                </a:solidFill>
                <a:latin typeface="Fraunces 9pt"/>
                <a:ea typeface="Fraunces 9pt"/>
                <a:cs typeface="Fraunces 9pt"/>
              </a:defRPr>
            </a:pPr>
            <a:r>
              <a:rPr sz="3600" b="1" i="0">
                <a:solidFill>
                  <a:srgbClr val="F5F0E8"/>
                </a:solidFill>
                <a:latin typeface="Fraunces 9pt"/>
                <a:ea typeface="Fraunces 9pt"/>
                <a:cs typeface="Fraunces 9pt"/>
              </a:rPr>
              <a:t>Two methods or it didn’t happen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C25DD1C5-D8C8-4EA7-89AE-9B4CFF60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81A"/>
            </a:solidFill>
            <a:prstDash val="solid"/>
          </a:ln>
        </p:spPr>
      </p:sp>
      <p:sp>
        <p:nvSpPr>
          <p:cNvPr id="4" name="04-arrow">
            <a:extLst xmlns:a="http://schemas.openxmlformats.org/drawingml/2006/main">
              <a:ext uri="{FF2B5EF4-FFF2-40B4-BE49-F238E27FC236}">
                <a16:creationId xmlns:a16="http://schemas.microsoft.com/office/drawing/2014/main" id="{4B4DB2DE-38C9-4CD2-942E-229C3D42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123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663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arrow">
            <a:extLst xmlns:a="http://schemas.openxmlformats.org/drawingml/2006/main">
              <a:ext uri="{FF2B5EF4-FFF2-40B4-BE49-F238E27FC236}">
                <a16:creationId xmlns:a16="http://schemas.microsoft.com/office/drawing/2014/main" id="{7B6A2C2A-D616-42A6-B16E-0532A007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05150"/>
            <a:ext cx="1123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663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node-bg">
            <a:extLst xmlns:a="http://schemas.openxmlformats.org/drawingml/2006/main">
              <a:ext uri="{FF2B5EF4-FFF2-40B4-BE49-F238E27FC236}">
                <a16:creationId xmlns:a16="http://schemas.microsoft.com/office/drawing/2014/main" id="{4FB0E03B-4009-40A6-AB88-E476D554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43"/>
          </a:solidFill>
          <a:ln xmlns:a="http://schemas.openxmlformats.org/drawingml/2006/main" w="14288">
            <a:solidFill>
              <a:srgbClr val="6B8A82"/>
            </a:solidFill>
            <a:prstDash val="solid"/>
          </a:ln>
        </p:spPr>
      </p:sp>
      <p:sp>
        <p:nvSpPr>
          <p:cNvPr id="7" name="07-node-label">
            <a:extLst xmlns:a="http://schemas.openxmlformats.org/drawingml/2006/main">
              <a:ext uri="{FF2B5EF4-FFF2-40B4-BE49-F238E27FC236}">
                <a16:creationId xmlns:a16="http://schemas.microsoft.com/office/drawing/2014/main" id="{8D2E3D02-AD46-4A8A-8DCC-A235ECC1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628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METHOD A</a:t>
            </a:r>
          </a:p>
          <a:p xmlns:a="http://schemas.openxmlformats.org/drawingml/2006/main">
            <a:pPr algn="ctr">
              <a:def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result</a:t>
            </a:r>
          </a:p>
        </p:txBody>
      </p:sp>
      <p:sp>
        <p:nvSpPr>
          <p:cNvPr id="8" name="08-node-bg">
            <a:extLst xmlns:a="http://schemas.openxmlformats.org/drawingml/2006/main">
              <a:ext uri="{FF2B5EF4-FFF2-40B4-BE49-F238E27FC236}">
                <a16:creationId xmlns:a16="http://schemas.microsoft.com/office/drawing/2014/main" id="{D1289F2B-CE98-49D6-94F5-19E483CE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43"/>
          </a:solidFill>
          <a:ln xmlns:a="http://schemas.openxmlformats.org/drawingml/2006/main" w="14288">
            <a:solidFill>
              <a:srgbClr val="6B8A82"/>
            </a:solidFill>
            <a:prstDash val="solid"/>
          </a:ln>
        </p:spPr>
      </p:sp>
      <p:sp>
        <p:nvSpPr>
          <p:cNvPr id="9" name="09-node-label">
            <a:extLst xmlns:a="http://schemas.openxmlformats.org/drawingml/2006/main">
              <a:ext uri="{FF2B5EF4-FFF2-40B4-BE49-F238E27FC236}">
                <a16:creationId xmlns:a16="http://schemas.microsoft.com/office/drawing/2014/main" id="{64AA2031-ECEB-46CD-A099-B34FAFE8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90800"/>
            <a:ext cx="2628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METHOD B</a:t>
            </a:r>
          </a:p>
          <a:p xmlns:a="http://schemas.openxmlformats.org/drawingml/2006/main">
            <a:pPr algn="ctr">
              <a:def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result</a:t>
            </a:r>
          </a:p>
        </p:txBody>
      </p:sp>
      <p:sp>
        <p:nvSpPr>
          <p:cNvPr id="10" name="10-node-bg">
            <a:extLst xmlns:a="http://schemas.openxmlformats.org/drawingml/2006/main">
              <a:ext uri="{FF2B5EF4-FFF2-40B4-BE49-F238E27FC236}">
                <a16:creationId xmlns:a16="http://schemas.microsoft.com/office/drawing/2014/main" id="{B2CB1669-E56D-4151-8412-2ED8230E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14288">
            <a:solidFill>
              <a:srgbClr val="C4581A"/>
            </a:solidFill>
            <a:prstDash val="solid"/>
          </a:ln>
        </p:spPr>
      </p:sp>
      <p:sp>
        <p:nvSpPr>
          <p:cNvPr id="11" name="11-node-label">
            <a:extLst xmlns:a="http://schemas.openxmlformats.org/drawingml/2006/main">
              <a:ext uri="{FF2B5EF4-FFF2-40B4-BE49-F238E27FC236}">
                <a16:creationId xmlns:a16="http://schemas.microsoft.com/office/drawing/2014/main" id="{C6AE695B-1511-4323-8626-336B78F6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2628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GAP</a:t>
            </a:r>
          </a:p>
          <a:p xmlns:a="http://schemas.openxmlformats.org/drawingml/2006/main">
            <a:pPr algn="ctr">
              <a:def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explain</a:t>
            </a:r>
          </a:p>
        </p:txBody>
      </p:sp>
      <p:sp>
        <p:nvSpPr>
          <p:cNvPr id="12" name="12-independence">
            <a:extLst xmlns:a="http://schemas.openxmlformats.org/drawingml/2006/main">
              <a:ext uri="{FF2B5EF4-FFF2-40B4-BE49-F238E27FC236}">
                <a16:creationId xmlns:a16="http://schemas.microsoft.com/office/drawing/2014/main" id="{AC203CBF-B593-46B5-A94D-DB5A3DE0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F0D478"/>
                </a:solidFill>
                <a:latin typeface="Fraunces 9pt"/>
                <a:ea typeface="Fraunces 9pt"/>
                <a:cs typeface="Fraunces 9pt"/>
              </a:defRPr>
            </a:pPr>
            <a:r>
              <a:rPr sz="2550" b="0" i="1">
                <a:solidFill>
                  <a:srgbClr val="F0D478"/>
                </a:solidFill>
                <a:latin typeface="Fraunces 9pt"/>
                <a:ea typeface="Fraunces 9pt"/>
                <a:cs typeface="Fraunces 9pt"/>
              </a:rPr>
              <a:t>Two prompts to the same model are not independent.</a:t>
            </a:r>
          </a:p>
        </p:txBody>
      </p:sp>
      <p:sp>
        <p:nvSpPr>
          <p:cNvPr id="13" name="13-footer-rule">
            <a:extLst xmlns:a="http://schemas.openxmlformats.org/drawingml/2006/main">
              <a:ext uri="{FF2B5EF4-FFF2-40B4-BE49-F238E27FC236}">
                <a16:creationId xmlns:a16="http://schemas.microsoft.com/office/drawing/2014/main" id="{3639D492-6F7C-4EDF-A1EC-B3F39917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35D"/>
            </a:solidFill>
            <a:prstDash val="solid"/>
          </a:ln>
        </p:spPr>
      </p:sp>
      <p:sp>
        <p:nvSpPr>
          <p:cNvPr id="14" name="14-footer-left">
            <a:extLst xmlns:a="http://schemas.openxmlformats.org/drawingml/2006/main">
              <a:ext uri="{FF2B5EF4-FFF2-40B4-BE49-F238E27FC236}">
                <a16:creationId xmlns:a16="http://schemas.microsoft.com/office/drawing/2014/main" id="{A39AD151-0EAC-49C2-B1DF-178BE7A2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SESSION 03  /  01:22-01:26</a:t>
            </a:r>
          </a:p>
        </p:txBody>
      </p:sp>
      <p:sp>
        <p:nvSpPr>
          <p:cNvPr id="15" name="15-footer-right">
            <a:extLst xmlns:a="http://schemas.openxmlformats.org/drawingml/2006/main">
              <a:ext uri="{FF2B5EF4-FFF2-40B4-BE49-F238E27FC236}">
                <a16:creationId xmlns:a16="http://schemas.microsoft.com/office/drawing/2014/main" id="{FA1AEA84-1FED-4C25-8AD2-DEF86920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20 / 26</a:t>
            </a:r>
          </a:p>
        </p:txBody>
      </p:sp>
    </p:spTree>
    <p:extLst>
      <p:ext uri="{BB962C8B-B14F-4D97-AF65-F5344CB8AC3E}">
        <p14:creationId xmlns:p14="http://schemas.microsoft.com/office/powerpoint/2010/main" val="16791989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1-kicker">
            <a:extLst xmlns:a="http://schemas.openxmlformats.org/drawingml/2006/main">
              <a:ext uri="{FF2B5EF4-FFF2-40B4-BE49-F238E27FC236}">
                <a16:creationId xmlns:a16="http://schemas.microsoft.com/office/drawing/2014/main" id="{B38A8A5C-31C3-4309-B14D-B34D63BD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COMPLETE S3-DATA-10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69306AE9-8F46-4E3E-9118-7242450B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The five verification moves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104B3F66-5647-466B-AC6D-82C07525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bullet-marker">
            <a:extLst xmlns:a="http://schemas.openxmlformats.org/drawingml/2006/main">
              <a:ext uri="{FF2B5EF4-FFF2-40B4-BE49-F238E27FC236}">
                <a16:creationId xmlns:a16="http://schemas.microsoft.com/office/drawing/2014/main" id="{F7120684-D1FD-4278-BA82-42AE23EB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05000"/>
            <a:ext cx="45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01</a:t>
            </a:r>
          </a:p>
        </p:txBody>
      </p:sp>
      <p:sp>
        <p:nvSpPr>
          <p:cNvPr id="5" name="05-bullet-copy">
            <a:extLst xmlns:a="http://schemas.openxmlformats.org/drawingml/2006/main">
              <a:ext uri="{FF2B5EF4-FFF2-40B4-BE49-F238E27FC236}">
                <a16:creationId xmlns:a16="http://schemas.microsoft.com/office/drawing/2014/main" id="{294A5B2D-BA43-443E-B048-0DE1018F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944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Reconcile the base</a:t>
            </a:r>
          </a:p>
        </p:txBody>
      </p:sp>
      <p:sp>
        <p:nvSpPr>
          <p:cNvPr id="6" name="06-bullet-marker">
            <a:extLst xmlns:a="http://schemas.openxmlformats.org/drawingml/2006/main">
              <a:ext uri="{FF2B5EF4-FFF2-40B4-BE49-F238E27FC236}">
                <a16:creationId xmlns:a16="http://schemas.microsoft.com/office/drawing/2014/main" id="{231BE931-2FA0-4B61-B885-D47CAD91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5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7" name="07-bullet-copy">
            <a:extLst xmlns:a="http://schemas.openxmlformats.org/drawingml/2006/main">
              <a:ext uri="{FF2B5EF4-FFF2-40B4-BE49-F238E27FC236}">
                <a16:creationId xmlns:a16="http://schemas.microsoft.com/office/drawing/2014/main" id="{FD888BA7-457E-4BD8-B58A-16CB4F91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944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Recompute one number</a:t>
            </a:r>
          </a:p>
        </p:txBody>
      </p:sp>
      <p:sp>
        <p:nvSpPr>
          <p:cNvPr id="8" name="08-bullet-marker">
            <a:extLst xmlns:a="http://schemas.openxmlformats.org/drawingml/2006/main">
              <a:ext uri="{FF2B5EF4-FFF2-40B4-BE49-F238E27FC236}">
                <a16:creationId xmlns:a16="http://schemas.microsoft.com/office/drawing/2014/main" id="{19475045-27A9-4A4D-B68C-FACE46A7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45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03</a:t>
            </a:r>
          </a:p>
        </p:txBody>
      </p:sp>
      <p:sp>
        <p:nvSpPr>
          <p:cNvPr id="9" name="09-bullet-copy">
            <a:extLst xmlns:a="http://schemas.openxmlformats.org/drawingml/2006/main">
              <a:ext uri="{FF2B5EF4-FFF2-40B4-BE49-F238E27FC236}">
                <a16:creationId xmlns:a16="http://schemas.microsoft.com/office/drawing/2014/main" id="{6DE5F6A1-2708-4014-91C6-38FD5DEC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944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Bounds and smell</a:t>
            </a:r>
          </a:p>
        </p:txBody>
      </p:sp>
      <p:sp>
        <p:nvSpPr>
          <p:cNvPr id="10" name="10-bullet-marker">
            <a:extLst xmlns:a="http://schemas.openxmlformats.org/drawingml/2006/main">
              <a:ext uri="{FF2B5EF4-FFF2-40B4-BE49-F238E27FC236}">
                <a16:creationId xmlns:a16="http://schemas.microsoft.com/office/drawing/2014/main" id="{73EF1972-F9DE-4C43-ABDF-304D0C1A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5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04</a:t>
            </a:r>
          </a:p>
        </p:txBody>
      </p:sp>
      <p:sp>
        <p:nvSpPr>
          <p:cNvPr id="11" name="11-bullet-copy">
            <a:extLst xmlns:a="http://schemas.openxmlformats.org/drawingml/2006/main">
              <a:ext uri="{FF2B5EF4-FFF2-40B4-BE49-F238E27FC236}">
                <a16:creationId xmlns:a16="http://schemas.microsoft.com/office/drawing/2014/main" id="{3DE3E112-359A-4EE8-B6A9-74AD6C81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944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Ask for the working</a:t>
            </a:r>
          </a:p>
        </p:txBody>
      </p:sp>
      <p:sp>
        <p:nvSpPr>
          <p:cNvPr id="12" name="12-bullet-marker">
            <a:extLst xmlns:a="http://schemas.openxmlformats.org/drawingml/2006/main">
              <a:ext uri="{FF2B5EF4-FFF2-40B4-BE49-F238E27FC236}">
                <a16:creationId xmlns:a16="http://schemas.microsoft.com/office/drawing/2014/main" id="{445B4CCB-3718-4F2A-BEE3-0E3F6C71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45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05</a:t>
            </a:r>
          </a:p>
        </p:txBody>
      </p:sp>
      <p:sp>
        <p:nvSpPr>
          <p:cNvPr id="13" name="13-bullet-copy">
            <a:extLst xmlns:a="http://schemas.openxmlformats.org/drawingml/2006/main">
              <a:ext uri="{FF2B5EF4-FFF2-40B4-BE49-F238E27FC236}">
                <a16:creationId xmlns:a16="http://schemas.microsoft.com/office/drawing/2014/main" id="{BB5F2D67-2B83-49BF-856A-4463E471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944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Recompute through a different mechanism</a:t>
            </a:r>
          </a:p>
        </p:txBody>
      </p:sp>
      <p:sp>
        <p:nvSpPr>
          <p:cNvPr id="14" name="14-footer-rule">
            <a:extLst xmlns:a="http://schemas.openxmlformats.org/drawingml/2006/main">
              <a:ext uri="{FF2B5EF4-FFF2-40B4-BE49-F238E27FC236}">
                <a16:creationId xmlns:a16="http://schemas.microsoft.com/office/drawing/2014/main" id="{F789ED47-3215-46FE-92FB-B6FD6084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5" name="15-footer-left">
            <a:extLst xmlns:a="http://schemas.openxmlformats.org/drawingml/2006/main">
              <a:ext uri="{FF2B5EF4-FFF2-40B4-BE49-F238E27FC236}">
                <a16:creationId xmlns:a16="http://schemas.microsoft.com/office/drawing/2014/main" id="{345CFE1F-CE0D-485B-80BB-38D0B30B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01:26-01:31</a:t>
            </a:r>
          </a:p>
        </p:txBody>
      </p:sp>
      <p:sp>
        <p:nvSpPr>
          <p:cNvPr id="16" name="16-footer-right">
            <a:extLst xmlns:a="http://schemas.openxmlformats.org/drawingml/2006/main">
              <a:ext uri="{FF2B5EF4-FFF2-40B4-BE49-F238E27FC236}">
                <a16:creationId xmlns:a16="http://schemas.microsoft.com/office/drawing/2014/main" id="{76BF9A9B-C724-43C4-B55E-8B71E1D6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21 / 26</a:t>
            </a:r>
          </a:p>
        </p:txBody>
      </p:sp>
    </p:spTree>
    <p:extLst>
      <p:ext uri="{BB962C8B-B14F-4D97-AF65-F5344CB8AC3E}">
        <p14:creationId xmlns:p14="http://schemas.microsoft.com/office/powerpoint/2010/main" val="19560100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01-kicker">
            <a:extLst xmlns:a="http://schemas.openxmlformats.org/drawingml/2006/main">
              <a:ext uri="{FF2B5EF4-FFF2-40B4-BE49-F238E27FC236}">
                <a16:creationId xmlns:a16="http://schemas.microsoft.com/office/drawing/2014/main" id="{10DD5970-BF1B-4F41-B63F-200557F8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NAME THE JOB BEFORE THE CHART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DFD103F4-D861-4D6B-8E47-33209716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A chart answers a job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21683EE3-385E-4A7A-B882-69C57D74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job-number">
            <a:extLst xmlns:a="http://schemas.openxmlformats.org/drawingml/2006/main">
              <a:ext uri="{FF2B5EF4-FFF2-40B4-BE49-F238E27FC236}">
                <a16:creationId xmlns:a16="http://schemas.microsoft.com/office/drawing/2014/main" id="{7C4DFB3F-81E1-4747-9E17-51DB66B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01</a:t>
            </a:r>
          </a:p>
        </p:txBody>
      </p:sp>
      <p:sp>
        <p:nvSpPr>
          <p:cNvPr id="5" name="05-job-rule">
            <a:extLst xmlns:a="http://schemas.openxmlformats.org/drawingml/2006/main">
              <a:ext uri="{FF2B5EF4-FFF2-40B4-BE49-F238E27FC236}">
                <a16:creationId xmlns:a16="http://schemas.microsoft.com/office/drawing/2014/main" id="{31E02FFA-142E-44C9-9970-EE4B82B4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35"/>
            </a:solidFill>
            <a:prstDash val="solid"/>
          </a:ln>
        </p:spPr>
      </p:sp>
      <p:sp>
        <p:nvSpPr>
          <p:cNvPr id="6" name="06-job-label">
            <a:extLst xmlns:a="http://schemas.openxmlformats.org/drawingml/2006/main">
              <a:ext uri="{FF2B5EF4-FFF2-40B4-BE49-F238E27FC236}">
                <a16:creationId xmlns:a16="http://schemas.microsoft.com/office/drawing/2014/main" id="{F03B740F-9F48-4FA8-A6B9-2FE9EE0E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COMPARE</a:t>
            </a:r>
          </a:p>
        </p:txBody>
      </p:sp>
      <p:sp>
        <p:nvSpPr>
          <p:cNvPr id="7" name="07-job-number">
            <a:extLst xmlns:a="http://schemas.openxmlformats.org/drawingml/2006/main">
              <a:ext uri="{FF2B5EF4-FFF2-40B4-BE49-F238E27FC236}">
                <a16:creationId xmlns:a16="http://schemas.microsoft.com/office/drawing/2014/main" id="{0D783775-91C5-4342-9A2D-B6ABA425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71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8" name="08-job-rule">
            <a:extLst xmlns:a="http://schemas.openxmlformats.org/drawingml/2006/main">
              <a:ext uri="{FF2B5EF4-FFF2-40B4-BE49-F238E27FC236}">
                <a16:creationId xmlns:a16="http://schemas.microsoft.com/office/drawing/2014/main" id="{6BFB8236-0DAC-488A-B56A-009C5C06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527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35"/>
            </a:solidFill>
            <a:prstDash val="solid"/>
          </a:ln>
        </p:spPr>
      </p:sp>
      <p:sp>
        <p:nvSpPr>
          <p:cNvPr id="9" name="09-job-label">
            <a:extLst xmlns:a="http://schemas.openxmlformats.org/drawingml/2006/main">
              <a:ext uri="{FF2B5EF4-FFF2-40B4-BE49-F238E27FC236}">
                <a16:creationId xmlns:a16="http://schemas.microsoft.com/office/drawing/2014/main" id="{F335F6CE-E2DB-4612-B425-6783C18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622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DISTRIBUTE</a:t>
            </a:r>
          </a:p>
        </p:txBody>
      </p:sp>
      <p:sp>
        <p:nvSpPr>
          <p:cNvPr id="10" name="10-job-number">
            <a:extLst xmlns:a="http://schemas.openxmlformats.org/drawingml/2006/main">
              <a:ext uri="{FF2B5EF4-FFF2-40B4-BE49-F238E27FC236}">
                <a16:creationId xmlns:a16="http://schemas.microsoft.com/office/drawing/2014/main" id="{8A2D5B84-9503-4789-A0C4-9E460A7C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71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03</a:t>
            </a:r>
          </a:p>
        </p:txBody>
      </p:sp>
      <p:sp>
        <p:nvSpPr>
          <p:cNvPr id="11" name="11-job-rule">
            <a:extLst xmlns:a="http://schemas.openxmlformats.org/drawingml/2006/main">
              <a:ext uri="{FF2B5EF4-FFF2-40B4-BE49-F238E27FC236}">
                <a16:creationId xmlns:a16="http://schemas.microsoft.com/office/drawing/2014/main" id="{6068EE3E-35AC-4001-B71D-3C9570BE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527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35"/>
            </a:solidFill>
            <a:prstDash val="solid"/>
          </a:ln>
        </p:spPr>
      </p:sp>
      <p:sp>
        <p:nvSpPr>
          <p:cNvPr id="12" name="12-job-label">
            <a:extLst xmlns:a="http://schemas.openxmlformats.org/drawingml/2006/main">
              <a:ext uri="{FF2B5EF4-FFF2-40B4-BE49-F238E27FC236}">
                <a16:creationId xmlns:a16="http://schemas.microsoft.com/office/drawing/2014/main" id="{D9589658-965D-4F8B-8256-0745595E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622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RELATE</a:t>
            </a:r>
          </a:p>
        </p:txBody>
      </p:sp>
      <p:sp>
        <p:nvSpPr>
          <p:cNvPr id="13" name="13-job-number">
            <a:extLst xmlns:a="http://schemas.openxmlformats.org/drawingml/2006/main">
              <a:ext uri="{FF2B5EF4-FFF2-40B4-BE49-F238E27FC236}">
                <a16:creationId xmlns:a16="http://schemas.microsoft.com/office/drawing/2014/main" id="{50B2FED5-8D7A-4C07-8B7D-71594D17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71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04</a:t>
            </a:r>
          </a:p>
        </p:txBody>
      </p:sp>
      <p:sp>
        <p:nvSpPr>
          <p:cNvPr id="14" name="14-job-rule">
            <a:extLst xmlns:a="http://schemas.openxmlformats.org/drawingml/2006/main">
              <a:ext uri="{FF2B5EF4-FFF2-40B4-BE49-F238E27FC236}">
                <a16:creationId xmlns:a16="http://schemas.microsoft.com/office/drawing/2014/main" id="{9F18B525-3951-40B4-B407-6AF5ED6D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5527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581A"/>
            </a:solidFill>
            <a:prstDash val="solid"/>
          </a:ln>
        </p:spPr>
      </p:sp>
      <p:sp>
        <p:nvSpPr>
          <p:cNvPr id="15" name="15-job-label">
            <a:extLst xmlns:a="http://schemas.openxmlformats.org/drawingml/2006/main">
              <a:ext uri="{FF2B5EF4-FFF2-40B4-BE49-F238E27FC236}">
                <a16:creationId xmlns:a16="http://schemas.microsoft.com/office/drawing/2014/main" id="{1C35814E-7701-4304-98BC-708AC796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7622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CHANGE</a:t>
            </a:r>
          </a:p>
        </p:txBody>
      </p:sp>
      <p:sp>
        <p:nvSpPr>
          <p:cNvPr id="16" name="16-job-number">
            <a:extLst xmlns:a="http://schemas.openxmlformats.org/drawingml/2006/main">
              <a:ext uri="{FF2B5EF4-FFF2-40B4-BE49-F238E27FC236}">
                <a16:creationId xmlns:a16="http://schemas.microsoft.com/office/drawing/2014/main" id="{E9F74DC6-D3D5-497C-B080-6F819E7F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71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05</a:t>
            </a:r>
          </a:p>
        </p:txBody>
      </p:sp>
      <p:sp>
        <p:nvSpPr>
          <p:cNvPr id="17" name="17-job-rule">
            <a:extLst xmlns:a="http://schemas.openxmlformats.org/drawingml/2006/main">
              <a:ext uri="{FF2B5EF4-FFF2-40B4-BE49-F238E27FC236}">
                <a16:creationId xmlns:a16="http://schemas.microsoft.com/office/drawing/2014/main" id="{6A0ACBE5-0E5B-4D91-B24C-9C9F6B5A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35"/>
            </a:solidFill>
            <a:prstDash val="solid"/>
          </a:ln>
        </p:spPr>
      </p:sp>
      <p:sp>
        <p:nvSpPr>
          <p:cNvPr id="18" name="18-job-label">
            <a:extLst xmlns:a="http://schemas.openxmlformats.org/drawingml/2006/main">
              <a:ext uri="{FF2B5EF4-FFF2-40B4-BE49-F238E27FC236}">
                <a16:creationId xmlns:a16="http://schemas.microsoft.com/office/drawing/2014/main" id="{EC134739-63D7-4F40-AB32-6E5A7769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COMPOSE</a:t>
            </a:r>
          </a:p>
        </p:txBody>
      </p:sp>
      <p:sp>
        <p:nvSpPr>
          <p:cNvPr id="19" name="19-chart-guardrail">
            <a:extLst xmlns:a="http://schemas.openxmlformats.org/drawingml/2006/main">
              <a:ext uri="{FF2B5EF4-FFF2-40B4-BE49-F238E27FC236}">
                <a16:creationId xmlns:a16="http://schemas.microsoft.com/office/drawing/2014/main" id="{BA0F4014-8073-4843-A4A4-0AA10EF3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1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2850" b="0" i="1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A snapshot growth rate is not a time series.</a:t>
            </a:r>
          </a:p>
        </p:txBody>
      </p:sp>
      <p:sp>
        <p:nvSpPr>
          <p:cNvPr id="20" name="20-footer-rule">
            <a:extLst xmlns:a="http://schemas.openxmlformats.org/drawingml/2006/main">
              <a:ext uri="{FF2B5EF4-FFF2-40B4-BE49-F238E27FC236}">
                <a16:creationId xmlns:a16="http://schemas.microsoft.com/office/drawing/2014/main" id="{27F541BC-0399-440A-A2BB-F2944CE7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1" name="21-footer-left">
            <a:extLst xmlns:a="http://schemas.openxmlformats.org/drawingml/2006/main">
              <a:ext uri="{FF2B5EF4-FFF2-40B4-BE49-F238E27FC236}">
                <a16:creationId xmlns:a16="http://schemas.microsoft.com/office/drawing/2014/main" id="{F6F9E608-0AE4-4A32-90B2-1C411EA1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01:31-01:35</a:t>
            </a:r>
          </a:p>
        </p:txBody>
      </p:sp>
      <p:sp>
        <p:nvSpPr>
          <p:cNvPr id="22" name="22-footer-right">
            <a:extLst xmlns:a="http://schemas.openxmlformats.org/drawingml/2006/main">
              <a:ext uri="{FF2B5EF4-FFF2-40B4-BE49-F238E27FC236}">
                <a16:creationId xmlns:a16="http://schemas.microsoft.com/office/drawing/2014/main" id="{4983A6DA-94CB-491F-93E9-5C2D07A9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22 / 26</a:t>
            </a:r>
          </a:p>
        </p:txBody>
      </p:sp>
    </p:spTree>
    <p:extLst>
      <p:ext uri="{BB962C8B-B14F-4D97-AF65-F5344CB8AC3E}">
        <p14:creationId xmlns:p14="http://schemas.microsoft.com/office/powerpoint/2010/main" val="6610919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01-kicker">
            <a:extLst xmlns:a="http://schemas.openxmlformats.org/drawingml/2006/main">
              <a:ext uri="{FF2B5EF4-FFF2-40B4-BE49-F238E27FC236}">
                <a16:creationId xmlns:a16="http://schemas.microsoft.com/office/drawing/2014/main" id="{708BF764-573F-4C71-A3BA-5A3A6329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SAME DEMO VALUES · DIFFERENT BELIEF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80AC9F38-279B-4F41-B102-B68450FE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Pretty can still mislead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BEBEAE5C-C9CC-4ADB-A30B-979AEB2D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chart-panel">
            <a:extLst xmlns:a="http://schemas.openxmlformats.org/drawingml/2006/main">
              <a:ext uri="{FF2B5EF4-FFF2-40B4-BE49-F238E27FC236}">
                <a16:creationId xmlns:a16="http://schemas.microsoft.com/office/drawing/2014/main" id="{EAF1F020-DBDA-4E73-BA20-28665629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2578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5" name="05-chart-title">
            <a:extLst xmlns:a="http://schemas.openxmlformats.org/drawingml/2006/main">
              <a:ext uri="{FF2B5EF4-FFF2-40B4-BE49-F238E27FC236}">
                <a16:creationId xmlns:a16="http://schemas.microsoft.com/office/drawing/2014/main" id="{F83F45F6-EB3B-4E76-9840-B0B141AE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TRUNCATED AXIS</a:t>
            </a:r>
          </a:p>
        </p:txBody>
      </p:sp>
      <p:sp>
        <p:nvSpPr>
          <p:cNvPr id="6" name="06-chart-axis">
            <a:extLst xmlns:a="http://schemas.openxmlformats.org/drawingml/2006/main">
              <a:ext uri="{FF2B5EF4-FFF2-40B4-BE49-F238E27FC236}">
                <a16:creationId xmlns:a16="http://schemas.microsoft.com/office/drawing/2014/main" id="{6A10DB1A-0AB5-4503-BA84-EE597960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411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C5046"/>
            </a:solidFill>
            <a:prstDash val="solid"/>
          </a:ln>
        </p:spPr>
      </p:sp>
      <p:sp>
        <p:nvSpPr>
          <p:cNvPr id="7" name="07-axis-label">
            <a:extLst xmlns:a="http://schemas.openxmlformats.org/drawingml/2006/main">
              <a:ext uri="{FF2B5EF4-FFF2-40B4-BE49-F238E27FC236}">
                <a16:creationId xmlns:a16="http://schemas.microsoft.com/office/drawing/2014/main" id="{F8AC92D7-B99E-49CF-A435-C59A78CB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TRUNCATED RANGE</a:t>
            </a:r>
          </a:p>
        </p:txBody>
      </p:sp>
      <p:sp>
        <p:nvSpPr>
          <p:cNvPr id="8" name="08-bar-a">
            <a:extLst xmlns:a="http://schemas.openxmlformats.org/drawingml/2006/main">
              <a:ext uri="{FF2B5EF4-FFF2-40B4-BE49-F238E27FC236}">
                <a16:creationId xmlns:a16="http://schemas.microsoft.com/office/drawing/2014/main" id="{0C22992B-69C4-460A-93A9-D1922E69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86050"/>
            <a:ext cx="914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9-bar-b">
            <a:extLst xmlns:a="http://schemas.openxmlformats.org/drawingml/2006/main">
              <a:ext uri="{FF2B5EF4-FFF2-40B4-BE49-F238E27FC236}">
                <a16:creationId xmlns:a16="http://schemas.microsoft.com/office/drawing/2014/main" id="{85EFB679-3E7D-4FE9-A576-120FBEFF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71700"/>
            <a:ext cx="9144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10-bar-a-label">
            <a:extLst xmlns:a="http://schemas.openxmlformats.org/drawingml/2006/main">
              <a:ext uri="{FF2B5EF4-FFF2-40B4-BE49-F238E27FC236}">
                <a16:creationId xmlns:a16="http://schemas.microsoft.com/office/drawing/2014/main" id="{6DC142F2-713F-4D19-91C9-C57B2164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291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DEMO A</a:t>
            </a:r>
          </a:p>
          <a:p xmlns:a="http://schemas.openxmlformats.org/drawingml/2006/main">
            <a:pPr algn="ctr">
              <a:def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n = DEMO</a:t>
            </a:r>
          </a:p>
        </p:txBody>
      </p:sp>
      <p:sp>
        <p:nvSpPr>
          <p:cNvPr id="11" name="11-bar-b-label">
            <a:extLst xmlns:a="http://schemas.openxmlformats.org/drawingml/2006/main">
              <a:ext uri="{FF2B5EF4-FFF2-40B4-BE49-F238E27FC236}">
                <a16:creationId xmlns:a16="http://schemas.microsoft.com/office/drawing/2014/main" id="{6025DEB1-73AB-4DF9-AAFB-33C1C995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291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DEMO B</a:t>
            </a:r>
          </a:p>
          <a:p xmlns:a="http://schemas.openxmlformats.org/drawingml/2006/main">
            <a:pPr algn="ctr">
              <a:def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n = DEMO</a:t>
            </a:r>
          </a:p>
        </p:txBody>
      </p:sp>
      <p:sp>
        <p:nvSpPr>
          <p:cNvPr id="12" name="12-chart-panel">
            <a:extLst xmlns:a="http://schemas.openxmlformats.org/drawingml/2006/main">
              <a:ext uri="{FF2B5EF4-FFF2-40B4-BE49-F238E27FC236}">
                <a16:creationId xmlns:a16="http://schemas.microsoft.com/office/drawing/2014/main" id="{546209A8-CDF0-4BF7-8F8B-7D738C58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52578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3" name="13-chart-title">
            <a:extLst xmlns:a="http://schemas.openxmlformats.org/drawingml/2006/main">
              <a:ext uri="{FF2B5EF4-FFF2-40B4-BE49-F238E27FC236}">
                <a16:creationId xmlns:a16="http://schemas.microsoft.com/office/drawing/2014/main" id="{11442334-AA7C-439C-88D1-02227827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ZERO BASELINE</a:t>
            </a:r>
          </a:p>
        </p:txBody>
      </p:sp>
      <p:sp>
        <p:nvSpPr>
          <p:cNvPr id="14" name="14-chart-axis">
            <a:extLst xmlns:a="http://schemas.openxmlformats.org/drawingml/2006/main">
              <a:ext uri="{FF2B5EF4-FFF2-40B4-BE49-F238E27FC236}">
                <a16:creationId xmlns:a16="http://schemas.microsoft.com/office/drawing/2014/main" id="{A90D62A7-023D-45D5-9004-57C34572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411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C5046"/>
            </a:solidFill>
            <a:prstDash val="solid"/>
          </a:ln>
        </p:spPr>
      </p:sp>
      <p:sp>
        <p:nvSpPr>
          <p:cNvPr id="15" name="15-axis-label">
            <a:extLst xmlns:a="http://schemas.openxmlformats.org/drawingml/2006/main">
              <a:ext uri="{FF2B5EF4-FFF2-40B4-BE49-F238E27FC236}">
                <a16:creationId xmlns:a16="http://schemas.microsoft.com/office/drawing/2014/main" id="{CCFDA38C-9557-4106-9704-C317A659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</a:t>
            </a:r>
          </a:p>
        </p:txBody>
      </p:sp>
      <p:sp>
        <p:nvSpPr>
          <p:cNvPr id="16" name="16-bar-a">
            <a:extLst xmlns:a="http://schemas.openxmlformats.org/drawingml/2006/main">
              <a:ext uri="{FF2B5EF4-FFF2-40B4-BE49-F238E27FC236}">
                <a16:creationId xmlns:a16="http://schemas.microsoft.com/office/drawing/2014/main" id="{19047E4D-7BCE-448C-AFF4-00E12C30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81400"/>
            <a:ext cx="914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17-bar-b">
            <a:extLst xmlns:a="http://schemas.openxmlformats.org/drawingml/2006/main">
              <a:ext uri="{FF2B5EF4-FFF2-40B4-BE49-F238E27FC236}">
                <a16:creationId xmlns:a16="http://schemas.microsoft.com/office/drawing/2014/main" id="{71BA97E6-C9C0-4851-A1E5-2C012417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914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18-bar-a-label">
            <a:extLst xmlns:a="http://schemas.openxmlformats.org/drawingml/2006/main">
              <a:ext uri="{FF2B5EF4-FFF2-40B4-BE49-F238E27FC236}">
                <a16:creationId xmlns:a16="http://schemas.microsoft.com/office/drawing/2014/main" id="{5490193B-E550-4BB4-9887-BCBE6E5C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196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DEMO A</a:t>
            </a:r>
          </a:p>
          <a:p xmlns:a="http://schemas.openxmlformats.org/drawingml/2006/main">
            <a:pPr algn="ctr">
              <a:def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n = DEMO</a:t>
            </a:r>
          </a:p>
        </p:txBody>
      </p:sp>
      <p:sp>
        <p:nvSpPr>
          <p:cNvPr id="19" name="19-bar-b-label">
            <a:extLst xmlns:a="http://schemas.openxmlformats.org/drawingml/2006/main">
              <a:ext uri="{FF2B5EF4-FFF2-40B4-BE49-F238E27FC236}">
                <a16:creationId xmlns:a16="http://schemas.microsoft.com/office/drawing/2014/main" id="{27728ACC-5DD8-4581-B701-4A10F06F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196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DEMO B</a:t>
            </a:r>
          </a:p>
          <a:p xmlns:a="http://schemas.openxmlformats.org/drawingml/2006/main">
            <a:pPr algn="ctr">
              <a:def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9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n = DEMO</a:t>
            </a:r>
          </a:p>
        </p:txBody>
      </p:sp>
      <p:sp>
        <p:nvSpPr>
          <p:cNvPr id="20" name="20-chart-summary">
            <a:extLst xmlns:a="http://schemas.openxmlformats.org/drawingml/2006/main">
              <a:ext uri="{FF2B5EF4-FFF2-40B4-BE49-F238E27FC236}">
                <a16:creationId xmlns:a16="http://schemas.microsoft.com/office/drawing/2014/main" id="{C4163D9C-3568-47D1-A8AB-3E31D92E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C5046"/>
                </a:solidFill>
                <a:latin typeface="Geist"/>
                <a:ea typeface="Geist"/>
                <a:cs typeface="Geist"/>
              </a:defRPr>
            </a:pPr>
            <a:r>
              <a:rPr sz="1350" b="0" i="1">
                <a:solidFill>
                  <a:srgbClr val="5C5046"/>
                </a:solidFill>
                <a:latin typeface="Geist"/>
                <a:ea typeface="Geist"/>
                <a:cs typeface="Geist"/>
              </a:rPr>
              <a:t>Text summary: the truncated baseline exaggerates the same demo gap. Missingness: annotate in the live demo.</a:t>
            </a:r>
          </a:p>
        </p:txBody>
      </p:sp>
      <p:sp>
        <p:nvSpPr>
          <p:cNvPr id="21" name="21-footer-rule">
            <a:extLst xmlns:a="http://schemas.openxmlformats.org/drawingml/2006/main">
              <a:ext uri="{FF2B5EF4-FFF2-40B4-BE49-F238E27FC236}">
                <a16:creationId xmlns:a16="http://schemas.microsoft.com/office/drawing/2014/main" id="{0005A221-F28D-4329-8405-A5DFF15B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2" name="22-footer-left">
            <a:extLst xmlns:a="http://schemas.openxmlformats.org/drawingml/2006/main">
              <a:ext uri="{FF2B5EF4-FFF2-40B4-BE49-F238E27FC236}">
                <a16:creationId xmlns:a16="http://schemas.microsoft.com/office/drawing/2014/main" id="{E144AEE2-F180-4B41-8716-826F5436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01:35-01:39</a:t>
            </a:r>
          </a:p>
        </p:txBody>
      </p:sp>
      <p:sp>
        <p:nvSpPr>
          <p:cNvPr id="23" name="23-footer-right">
            <a:extLst xmlns:a="http://schemas.openxmlformats.org/drawingml/2006/main">
              <a:ext uri="{FF2B5EF4-FFF2-40B4-BE49-F238E27FC236}">
                <a16:creationId xmlns:a16="http://schemas.microsoft.com/office/drawing/2014/main" id="{9EFFD81D-0BF4-4C91-941D-5BADDD0E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23 / 26</a:t>
            </a:r>
          </a:p>
        </p:txBody>
      </p:sp>
    </p:spTree>
    <p:extLst>
      <p:ext uri="{BB962C8B-B14F-4D97-AF65-F5344CB8AC3E}">
        <p14:creationId xmlns:p14="http://schemas.microsoft.com/office/powerpoint/2010/main" val="3313498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E3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1-kicker">
            <a:extLst xmlns:a="http://schemas.openxmlformats.org/drawingml/2006/main">
              <a:ext uri="{FF2B5EF4-FFF2-40B4-BE49-F238E27FC236}">
                <a16:creationId xmlns:a16="http://schemas.microsoft.com/office/drawing/2014/main" id="{15B5FEE2-FD97-4D86-9EAD-E16C6B87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VISUALIZATION CHECK · SIX SCENARIOS</a:t>
            </a:r>
          </a:p>
        </p:txBody>
      </p:sp>
      <p:sp>
        <p:nvSpPr>
          <p:cNvPr id="2" name="02-timer">
            <a:extLst xmlns:a="http://schemas.openxmlformats.org/drawingml/2006/main">
              <a:ext uri="{FF2B5EF4-FFF2-40B4-BE49-F238E27FC236}">
                <a16:creationId xmlns:a16="http://schemas.microsoft.com/office/drawing/2014/main" id="{0E74D72D-0E7F-4612-9DC8-73E6767F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125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15:00</a:t>
            </a:r>
          </a:p>
        </p:txBody>
      </p:sp>
      <p:sp>
        <p:nvSpPr>
          <p:cNvPr id="3" name="03-timer-track">
            <a:extLst xmlns:a="http://schemas.openxmlformats.org/drawingml/2006/main">
              <a:ext uri="{FF2B5EF4-FFF2-40B4-BE49-F238E27FC236}">
                <a16:creationId xmlns:a16="http://schemas.microsoft.com/office/drawing/2014/main" id="{5A1E3D82-F745-4FB7-BBD9-DBB15EAD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4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4-timer-progress">
            <a:extLst xmlns:a="http://schemas.openxmlformats.org/drawingml/2006/main">
              <a:ext uri="{FF2B5EF4-FFF2-40B4-BE49-F238E27FC236}">
                <a16:creationId xmlns:a16="http://schemas.microsoft.com/office/drawing/2014/main" id="{7B80E004-6E5B-4E55-AB15-9B21AA48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timer-footer">
            <a:extLst xmlns:a="http://schemas.openxmlformats.org/drawingml/2006/main">
              <a:ext uri="{FF2B5EF4-FFF2-40B4-BE49-F238E27FC236}">
                <a16:creationId xmlns:a16="http://schemas.microsoft.com/office/drawing/2014/main" id="{7B97F1E4-9C63-40CF-8F08-DA221812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7D3CE"/>
                </a:solidFill>
                <a:latin typeface="Geist"/>
                <a:ea typeface="Geist"/>
                <a:cs typeface="Geist"/>
              </a:defRPr>
            </a:pPr>
            <a:r>
              <a:rPr sz="1800" b="0" i="0">
                <a:solidFill>
                  <a:srgbClr val="C7D3CE"/>
                </a:solidFill>
                <a:latin typeface="Geist"/>
                <a:ea typeface="Geist"/>
                <a:cs typeface="Geist"/>
              </a:rPr>
              <a:t>Choose the visual. Defend why. · INDIVIDUAL</a:t>
            </a:r>
          </a:p>
        </p:txBody>
      </p:sp>
      <p:sp>
        <p:nvSpPr>
          <p:cNvPr id="6" name="06-footer-rule">
            <a:extLst xmlns:a="http://schemas.openxmlformats.org/drawingml/2006/main">
              <a:ext uri="{FF2B5EF4-FFF2-40B4-BE49-F238E27FC236}">
                <a16:creationId xmlns:a16="http://schemas.microsoft.com/office/drawing/2014/main" id="{3BC06C9E-34B7-47DD-89BF-D9316528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35D"/>
            </a:solidFill>
            <a:prstDash val="solid"/>
          </a:ln>
        </p:spPr>
      </p:sp>
      <p:sp>
        <p:nvSpPr>
          <p:cNvPr id="7" name="07-footer-left">
            <a:extLst xmlns:a="http://schemas.openxmlformats.org/drawingml/2006/main">
              <a:ext uri="{FF2B5EF4-FFF2-40B4-BE49-F238E27FC236}">
                <a16:creationId xmlns:a16="http://schemas.microsoft.com/office/drawing/2014/main" id="{BD371199-B088-49D3-9A20-1D3D9089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SESSION 03  /  01:39-01:54</a:t>
            </a:r>
          </a:p>
        </p:txBody>
      </p:sp>
      <p:sp>
        <p:nvSpPr>
          <p:cNvPr id="8" name="08-footer-right">
            <a:extLst xmlns:a="http://schemas.openxmlformats.org/drawingml/2006/main">
              <a:ext uri="{FF2B5EF4-FFF2-40B4-BE49-F238E27FC236}">
                <a16:creationId xmlns:a16="http://schemas.microsoft.com/office/drawing/2014/main" id="{37761125-6F4A-41D0-B405-8A6ED683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24 / 26</a:t>
            </a:r>
          </a:p>
        </p:txBody>
      </p:sp>
    </p:spTree>
    <p:extLst>
      <p:ext uri="{BB962C8B-B14F-4D97-AF65-F5344CB8AC3E}">
        <p14:creationId xmlns:p14="http://schemas.microsoft.com/office/powerpoint/2010/main" val="643628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1-kicker">
            <a:extLst xmlns:a="http://schemas.openxmlformats.org/drawingml/2006/main">
              <a:ext uri="{FF2B5EF4-FFF2-40B4-BE49-F238E27FC236}">
                <a16:creationId xmlns:a16="http://schemas.microsoft.com/office/drawing/2014/main" id="{620048D7-4D43-4360-A72F-2306CCFC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BEFORE SUBMIT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A1FFE0AA-3BE5-498E-9E3E-3A741193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Ship proof, not confidence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3B4A5292-C103-4895-BB50-6932F688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bullet-marker">
            <a:extLst xmlns:a="http://schemas.openxmlformats.org/drawingml/2006/main">
              <a:ext uri="{FF2B5EF4-FFF2-40B4-BE49-F238E27FC236}">
                <a16:creationId xmlns:a16="http://schemas.microsoft.com/office/drawing/2014/main" id="{F969952B-B6B3-41E8-9F87-E8F882DB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5" name="05-bullet-copy">
            <a:extLst xmlns:a="http://schemas.openxmlformats.org/drawingml/2006/main">
              <a:ext uri="{FF2B5EF4-FFF2-40B4-BE49-F238E27FC236}">
                <a16:creationId xmlns:a16="http://schemas.microsoft.com/office/drawing/2014/main" id="{652CE7E0-6E9C-4C21-954F-AABDDC2E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0975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version + checksum</a:t>
            </a:r>
          </a:p>
        </p:txBody>
      </p:sp>
      <p:sp>
        <p:nvSpPr>
          <p:cNvPr id="6" name="06-bullet-marker">
            <a:extLst xmlns:a="http://schemas.openxmlformats.org/drawingml/2006/main">
              <a:ext uri="{FF2B5EF4-FFF2-40B4-BE49-F238E27FC236}">
                <a16:creationId xmlns:a16="http://schemas.microsoft.com/office/drawing/2014/main" id="{D6A40650-C4A9-433B-91FB-C01471F6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7" name="07-bullet-copy">
            <a:extLst xmlns:a="http://schemas.openxmlformats.org/drawingml/2006/main">
              <a:ext uri="{FF2B5EF4-FFF2-40B4-BE49-F238E27FC236}">
                <a16:creationId xmlns:a16="http://schemas.microsoft.com/office/drawing/2014/main" id="{4D59C9DA-0411-4FF1-8AF0-1B6F6459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6220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assumptions + denominator</a:t>
            </a:r>
          </a:p>
        </p:txBody>
      </p:sp>
      <p:sp>
        <p:nvSpPr>
          <p:cNvPr id="8" name="08-bullet-marker">
            <a:extLst xmlns:a="http://schemas.openxmlformats.org/drawingml/2006/main">
              <a:ext uri="{FF2B5EF4-FFF2-40B4-BE49-F238E27FC236}">
                <a16:creationId xmlns:a16="http://schemas.microsoft.com/office/drawing/2014/main" id="{211FB40D-B250-4F1B-8E94-0B85B658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9" name="09-bullet-copy">
            <a:extLst xmlns:a="http://schemas.openxmlformats.org/drawingml/2006/main">
              <a:ext uri="{FF2B5EF4-FFF2-40B4-BE49-F238E27FC236}">
                <a16:creationId xmlns:a16="http://schemas.microsoft.com/office/drawing/2014/main" id="{1E5929B7-5B9F-4AF5-B845-E0CA7A06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working</a:t>
            </a:r>
          </a:p>
        </p:txBody>
      </p:sp>
      <p:sp>
        <p:nvSpPr>
          <p:cNvPr id="10" name="10-bullet-marker">
            <a:extLst xmlns:a="http://schemas.openxmlformats.org/drawingml/2006/main">
              <a:ext uri="{FF2B5EF4-FFF2-40B4-BE49-F238E27FC236}">
                <a16:creationId xmlns:a16="http://schemas.microsoft.com/office/drawing/2014/main" id="{C6A87314-EE63-4A18-8418-8342234A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11" name="11-bullet-copy">
            <a:extLst xmlns:a="http://schemas.openxmlformats.org/drawingml/2006/main">
              <a:ext uri="{FF2B5EF4-FFF2-40B4-BE49-F238E27FC236}">
                <a16:creationId xmlns:a16="http://schemas.microsoft.com/office/drawing/2014/main" id="{7831A173-2214-4DAA-A04D-A7E72B6C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6710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two-method trace</a:t>
            </a:r>
          </a:p>
        </p:txBody>
      </p:sp>
      <p:sp>
        <p:nvSpPr>
          <p:cNvPr id="12" name="12-bullet-marker">
            <a:extLst xmlns:a="http://schemas.openxmlformats.org/drawingml/2006/main">
              <a:ext uri="{FF2B5EF4-FFF2-40B4-BE49-F238E27FC236}">
                <a16:creationId xmlns:a16="http://schemas.microsoft.com/office/drawing/2014/main" id="{A5C3BC1E-A6FE-4BA3-8E13-5815ECC3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13" name="13-bullet-copy">
            <a:extLst xmlns:a="http://schemas.openxmlformats.org/drawingml/2006/main">
              <a:ext uri="{FF2B5EF4-FFF2-40B4-BE49-F238E27FC236}">
                <a16:creationId xmlns:a16="http://schemas.microsoft.com/office/drawing/2014/main" id="{B57700BE-642A-400E-B8AE-68197B1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955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limitation</a:t>
            </a:r>
          </a:p>
        </p:txBody>
      </p:sp>
      <p:sp>
        <p:nvSpPr>
          <p:cNvPr id="14" name="14-bullet-marker">
            <a:extLst xmlns:a="http://schemas.openxmlformats.org/drawingml/2006/main">
              <a:ext uri="{FF2B5EF4-FFF2-40B4-BE49-F238E27FC236}">
                <a16:creationId xmlns:a16="http://schemas.microsoft.com/office/drawing/2014/main" id="{34A90180-9EAD-434C-9A76-C979CF3A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✓</a:t>
            </a:r>
          </a:p>
        </p:txBody>
      </p:sp>
      <p:sp>
        <p:nvSpPr>
          <p:cNvPr id="15" name="15-bullet-copy">
            <a:extLst xmlns:a="http://schemas.openxmlformats.org/drawingml/2006/main">
              <a:ext uri="{FF2B5EF4-FFF2-40B4-BE49-F238E27FC236}">
                <a16:creationId xmlns:a16="http://schemas.microsoft.com/office/drawing/2014/main" id="{2FFDE7B2-39E9-4F72-87F0-324D738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7200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no private rows on public surfaces</a:t>
            </a:r>
          </a:p>
        </p:txBody>
      </p:sp>
      <p:sp>
        <p:nvSpPr>
          <p:cNvPr id="16" name="16-footer-rule">
            <a:extLst xmlns:a="http://schemas.openxmlformats.org/drawingml/2006/main">
              <a:ext uri="{FF2B5EF4-FFF2-40B4-BE49-F238E27FC236}">
                <a16:creationId xmlns:a16="http://schemas.microsoft.com/office/drawing/2014/main" id="{313CE729-917D-45CA-BE6D-D3F5CF86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7" name="17-footer-left">
            <a:extLst xmlns:a="http://schemas.openxmlformats.org/drawingml/2006/main">
              <a:ext uri="{FF2B5EF4-FFF2-40B4-BE49-F238E27FC236}">
                <a16:creationId xmlns:a16="http://schemas.microsoft.com/office/drawing/2014/main" id="{1D108DFF-0323-4984-B54F-08CC4A5C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03  /  01:54-01:58</a:t>
            </a:r>
          </a:p>
        </p:txBody>
      </p:sp>
      <p:sp>
        <p:nvSpPr>
          <p:cNvPr id="18" name="18-footer-right">
            <a:extLst xmlns:a="http://schemas.openxmlformats.org/drawingml/2006/main">
              <a:ext uri="{FF2B5EF4-FFF2-40B4-BE49-F238E27FC236}">
                <a16:creationId xmlns:a16="http://schemas.microsoft.com/office/drawing/2014/main" id="{22834F14-8457-40C8-8DFA-6E37F591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25 / 26</a:t>
            </a:r>
          </a:p>
        </p:txBody>
      </p:sp>
    </p:spTree>
    <p:extLst>
      <p:ext uri="{BB962C8B-B14F-4D97-AF65-F5344CB8AC3E}">
        <p14:creationId xmlns:p14="http://schemas.microsoft.com/office/powerpoint/2010/main" val="14978277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E3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1-kicker">
            <a:extLst xmlns:a="http://schemas.openxmlformats.org/drawingml/2006/main">
              <a:ext uri="{FF2B5EF4-FFF2-40B4-BE49-F238E27FC236}">
                <a16:creationId xmlns:a16="http://schemas.microsoft.com/office/drawing/2014/main" id="{DFE4CE1E-140F-4AEE-99C9-11D8F6A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UP NEXT · SESSION 04</a:t>
            </a:r>
          </a:p>
        </p:txBody>
      </p:sp>
      <p:sp>
        <p:nvSpPr>
          <p:cNvPr id="2" name="02-closing-title">
            <a:extLst xmlns:a="http://schemas.openxmlformats.org/drawingml/2006/main">
              <a:ext uri="{FF2B5EF4-FFF2-40B4-BE49-F238E27FC236}">
                <a16:creationId xmlns:a16="http://schemas.microsoft.com/office/drawing/2014/main" id="{AE511ED4-165D-4112-9855-27D28705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F5F0E8"/>
                </a:solidFill>
                <a:latin typeface="Fraunces 9pt"/>
                <a:ea typeface="Fraunces 9pt"/>
                <a:cs typeface="Fraunces 9pt"/>
              </a:defRPr>
            </a:pPr>
            <a:r>
              <a:rPr sz="5700" b="1" i="0">
                <a:solidFill>
                  <a:srgbClr val="F5F0E8"/>
                </a:solidFill>
                <a:latin typeface="Fraunces 9pt"/>
                <a:ea typeface="Fraunces 9pt"/>
                <a:cs typeface="Fraunces 9pt"/>
              </a:rPr>
              <a:t>Turn evidence into a product.</a:t>
            </a:r>
          </a:p>
        </p:txBody>
      </p:sp>
      <p:sp>
        <p:nvSpPr>
          <p:cNvPr id="3" name="03-closing-accent">
            <a:extLst xmlns:a="http://schemas.openxmlformats.org/drawingml/2006/main">
              <a:ext uri="{FF2B5EF4-FFF2-40B4-BE49-F238E27FC236}">
                <a16:creationId xmlns:a16="http://schemas.microsoft.com/office/drawing/2014/main" id="{0456E13A-B05D-4D4F-A885-BA45DBBC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4-closing-bridge">
            <a:extLst xmlns:a="http://schemas.openxmlformats.org/drawingml/2006/main">
              <a:ext uri="{FF2B5EF4-FFF2-40B4-BE49-F238E27FC236}">
                <a16:creationId xmlns:a16="http://schemas.microsoft.com/office/drawing/2014/main" id="{4BD23F5B-5366-4D86-84ED-3B017B24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 i="1">
                <a:solidFill>
                  <a:srgbClr val="F0D478"/>
                </a:solidFill>
                <a:latin typeface="Fraunces 9pt"/>
                <a:ea typeface="Fraunces 9pt"/>
                <a:cs typeface="Fraunces 9pt"/>
              </a:defRPr>
            </a:pPr>
            <a:r>
              <a:rPr sz="2925" b="0" i="1">
                <a:solidFill>
                  <a:srgbClr val="F0D478"/>
                </a:solidFill>
                <a:latin typeface="Fraunces 9pt"/>
                <a:ea typeface="Fraunces 9pt"/>
                <a:cs typeface="Fraunces 9pt"/>
              </a:rPr>
              <a:t>Session 4: rebuild a proven product in Lovable.</a:t>
            </a:r>
          </a:p>
        </p:txBody>
      </p:sp>
      <p:sp>
        <p:nvSpPr>
          <p:cNvPr id="5" name="05-closing-sub">
            <a:extLst xmlns:a="http://schemas.openxmlformats.org/drawingml/2006/main">
              <a:ext uri="{FF2B5EF4-FFF2-40B4-BE49-F238E27FC236}">
                <a16:creationId xmlns:a16="http://schemas.microsoft.com/office/drawing/2014/main" id="{D9E33C52-C0DF-499C-939C-71D07CCD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7D3CE"/>
                </a:solidFill>
                <a:latin typeface="Geist"/>
                <a:ea typeface="Geist"/>
                <a:cs typeface="Geist"/>
              </a:defRPr>
            </a:pPr>
            <a:r>
              <a:rPr sz="1875" b="0" i="0">
                <a:solidFill>
                  <a:srgbClr val="C7D3CE"/>
                </a:solidFill>
                <a:latin typeface="Geist"/>
                <a:ea typeface="Geist"/>
                <a:cs typeface="Geist"/>
              </a:rPr>
              <a:t>Data helps choose the bet. A feature contract makes it buildable.</a:t>
            </a:r>
          </a:p>
        </p:txBody>
      </p:sp>
      <p:sp>
        <p:nvSpPr>
          <p:cNvPr id="6" name="06-footer-rule">
            <a:extLst xmlns:a="http://schemas.openxmlformats.org/drawingml/2006/main">
              <a:ext uri="{FF2B5EF4-FFF2-40B4-BE49-F238E27FC236}">
                <a16:creationId xmlns:a16="http://schemas.microsoft.com/office/drawing/2014/main" id="{E704F469-9FB8-45D5-9FCF-3D1887F3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35D"/>
            </a:solidFill>
            <a:prstDash val="solid"/>
          </a:ln>
        </p:spPr>
      </p:sp>
      <p:sp>
        <p:nvSpPr>
          <p:cNvPr id="7" name="07-footer-left">
            <a:extLst xmlns:a="http://schemas.openxmlformats.org/drawingml/2006/main">
              <a:ext uri="{FF2B5EF4-FFF2-40B4-BE49-F238E27FC236}">
                <a16:creationId xmlns:a16="http://schemas.microsoft.com/office/drawing/2014/main" id="{D41047FC-0FCF-4113-A3CE-E38690FB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SESSION 03  /  01:58-02:00</a:t>
            </a:r>
          </a:p>
        </p:txBody>
      </p:sp>
      <p:sp>
        <p:nvSpPr>
          <p:cNvPr id="8" name="08-footer-right">
            <a:extLst xmlns:a="http://schemas.openxmlformats.org/drawingml/2006/main">
              <a:ext uri="{FF2B5EF4-FFF2-40B4-BE49-F238E27FC236}">
                <a16:creationId xmlns:a16="http://schemas.microsoft.com/office/drawing/2014/main" id="{409C9FE4-15B6-455F-8235-A5F36B96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26 / 26</a:t>
            </a:r>
          </a:p>
        </p:txBody>
      </p:sp>
    </p:spTree>
    <p:extLst>
      <p:ext uri="{BB962C8B-B14F-4D97-AF65-F5344CB8AC3E}">
        <p14:creationId xmlns:p14="http://schemas.microsoft.com/office/powerpoint/2010/main" val="328284561"/>
      </p:ext>
    </p:extLst>
  </p:cSld>
</p:sld>
</file>

<file path=ppt/theme/theme1.xml><?xml version="1.0" encoding="utf-8"?>
<a:theme xmlns:a="http://schemas.openxmlformats.org/drawingml/2006/main" name="ChatGPT">
  <a:themeElements>
    <a:clrScheme name="Session 03 - Working with data, using AI Editorial">
      <a:dk1>
        <a:srgbClr val="1F1A14"/>
      </a:dk1>
      <a:lt1>
        <a:srgbClr val="FFFFFF"/>
      </a:lt1>
      <a:dk2>
        <a:srgbClr val="1E3A35"/>
      </a:dk2>
      <a:lt2>
        <a:srgbClr val="F5F0E8"/>
      </a:lt2>
      <a:accent1>
        <a:srgbClr val="1E3A35"/>
      </a:accent1>
      <a:accent2>
        <a:srgbClr val="C4581A"/>
      </a:accent2>
      <a:accent3>
        <a:srgbClr val="F0D478"/>
      </a:accent3>
      <a:accent4>
        <a:srgbClr val="EDE5D8"/>
      </a:accent4>
      <a:accent5>
        <a:srgbClr val="5C5046"/>
      </a:accent5>
      <a:accent6>
        <a:srgbClr val="9C8E82"/>
      </a:accent6>
      <a:hlink>
        <a:srgbClr val="C4581A"/>
      </a:hlink>
      <a:folHlink>
        <a:srgbClr val="5C504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ssion 03 - Working with data, using AI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2026-07-30T03:50:46.8520000Z</dcterms:created>
  <dcterms:modified xsi:type="dcterms:W3CDTF">2026-07-30T03:50:46.8520000Z</dcterms:modified>
</coreProperties>
</file>