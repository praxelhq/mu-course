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b6aa89b4e24ca6" /><Relationship Type="http://schemas.openxmlformats.org/officeDocument/2006/relationships/extended-properties" Target="/docProps/app.xml" Id="R54e4ec6108854c7b" /><Relationship Type="http://schemas.openxmlformats.org/officeDocument/2006/relationships/officeDocument" Target="/ppt/presentation.xml" Id="Ra74c9617a6c7453e" /></Relationships>
</file>

<file path=ppt/presentation.xml><?xml version="1.0" encoding="utf-8"?>
<p:presentation xmlns:p="http://schemas.openxmlformats.org/presentationml/2006/main">
  <p:sldMasterIdLst>
    <p:sldMasterId xmlns:r="http://schemas.openxmlformats.org/officeDocument/2006/relationships" id="2147483648" r:id="R80c36065de694f62"/>
  </p:sldMasterIdLst>
  <p:notesMasterIdLst>
    <p:notesMasterId xmlns:r="http://schemas.openxmlformats.org/officeDocument/2006/relationships" r:id="R2d15213ed0a94602"/>
  </p:notesMasterIdLst>
  <p:sldIdLst>
    <p:sldId xmlns:r="http://schemas.openxmlformats.org/officeDocument/2006/relationships" id="256" r:id="R5b1e102c6bea4228"/>
    <p:sldId xmlns:r="http://schemas.openxmlformats.org/officeDocument/2006/relationships" id="257" r:id="R9b3b0bbe7bec4101"/>
    <p:sldId xmlns:r="http://schemas.openxmlformats.org/officeDocument/2006/relationships" id="258" r:id="R5a41bbfaf985464c"/>
    <p:sldId xmlns:r="http://schemas.openxmlformats.org/officeDocument/2006/relationships" id="259" r:id="R37306198e293487a"/>
    <p:sldId xmlns:r="http://schemas.openxmlformats.org/officeDocument/2006/relationships" id="260" r:id="R64b7f74f6e1b43f1"/>
    <p:sldId xmlns:r="http://schemas.openxmlformats.org/officeDocument/2006/relationships" id="261" r:id="R74b3fcedd4e946c8"/>
    <p:sldId xmlns:r="http://schemas.openxmlformats.org/officeDocument/2006/relationships" id="262" r:id="Rac3fd2aa424d47f7"/>
    <p:sldId xmlns:r="http://schemas.openxmlformats.org/officeDocument/2006/relationships" id="263" r:id="Rfb9151a85676467d"/>
    <p:sldId xmlns:r="http://schemas.openxmlformats.org/officeDocument/2006/relationships" id="264" r:id="R2a3b7063bc904fc2"/>
    <p:sldId xmlns:r="http://schemas.openxmlformats.org/officeDocument/2006/relationships" id="265" r:id="R5ec6d366c50f4b8f"/>
    <p:sldId xmlns:r="http://schemas.openxmlformats.org/officeDocument/2006/relationships" id="266" r:id="R1dc93819a9844bb2"/>
    <p:sldId xmlns:r="http://schemas.openxmlformats.org/officeDocument/2006/relationships" id="267" r:id="Rfb244257fe4343b9"/>
    <p:sldId xmlns:r="http://schemas.openxmlformats.org/officeDocument/2006/relationships" id="268" r:id="R5f8751fd45304141"/>
    <p:sldId xmlns:r="http://schemas.openxmlformats.org/officeDocument/2006/relationships" id="269" r:id="R6f14f8ae48854d0e"/>
    <p:sldId xmlns:r="http://schemas.openxmlformats.org/officeDocument/2006/relationships" id="270" r:id="Rc59cb122a881412d"/>
    <p:sldId xmlns:r="http://schemas.openxmlformats.org/officeDocument/2006/relationships" id="271" r:id="Re3d7ce07b0cb41ab"/>
    <p:sldId xmlns:r="http://schemas.openxmlformats.org/officeDocument/2006/relationships" id="272" r:id="R461c2567d489479a"/>
    <p:sldId xmlns:r="http://schemas.openxmlformats.org/officeDocument/2006/relationships" id="273" r:id="R9303b644e0e1459f"/>
    <p:sldId xmlns:r="http://schemas.openxmlformats.org/officeDocument/2006/relationships" id="274" r:id="R3701e79ab5384bdc"/>
    <p:sldId xmlns:r="http://schemas.openxmlformats.org/officeDocument/2006/relationships" id="275" r:id="Rdbde431fb95240dc"/>
    <p:sldId xmlns:r="http://schemas.openxmlformats.org/officeDocument/2006/relationships" id="276" r:id="R7fa7a68ba1ef4109"/>
    <p:sldId xmlns:r="http://schemas.openxmlformats.org/officeDocument/2006/relationships" id="277" r:id="Rd1ef570a394a4c17"/>
    <p:sldId xmlns:r="http://schemas.openxmlformats.org/officeDocument/2006/relationships" id="278" r:id="R43276f05d84e4336"/>
    <p:sldId xmlns:r="http://schemas.openxmlformats.org/officeDocument/2006/relationships" id="279" r:id="R7ff0a12ad71249dd"/>
    <p:sldId xmlns:r="http://schemas.openxmlformats.org/officeDocument/2006/relationships" id="280" r:id="Re4019b2ed56846ee"/>
    <p:sldId xmlns:r="http://schemas.openxmlformats.org/officeDocument/2006/relationships" id="281" r:id="R36a225e242dc4076"/>
    <p:sldId xmlns:r="http://schemas.openxmlformats.org/officeDocument/2006/relationships" id="282" r:id="R3954624b65d241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3102fd6b41405d" /><Relationship Type="http://schemas.openxmlformats.org/officeDocument/2006/relationships/slideMaster" Target="/ppt/slideMasters/slideMaster1.xml" Id="R80c36065de694f62" /><Relationship Type="http://schemas.openxmlformats.org/officeDocument/2006/relationships/notesMaster" Target="/ppt/notesMasters/notesMaster1.xml" Id="R2d15213ed0a94602" /><Relationship Type="http://schemas.openxmlformats.org/officeDocument/2006/relationships/presProps" Target="/ppt/presProps.xml" Id="Rd00203575c4b4fa1" /><Relationship Type="http://schemas.openxmlformats.org/officeDocument/2006/relationships/tableStyles" Target="/ppt/tableStyles.xml" Id="R0a249bf6a4f44b28" /><Relationship Type="http://schemas.openxmlformats.org/officeDocument/2006/relationships/slide" Target="/ppt/slides/slide1.xml" Id="R5b1e102c6bea4228" /><Relationship Type="http://schemas.openxmlformats.org/officeDocument/2006/relationships/slide" Target="/ppt/slides/slide2.xml" Id="R9b3b0bbe7bec4101" /><Relationship Type="http://schemas.openxmlformats.org/officeDocument/2006/relationships/slide" Target="/ppt/slides/slide3.xml" Id="R5a41bbfaf985464c" /><Relationship Type="http://schemas.openxmlformats.org/officeDocument/2006/relationships/slide" Target="/ppt/slides/slide4.xml" Id="R37306198e293487a" /><Relationship Type="http://schemas.openxmlformats.org/officeDocument/2006/relationships/slide" Target="/ppt/slides/slide5.xml" Id="R64b7f74f6e1b43f1" /><Relationship Type="http://schemas.openxmlformats.org/officeDocument/2006/relationships/slide" Target="/ppt/slides/slide6.xml" Id="R74b3fcedd4e946c8" /><Relationship Type="http://schemas.openxmlformats.org/officeDocument/2006/relationships/slide" Target="/ppt/slides/slide7.xml" Id="Rac3fd2aa424d47f7" /><Relationship Type="http://schemas.openxmlformats.org/officeDocument/2006/relationships/slide" Target="/ppt/slides/slide8.xml" Id="Rfb9151a85676467d" /><Relationship Type="http://schemas.openxmlformats.org/officeDocument/2006/relationships/slide" Target="/ppt/slides/slide9.xml" Id="R2a3b7063bc904fc2" /><Relationship Type="http://schemas.openxmlformats.org/officeDocument/2006/relationships/slide" Target="/ppt/slides/slide10.xml" Id="R5ec6d366c50f4b8f" /><Relationship Type="http://schemas.openxmlformats.org/officeDocument/2006/relationships/slide" Target="/ppt/slides/slide11.xml" Id="R1dc93819a9844bb2" /><Relationship Type="http://schemas.openxmlformats.org/officeDocument/2006/relationships/slide" Target="/ppt/slides/slide12.xml" Id="Rfb244257fe4343b9" /><Relationship Type="http://schemas.openxmlformats.org/officeDocument/2006/relationships/slide" Target="/ppt/slides/slide13.xml" Id="R5f8751fd45304141" /><Relationship Type="http://schemas.openxmlformats.org/officeDocument/2006/relationships/slide" Target="/ppt/slides/slide14.xml" Id="R6f14f8ae48854d0e" /><Relationship Type="http://schemas.openxmlformats.org/officeDocument/2006/relationships/slide" Target="/ppt/slides/slide15.xml" Id="Rc59cb122a881412d" /><Relationship Type="http://schemas.openxmlformats.org/officeDocument/2006/relationships/slide" Target="/ppt/slides/slide16.xml" Id="Re3d7ce07b0cb41ab" /><Relationship Type="http://schemas.openxmlformats.org/officeDocument/2006/relationships/slide" Target="/ppt/slides/slide17.xml" Id="R461c2567d489479a" /><Relationship Type="http://schemas.openxmlformats.org/officeDocument/2006/relationships/slide" Target="/ppt/slides/slide18.xml" Id="R9303b644e0e1459f" /><Relationship Type="http://schemas.openxmlformats.org/officeDocument/2006/relationships/slide" Target="/ppt/slides/slide19.xml" Id="R3701e79ab5384bdc" /><Relationship Type="http://schemas.openxmlformats.org/officeDocument/2006/relationships/slide" Target="/ppt/slides/slide20.xml" Id="Rdbde431fb95240dc" /><Relationship Type="http://schemas.openxmlformats.org/officeDocument/2006/relationships/slide" Target="/ppt/slides/slide21.xml" Id="R7fa7a68ba1ef4109" /><Relationship Type="http://schemas.openxmlformats.org/officeDocument/2006/relationships/slide" Target="/ppt/slides/slide22.xml" Id="Rd1ef570a394a4c17" /><Relationship Type="http://schemas.openxmlformats.org/officeDocument/2006/relationships/slide" Target="/ppt/slides/slide23.xml" Id="R43276f05d84e4336" /><Relationship Type="http://schemas.openxmlformats.org/officeDocument/2006/relationships/slide" Target="/ppt/slides/slide24.xml" Id="R7ff0a12ad71249dd" /><Relationship Type="http://schemas.openxmlformats.org/officeDocument/2006/relationships/slide" Target="/ppt/slides/slide25.xml" Id="Re4019b2ed56846ee" /><Relationship Type="http://schemas.openxmlformats.org/officeDocument/2006/relationships/slide" Target="/ppt/slides/slide26.xml" Id="R36a225e242dc4076" /><Relationship Type="http://schemas.openxmlformats.org/officeDocument/2006/relationships/slide" Target="/ppt/slides/slide27.xml" Id="R3954624b65d241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14595135d241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ession 05 - Revenue systems with Make Editorial">
      <a:dk1>
        <a:srgbClr val="1F1A14"/>
      </a:dk1>
      <a:lt1>
        <a:srgbClr val="FFFFFF"/>
      </a:lt1>
      <a:dk2>
        <a:srgbClr val="1E3A35"/>
      </a:dk2>
      <a:lt2>
        <a:srgbClr val="F5F0E8"/>
      </a:lt2>
      <a:accent1>
        <a:srgbClr val="1E3A35"/>
      </a:accent1>
      <a:accent2>
        <a:srgbClr val="C4581A"/>
      </a:accent2>
      <a:accent3>
        <a:srgbClr val="F0D478"/>
      </a:accent3>
      <a:accent4>
        <a:srgbClr val="EDE5D8"/>
      </a:accent4>
      <a:accent5>
        <a:srgbClr val="5C5046"/>
      </a:accent5>
      <a:accent6>
        <a:srgbClr val="9C8E82"/>
      </a:accent6>
      <a:hlink>
        <a:srgbClr val="C4581A"/>
      </a:hlink>
      <a:folHlink>
        <a:srgbClr val="5C5046"/>
      </a:folHlink>
    </a:clrScheme>
    <a:fontScheme name="Office">
      <a:majorFont>
        <a:latin typeface="Calibri Light"/>
        <a:ea typeface="Calibri Light"/>
        <a:cs typeface="Calibri Light"/>
      </a:majorFont>
      <a:minorFont>
        <a:latin typeface="Calibri"/>
        <a:ea typeface="Calibri"/>
        <a:cs typeface="Calibri"/>
      </a:minorFont>
    </a:fontScheme>
    <a:fmtScheme name="Session 05 - Revenue systems with Make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5b9eda8da34900" /><Relationship Type="http://schemas.openxmlformats.org/officeDocument/2006/relationships/notesMaster" Target="/ppt/notesMasters/notesMaster1.xml" Id="R46099d6e094a4b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6e6c6ee9b94f84" /><Relationship Type="http://schemas.openxmlformats.org/officeDocument/2006/relationships/notesMaster" Target="/ppt/notesMasters/notesMaster1.xml" Id="R398577009d254a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547b019f964dea" /><Relationship Type="http://schemas.openxmlformats.org/officeDocument/2006/relationships/notesMaster" Target="/ppt/notesMasters/notesMaster1.xml" Id="Rfe74ab09bd6e4e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5c8bcfc0bf4d97" /><Relationship Type="http://schemas.openxmlformats.org/officeDocument/2006/relationships/notesMaster" Target="/ppt/notesMasters/notesMaster1.xml" Id="R278464c5c6d745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65a106f515485d" /><Relationship Type="http://schemas.openxmlformats.org/officeDocument/2006/relationships/notesMaster" Target="/ppt/notesMasters/notesMaster1.xml" Id="R48651ab6852a40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9e31cc3cff49ff" /><Relationship Type="http://schemas.openxmlformats.org/officeDocument/2006/relationships/notesMaster" Target="/ppt/notesMasters/notesMaster1.xml" Id="R8e03473aa87b40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7333fd219a46b2" /><Relationship Type="http://schemas.openxmlformats.org/officeDocument/2006/relationships/notesMaster" Target="/ppt/notesMasters/notesMaster1.xml" Id="R7fa236b6d62047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1ec8cdbf7c4d8f" /><Relationship Type="http://schemas.openxmlformats.org/officeDocument/2006/relationships/notesMaster" Target="/ppt/notesMasters/notesMaster1.xml" Id="Raf60787749e348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a516c5ed914a63" /><Relationship Type="http://schemas.openxmlformats.org/officeDocument/2006/relationships/notesMaster" Target="/ppt/notesMasters/notesMaster1.xml" Id="R77387c99ead54c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73e5e3d30e40dc" /><Relationship Type="http://schemas.openxmlformats.org/officeDocument/2006/relationships/notesMaster" Target="/ppt/notesMasters/notesMaster1.xml" Id="Rc100dad6315f4e8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bc4f5b251e4b20" /><Relationship Type="http://schemas.openxmlformats.org/officeDocument/2006/relationships/notesMaster" Target="/ppt/notesMasters/notesMaster1.xml" Id="Rc839b313caed43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a93fffead3423a" /><Relationship Type="http://schemas.openxmlformats.org/officeDocument/2006/relationships/notesMaster" Target="/ppt/notesMasters/notesMaster1.xml" Id="R078470fe587248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fd4b7e61c7461a" /><Relationship Type="http://schemas.openxmlformats.org/officeDocument/2006/relationships/notesMaster" Target="/ppt/notesMasters/notesMaster1.xml" Id="R36e9f82d895042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339176122b4557" /><Relationship Type="http://schemas.openxmlformats.org/officeDocument/2006/relationships/notesMaster" Target="/ppt/notesMasters/notesMaster1.xml" Id="R7527a29a707b43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c051cc7c3d4750" /><Relationship Type="http://schemas.openxmlformats.org/officeDocument/2006/relationships/notesMaster" Target="/ppt/notesMasters/notesMaster1.xml" Id="Re1e7ee93ecc5426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3a6356b7cce4e57" /><Relationship Type="http://schemas.openxmlformats.org/officeDocument/2006/relationships/notesMaster" Target="/ppt/notesMasters/notesMaster1.xml" Id="R47ff45d8c7df41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ae822a36524636" /><Relationship Type="http://schemas.openxmlformats.org/officeDocument/2006/relationships/notesMaster" Target="/ppt/notesMasters/notesMaster1.xml" Id="R6317137d08a248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8b1c8b7007401b" /><Relationship Type="http://schemas.openxmlformats.org/officeDocument/2006/relationships/notesMaster" Target="/ppt/notesMasters/notesMaster1.xml" Id="R05179a70bfb247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30d99a55724010" /><Relationship Type="http://schemas.openxmlformats.org/officeDocument/2006/relationships/notesMaster" Target="/ppt/notesMasters/notesMaster1.xml" Id="R448bb09be56b4d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a7ef396bd64963" /><Relationship Type="http://schemas.openxmlformats.org/officeDocument/2006/relationships/notesMaster" Target="/ppt/notesMasters/notesMaster1.xml" Id="R1496617303574b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acf2eeffb74965" /><Relationship Type="http://schemas.openxmlformats.org/officeDocument/2006/relationships/notesMaster" Target="/ppt/notesMasters/notesMaster1.xml" Id="Red991277100a44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bd6679aaa44ca9" /><Relationship Type="http://schemas.openxmlformats.org/officeDocument/2006/relationships/notesMaster" Target="/ppt/notesMasters/notesMaster1.xml" Id="R045201b69a10409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6871890c0064885" /><Relationship Type="http://schemas.openxmlformats.org/officeDocument/2006/relationships/notesMaster" Target="/ppt/notesMasters/notesMaster1.xml" Id="Rce89c98a1baf4c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3fc6b5ff7e4597" /><Relationship Type="http://schemas.openxmlformats.org/officeDocument/2006/relationships/notesMaster" Target="/ppt/notesMasters/notesMaster1.xml" Id="R9f45670f0fe941a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de7595a3bb4406a" /><Relationship Type="http://schemas.openxmlformats.org/officeDocument/2006/relationships/notesMaster" Target="/ppt/notesMasters/notesMaster1.xml" Id="R79ad005288ad4d9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4df6327d774272" /><Relationship Type="http://schemas.openxmlformats.org/officeDocument/2006/relationships/notesMaster" Target="/ppt/notesMasters/notesMaster1.xml" Id="Re2536e5b731d4f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aa744d7d46043c5" /><Relationship Type="http://schemas.openxmlformats.org/officeDocument/2006/relationships/notesMaster" Target="/ppt/notesMasters/notesMaster1.xml" Id="Rc586e8fa21334a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00:00-00:02</a:t>
            </a:r>
          </a:p>
          <a:p xmlns:a="http://schemas.openxmlformats.org/drawingml/2006/main">
            <a:r>
              <a:t/>
            </a:r>
          </a:p>
          <a:p xmlns:a="http://schemas.openxmlformats.org/drawingml/2006/main">
            <a:r>
              <a:t>Today is not a tour of Make. You will design, break, repair, and package one operating system for the product you built last session. Surprise-quiz alternate: if S5-SQ-v1 is active, keep this title visible, run the quiz 00:00-00:07, compress slides 03-04 into 00:07-00:12, then resume slide 05.</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00:02-00:05</a:t>
            </a:r>
          </a:p>
          <a:p xmlns:a="http://schemas.openxmlformats.org/drawingml/2006/main">
            <a:r>
              <a:t/>
            </a:r>
          </a:p>
          <a:p xmlns:a="http://schemas.openxmlformats.org/drawingml/2006/main">
            <a:r>
              <a:t>Students order individually. Take two answers, no correction yet.</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00:05-00:08</a:t>
            </a:r>
          </a:p>
          <a:p xmlns:a="http://schemas.openxmlformats.org/drawingml/2006/main">
            <a:r>
              <a:t/>
            </a:r>
          </a:p>
          <a:p xmlns:a="http://schemas.openxmlformats.org/drawingml/2006/main">
            <a:r>
              <a:t>Run the deliberately flawed scenario twice using the normal fixture.</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00:08-00:12</a:t>
            </a:r>
          </a:p>
          <a:p xmlns:a="http://schemas.openxmlformats.org/drawingml/2006/main">
            <a:r>
              <a:t/>
            </a:r>
          </a:p>
          <a:p xmlns:a="http://schemas.openxmlformats.org/drawingml/2006/main">
            <a:r>
              <a:t>Reveal that retried or repeated webhooks are normal. The design made send/create possible before a duplicate check.</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00:12-00:14</a:t>
            </a:r>
          </a:p>
          <a:p xmlns:a="http://schemas.openxmlformats.org/drawingml/2006/main">
            <a:r>
              <a:t/>
            </a:r>
          </a:p>
          <a:p xmlns:a="http://schemas.openxmlformats.org/drawingml/2006/main">
            <a:r>
              <a:t>Define a state as the business truth after an event, not the icon currently lit in Make.</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00:14-00:18</a:t>
            </a:r>
          </a:p>
          <a:p xmlns:a="http://schemas.openxmlformats.org/drawingml/2006/main">
            <a:r>
              <a:t/>
            </a:r>
          </a:p>
          <a:p xmlns:a="http://schemas.openxmlformats.org/drawingml/2006/main">
            <a:r>
              <a:t>Use the lead example: webhook; required fields; new/duplicate; route; draft/queue; audit row and output.</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00:18-00:20</a:t>
            </a:r>
          </a:p>
          <a:p xmlns:a="http://schemas.openxmlformats.org/drawingml/2006/main">
            <a:r>
              <a:t/>
            </a:r>
          </a:p>
          <a:p xmlns:a="http://schemas.openxmlformats.org/drawingml/2006/main">
            <a:r>
              <a:t>Approval can be a recorded state transition, not merely a notification. Drafting is safer than sending in class.</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00:20-00:22</a:t>
            </a:r>
          </a:p>
          <a:p xmlns:a="http://schemas.openxmlformats.org/drawingml/2006/main">
            <a:r>
              <a:t/>
            </a:r>
          </a:p>
          <a:p xmlns:a="http://schemas.openxmlformats.org/drawingml/2006/main">
            <a:r>
              <a:t>Default the room to GTM if time or confidence is low. Teams may choose another pack only after stating the success metric.</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00:22-00:30</a:t>
            </a:r>
          </a:p>
          <a:p xmlns:a="http://schemas.openxmlformats.org/drawingml/2006/main">
            <a:r>
              <a:t/>
            </a:r>
          </a:p>
          <a:p xmlns:a="http://schemas.openxmlformats.org/drawingml/2006/main">
            <a:r>
              <a:t>Release the initial template. Do not answer which Make module questions yet; redirect to business state and contract. State the spoken start and end.</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00:30-00:35</a:t>
            </a:r>
          </a:p>
          <a:p xmlns:a="http://schemas.openxmlformats.org/drawingml/2006/main">
            <a:r>
              <a:t/>
            </a:r>
          </a:p>
          <a:p xmlns:a="http://schemas.openxmlformats.org/drawingml/2006/main">
            <a:r>
              <a:t>Students add a terminal label and owner for all five cases.</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00:35-00:37</a:t>
            </a:r>
          </a:p>
          <a:p xmlns:a="http://schemas.openxmlformats.org/drawingml/2006/main">
            <a:r>
              <a:t/>
            </a:r>
          </a:p>
          <a:p xmlns:a="http://schemas.openxmlformats.org/drawingml/2006/main">
            <a:r>
              <a:t>Clarify that a feedback score is diagnostic and never enters the grade.</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00:37-00:42</a:t>
            </a:r>
          </a:p>
          <a:p xmlns:a="http://schemas.openxmlformats.org/drawingml/2006/main">
            <a:r>
              <a:t/>
            </a:r>
          </a:p>
          <a:p xmlns:a="http://schemas.openxmlformats.org/drawingml/2006/main">
            <a:r>
              <a:t>Show one good AI finding and one overreach. The model advises; the student owns the design.</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00:42-00:47</a:t>
            </a:r>
          </a:p>
          <a:p xmlns:a="http://schemas.openxmlformats.org/drawingml/2006/main">
            <a:r>
              <a:t/>
            </a:r>
          </a:p>
          <a:p xmlns:a="http://schemas.openxmlformats.org/drawingml/2006/main">
            <a:r>
              <a:t>Prioritise blocker repair over prettier diagrams. State the spoken start and end.</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00:47-00:52</a:t>
            </a:r>
          </a:p>
          <a:p xmlns:a="http://schemas.openxmlformats.org/drawingml/2006/main">
            <a:r>
              <a:t/>
            </a:r>
          </a:p>
          <a:p xmlns:a="http://schemas.openxmlformats.org/drawingml/2006/main">
            <a:r>
              <a:t>Every student records at least one accepted/adapted and one rejected/not-applicable suggestion where evidence supports it.</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00:52-00:54</a:t>
            </a:r>
          </a:p>
          <a:p xmlns:a="http://schemas.openxmlformats.org/drawingml/2006/main">
            <a:r>
              <a:t/>
            </a:r>
          </a:p>
          <a:p xmlns:a="http://schemas.openxmlformats.org/drawingml/2006/main">
            <a:r>
              <a:t>Describe connections as classroom substitutes, not production architecture.</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00:54-01:02</a:t>
            </a:r>
          </a:p>
          <a:p xmlns:a="http://schemas.openxmlformats.org/drawingml/2006/main">
            <a:r>
              <a:t/>
            </a:r>
          </a:p>
          <a:p xmlns:a="http://schemas.openxmlformats.org/drawingml/2006/main">
            <a:r>
              <a:t>Build and run the normal fixture. Pause after each module to map it to a flowchart node. Show the audit row and draft/queue artifact.</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01:02-01:10</a:t>
            </a:r>
          </a:p>
          <a:p xmlns:a="http://schemas.openxmlformats.org/drawingml/2006/main">
            <a:r>
              <a:t/>
            </a:r>
          </a:p>
          <a:p xmlns:a="http://schemas.openxmlformats.org/drawingml/2006/main">
            <a:r>
              <a:t>Supported teams use the starter map; extensions wait. State the spoken start and end.</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01:10-01:18</a:t>
            </a:r>
          </a:p>
          <a:p xmlns:a="http://schemas.openxmlformats.org/drawingml/2006/main">
            <a:r>
              <a:t/>
            </a:r>
          </a:p>
          <a:p xmlns:a="http://schemas.openxmlformats.org/drawingml/2006/main">
            <a:r>
              <a:t>Verify route filters are mutually legible. Make router routes execute sequentially, but do not rely on route order as dedupe. State the spoken start and end.</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01:18-01:27</a:t>
            </a:r>
          </a:p>
          <a:p xmlns:a="http://schemas.openxmlformats.org/drawingml/2006/main">
            <a:r>
              <a:t/>
            </a:r>
          </a:p>
          <a:p xmlns:a="http://schemas.openxmlformats.org/drawingml/2006/main">
            <a:r>
              <a:t>Refuse green bubbles only as proof; students must identify the resulting business state. State the spoken start and end.</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01:27-01:30</a:t>
            </a:r>
          </a:p>
          <a:p xmlns:a="http://schemas.openxmlformats.org/drawingml/2006/main">
            <a:r>
              <a:t/>
            </a:r>
          </a:p>
          <a:p xmlns:a="http://schemas.openxmlformats.org/drawingml/2006/main">
            <a:r>
              <a:t>Expected results remain hidden until predictions are submitted.</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01:30-01:41</a:t>
            </a:r>
          </a:p>
          <a:p xmlns:a="http://schemas.openxmlformats.org/drawingml/2006/main">
            <a:r>
              <a:t/>
            </a:r>
          </a:p>
          <a:p xmlns:a="http://schemas.openxmlformats.org/drawingml/2006/main">
            <a:r>
              <a:t>Release one fixture every 2-3 minutes. Students may use replay if live services are slow.</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01:41-01:44</a:t>
            </a:r>
          </a:p>
          <a:p xmlns:a="http://schemas.openxmlformats.org/drawingml/2006/main">
            <a:r>
              <a:t/>
            </a:r>
          </a:p>
          <a:p xmlns:a="http://schemas.openxmlformats.org/drawingml/2006/main">
            <a:r>
              <a:t>The raw Make blueprint is private assessment evidence, never a public download. A public clone is allowed only through Make's official scenario-sharing link after privacy review; otherwise withhold the clone surface. Both artifacts can reveal static settings, mapped values, notes and URLs even though connections are omitted. Make behavior was verified 30 July 2026 and requires T-7 recheck.</a:t>
            </a:r>
          </a:p>
          <a:p xmlns:a="http://schemas.openxmlformats.org/drawingml/2006/main">
            <a:r>
              <a:t/>
            </a:r>
          </a:p>
          <a:p xmlns:a="http://schemas.openxmlformats.org/drawingml/2006/main">
            <a:r>
              <a:t>[Sources]</a:t>
            </a:r>
          </a:p>
          <a:p xmlns:a="http://schemas.openxmlformats.org/drawingml/2006/main">
            <a:r>
              <a:t>- lms/course/session-05/deck-script.md</a:t>
            </a:r>
          </a:p>
          <a:p xmlns:a="http://schemas.openxmlformats.org/drawingml/2006/main">
            <a:r>
              <a:t>- https://help.make.com/blueprints</a:t>
            </a:r>
          </a:p>
          <a:p xmlns:a="http://schemas.openxmlformats.org/drawingml/2006/main">
            <a:r>
              <a:t>- https://help.make.com/scenario-sharing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01:44-01:48</a:t>
            </a:r>
          </a:p>
          <a:p xmlns:a="http://schemas.openxmlformats.org/drawingml/2006/main">
            <a:r>
              <a:t/>
            </a:r>
          </a:p>
          <a:p xmlns:a="http://schemas.openxmlformats.org/drawingml/2006/main">
            <a:r>
              <a:t>Explain why each artifact answers a different trust question. The blueprint JSON remains private evidence. The only permitted public clone surface is a privacy-cleared official Make scenario-sharing link; if that link is unsafe or unavailable, the public clone is withheld.</a:t>
            </a:r>
          </a:p>
          <a:p xmlns:a="http://schemas.openxmlformats.org/drawingml/2006/main">
            <a:r>
              <a:t/>
            </a:r>
          </a:p>
          <a:p xmlns:a="http://schemas.openxmlformats.org/drawingml/2006/main">
            <a:r>
              <a:t>[Sources]</a:t>
            </a:r>
          </a:p>
          <a:p xmlns:a="http://schemas.openxmlformats.org/drawingml/2006/main">
            <a:r>
              <a:t>- lms/course/session-05/deck-script.md</a:t>
            </a:r>
          </a:p>
          <a:p xmlns:a="http://schemas.openxmlformats.org/drawingml/2006/main">
            <a:r>
              <a:t>- https://help.make.com/blueprints</a:t>
            </a:r>
          </a:p>
          <a:p xmlns:a="http://schemas.openxmlformats.org/drawingml/2006/main">
            <a:r>
              <a:t>- https://help.make.com/scenario-sharing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01:48-01:51</a:t>
            </a:r>
          </a:p>
          <a:p xmlns:a="http://schemas.openxmlformats.org/drawingml/2006/main">
            <a:r>
              <a:t/>
            </a:r>
          </a:p>
          <a:p xmlns:a="http://schemas.openxmlformats.org/drawingml/2006/main">
            <a:r>
              <a:t>Patterns are prompts, not complete detection. Use demo identities and .test domains. Delete/rotate any credential exposed during practice.</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01:51-01:54</a:t>
            </a:r>
          </a:p>
          <a:p xmlns:a="http://schemas.openxmlformats.org/drawingml/2006/main">
            <a:r>
              <a:t/>
            </a:r>
          </a:p>
          <a:p xmlns:a="http://schemas.openxmlformats.org/drawingml/2006/main">
            <a:r>
              <a:t>The raw blueprint remains private evidence and is never linked from the gallery. Publish a clone action only when it points to a privacy-cleared official Make scenario-sharing link; otherwise withhold cloning. Instructor featuring controls public exposure.</a:t>
            </a:r>
          </a:p>
          <a:p xmlns:a="http://schemas.openxmlformats.org/drawingml/2006/main">
            <a:r>
              <a:t/>
            </a:r>
          </a:p>
          <a:p xmlns:a="http://schemas.openxmlformats.org/drawingml/2006/main">
            <a:r>
              <a:t>[Sources]</a:t>
            </a:r>
          </a:p>
          <a:p xmlns:a="http://schemas.openxmlformats.org/drawingml/2006/main">
            <a:r>
              <a:t>- lms/course/session-05/deck-script.md</a:t>
            </a:r>
          </a:p>
          <a:p xmlns:a="http://schemas.openxmlformats.org/drawingml/2006/main">
            <a:r>
              <a:t>- https://help.make.com/scenario-sharing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01:54-01:57</a:t>
            </a:r>
          </a:p>
          <a:p xmlns:a="http://schemas.openxmlformats.org/drawingml/2006/main">
            <a:r>
              <a:t/>
            </a:r>
          </a:p>
          <a:p xmlns:a="http://schemas.openxmlformats.org/drawingml/2006/main">
            <a:r>
              <a:t>One repair submission is allowed after provisional feedback. Company sign-off remains pending until it is real. For final workflow-component scoring, the team may nominate candidates, but the instructor alone selects exactly one existing finalised submission version. Do not merge submissions, create an integrated package, or grade an unsubmitted composite.</a:t>
            </a:r>
          </a:p>
          <a:p xmlns:a="http://schemas.openxmlformats.org/drawingml/2006/main">
            <a:r>
              <a:t/>
            </a:r>
          </a:p>
          <a:p xmlns:a="http://schemas.openxmlformats.org/drawingml/2006/main">
            <a:r>
              <a:t>[Sources]</a:t>
            </a:r>
          </a:p>
          <a:p xmlns:a="http://schemas.openxmlformats.org/drawingml/2006/main">
            <a:r>
              <a:t>- lms/course/session-05/deck-script.md</a:t>
            </a:r>
          </a:p>
          <a:p xmlns:a="http://schemas.openxmlformats.org/drawingml/2006/main">
            <a:r>
              <a:t>- Reviewed Session 05 final-version selection contract (30 Jul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01:57-02:00</a:t>
            </a:r>
          </a:p>
          <a:p xmlns:a="http://schemas.openxmlformats.org/drawingml/2006/main">
            <a:r>
              <a:t/>
            </a:r>
          </a:p>
          <a:p xmlns:a="http://schemas.openxmlformats.org/drawingml/2006/main">
            <a:r>
              <a:t>Collect responses. Bridge to company process mapping, real sign-off, and the later AI interview defence.</a:t>
            </a:r>
          </a:p>
          <a:p xmlns:a="http://schemas.openxmlformats.org/drawingml/2006/main">
            <a:r>
              <a:t/>
            </a:r>
          </a:p>
          <a:p xmlns:a="http://schemas.openxmlformats.org/drawingml/2006/main">
            <a:r>
              <a:t>[Sources]</a:t>
            </a:r>
          </a:p>
          <a:p xmlns:a="http://schemas.openxmlformats.org/drawingml/2006/main">
            <a:r>
              <a:t>- lms/course/session-05/deck-script.md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ab2c459d6d4b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5a1d8a5075458e" /><Relationship Type="http://schemas.openxmlformats.org/officeDocument/2006/relationships/slideLayout" Target="/ppt/slideLayouts/slideLayout1.xml" Id="R66fe7c057e9846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fe7c057e9846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ession 05 - Revenue systems with Make Editorial">
      <a:dk1>
        <a:srgbClr val="1F1A14"/>
      </a:dk1>
      <a:lt1>
        <a:srgbClr val="FFFFFF"/>
      </a:lt1>
      <a:dk2>
        <a:srgbClr val="1E3A35"/>
      </a:dk2>
      <a:lt2>
        <a:srgbClr val="F5F0E8"/>
      </a:lt2>
      <a:accent1>
        <a:srgbClr val="1E3A35"/>
      </a:accent1>
      <a:accent2>
        <a:srgbClr val="C4581A"/>
      </a:accent2>
      <a:accent3>
        <a:srgbClr val="F0D478"/>
      </a:accent3>
      <a:accent4>
        <a:srgbClr val="EDE5D8"/>
      </a:accent4>
      <a:accent5>
        <a:srgbClr val="5C5046"/>
      </a:accent5>
      <a:accent6>
        <a:srgbClr val="9C8E82"/>
      </a:accent6>
      <a:hlink>
        <a:srgbClr val="C4581A"/>
      </a:hlink>
      <a:folHlink>
        <a:srgbClr val="5C5046"/>
      </a:folHlink>
    </a:clrScheme>
    <a:fontScheme name="Office">
      <a:majorFont>
        <a:latin typeface="Calibri Light"/>
        <a:ea typeface="Calibri Light"/>
        <a:cs typeface="Calibri Light"/>
      </a:majorFont>
      <a:minorFont>
        <a:latin typeface="Calibri"/>
        <a:ea typeface="Calibri"/>
        <a:cs typeface="Calibri"/>
      </a:minorFont>
    </a:fontScheme>
    <a:fmtScheme name="Session 05 - Revenue systems with Make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e3d4ad390d4dfe" /><Relationship Type="http://schemas.openxmlformats.org/officeDocument/2006/relationships/notesSlide" Target="/ppt/notesSlides/notesSlide1.xml" Id="R76c20da85e6c4a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c219edf20441a6" /><Relationship Type="http://schemas.openxmlformats.org/officeDocument/2006/relationships/notesSlide" Target="/ppt/notesSlides/notesSlide2.xml" Id="R8b99f55a4ce44c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84ffee00d1e4f06" /><Relationship Type="http://schemas.openxmlformats.org/officeDocument/2006/relationships/notesSlide" Target="/ppt/notesSlides/notesSlide3.xml" Id="Raff6b8e9e2644c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bc424000934e0f" /><Relationship Type="http://schemas.openxmlformats.org/officeDocument/2006/relationships/notesSlide" Target="/ppt/notesSlides/notesSlide4.xml" Id="R4f33b0cdbe1240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81a52433664c16" /><Relationship Type="http://schemas.openxmlformats.org/officeDocument/2006/relationships/notesSlide" Target="/ppt/notesSlides/notesSlide5.xml" Id="R00c69b5d827b4c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b9662be49a44da" /><Relationship Type="http://schemas.openxmlformats.org/officeDocument/2006/relationships/notesSlide" Target="/ppt/notesSlides/notesSlide6.xml" Id="R7008814f6c6a4a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12e72f19dc430a" /><Relationship Type="http://schemas.openxmlformats.org/officeDocument/2006/relationships/notesSlide" Target="/ppt/notesSlides/notesSlide7.xml" Id="R074a9b2383d343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ed214be2054738" /><Relationship Type="http://schemas.openxmlformats.org/officeDocument/2006/relationships/notesSlide" Target="/ppt/notesSlides/notesSlide8.xml" Id="Rd8b0647c22d84b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37b04f180a46ac" /><Relationship Type="http://schemas.openxmlformats.org/officeDocument/2006/relationships/notesSlide" Target="/ppt/notesSlides/notesSlide9.xml" Id="R23f240a54f8b49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77f85362354516" /><Relationship Type="http://schemas.openxmlformats.org/officeDocument/2006/relationships/notesSlide" Target="/ppt/notesSlides/notesSlide10.xml" Id="R781cd976b40b47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b67d25d41e44df" /><Relationship Type="http://schemas.openxmlformats.org/officeDocument/2006/relationships/notesSlide" Target="/ppt/notesSlides/notesSlide11.xml" Id="R0c3d75d8094b42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84750ab9a3480f" /><Relationship Type="http://schemas.openxmlformats.org/officeDocument/2006/relationships/notesSlide" Target="/ppt/notesSlides/notesSlide12.xml" Id="R1332b8ecc4534c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f61da75d41433c" /><Relationship Type="http://schemas.openxmlformats.org/officeDocument/2006/relationships/notesSlide" Target="/ppt/notesSlides/notesSlide13.xml" Id="R6e1c39f8bf5f45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8f09f1c54724d9f" /><Relationship Type="http://schemas.openxmlformats.org/officeDocument/2006/relationships/notesSlide" Target="/ppt/notesSlides/notesSlide14.xml" Id="R1bdb5e46bad841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79c47155d04f84" /><Relationship Type="http://schemas.openxmlformats.org/officeDocument/2006/relationships/notesSlide" Target="/ppt/notesSlides/notesSlide15.xml" Id="R1ae1b2128f4c4a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14e052f9dee4015" /><Relationship Type="http://schemas.openxmlformats.org/officeDocument/2006/relationships/notesSlide" Target="/ppt/notesSlides/notesSlide16.xml" Id="R902f2dd311b149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f82e19e9b24a86" /><Relationship Type="http://schemas.openxmlformats.org/officeDocument/2006/relationships/notesSlide" Target="/ppt/notesSlides/notesSlide17.xml" Id="R4b39c47a589a47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f6949ecb22740e5" /><Relationship Type="http://schemas.openxmlformats.org/officeDocument/2006/relationships/notesSlide" Target="/ppt/notesSlides/notesSlide18.xml" Id="R53eeac9c0bfa4d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039be88b0124c32" /><Relationship Type="http://schemas.openxmlformats.org/officeDocument/2006/relationships/notesSlide" Target="/ppt/notesSlides/notesSlide19.xml" Id="R44becb6ef2de49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8d8bbe062484005" /><Relationship Type="http://schemas.openxmlformats.org/officeDocument/2006/relationships/notesSlide" Target="/ppt/notesSlides/notesSlide20.xml" Id="Rf9d9b3547e2f4bd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3b7e2aaf6243a5" /><Relationship Type="http://schemas.openxmlformats.org/officeDocument/2006/relationships/notesSlide" Target="/ppt/notesSlides/notesSlide21.xml" Id="Rc962f0918a2444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2a32cf87ca64437" /><Relationship Type="http://schemas.openxmlformats.org/officeDocument/2006/relationships/notesSlide" Target="/ppt/notesSlides/notesSlide22.xml" Id="Re70f7480e83141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d3c7303ad414117" /><Relationship Type="http://schemas.openxmlformats.org/officeDocument/2006/relationships/notesSlide" Target="/ppt/notesSlides/notesSlide23.xml" Id="R12e5a6bb33e541f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c8ac8895321493e" /><Relationship Type="http://schemas.openxmlformats.org/officeDocument/2006/relationships/notesSlide" Target="/ppt/notesSlides/notesSlide24.xml" Id="R4c16eb95900c41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506e67372da49ed" /><Relationship Type="http://schemas.openxmlformats.org/officeDocument/2006/relationships/notesSlide" Target="/ppt/notesSlides/notesSlide25.xml" Id="R4920842a46b04e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87a173a4ef04e03" /><Relationship Type="http://schemas.openxmlformats.org/officeDocument/2006/relationships/notesSlide" Target="/ppt/notesSlides/notesSlide26.xml" Id="R84fd65e1726c41b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1d6e6bdff204c22" /><Relationship Type="http://schemas.openxmlformats.org/officeDocument/2006/relationships/notesSlide" Target="/ppt/notesSlides/notesSlide27.xml" Id="R928ad8a4fbc94e7b" /></Relationships>
</file>

<file path=ppt/slides/slide1.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15" name="01-kicker">
            <a:extLst xmlns:a="http://schemas.openxmlformats.org/drawingml/2006/main">
              <a:ext uri="{FF2B5EF4-FFF2-40B4-BE49-F238E27FC236}">
                <a16:creationId xmlns:a16="http://schemas.microsoft.com/office/drawing/2014/main" id="{54683BF4-9B87-4D10-A8D6-6574426F4188}"/>
              </a:ext>
            </a:extLst>
          </p:cNvPr>
          <p:cNvSpPr>
            <a:spLocks xmlns:a="http://schemas.openxmlformats.org/drawingml/2006/main" noGrp="1"/>
          </p:cNvSpPr>
          <p:nvPr/>
        </p:nvSpPr>
        <p:spPr>
          <a:xfrm xmlns:a="http://schemas.openxmlformats.org/drawingml/2006/main">
            <a:off x="609600" y="68580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SESSION 05 · REVENUE SYSTEMS WITH MAKE</a:t>
            </a:r>
          </a:p>
        </p:txBody>
      </p:sp>
      <p:sp>
        <p:nvSpPr>
          <p:cNvPr id="2" name="02-cover-title">
            <a:extLst xmlns:a="http://schemas.openxmlformats.org/drawingml/2006/main">
              <a:ext uri="{FF2B5EF4-FFF2-40B4-BE49-F238E27FC236}">
                <a16:creationId xmlns:a16="http://schemas.microsoft.com/office/drawing/2014/main" id="{670FB0A3-6734-4636-ACB6-AB8D68255CBE}"/>
              </a:ext>
            </a:extLst>
          </p:cNvPr>
          <p:cNvSpPr>
            <a:spLocks xmlns:a="http://schemas.openxmlformats.org/drawingml/2006/main" noGrp="1"/>
          </p:cNvSpPr>
          <p:nvPr/>
        </p:nvSpPr>
        <p:spPr>
          <a:xfrm xmlns:a="http://schemas.openxmlformats.org/drawingml/2006/main">
            <a:off x="609600" y="1504950"/>
            <a:ext cx="1047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i="0">
                <a:solidFill>
                  <a:srgbClr val="F5F0E8"/>
                </a:solidFill>
                <a:latin typeface="Fraunces 9pt"/>
                <a:ea typeface="Fraunces 9pt"/>
                <a:cs typeface="Fraunces 9pt"/>
              </a:defRPr>
            </a:pPr>
            <a:r>
              <a:rPr sz="5850" b="1" i="0">
                <a:solidFill>
                  <a:srgbClr val="F5F0E8"/>
                </a:solidFill>
                <a:latin typeface="Fraunces 9pt"/>
                <a:ea typeface="Fraunces 9pt"/>
                <a:cs typeface="Fraunces 9pt"/>
              </a:rPr>
              <a:t>A workflow is a promise</a:t>
            </a:r>
          </a:p>
        </p:txBody>
      </p:sp>
      <p:sp>
        <p:nvSpPr>
          <p:cNvPr id="3" name="03-cover-subtitle">
            <a:extLst xmlns:a="http://schemas.openxmlformats.org/drawingml/2006/main">
              <a:ext uri="{FF2B5EF4-FFF2-40B4-BE49-F238E27FC236}">
                <a16:creationId xmlns:a16="http://schemas.microsoft.com/office/drawing/2014/main" id="{D2FDEF48-275E-47EB-8647-AC7B4DE1C731}"/>
              </a:ext>
            </a:extLst>
          </p:cNvPr>
          <p:cNvSpPr>
            <a:spLocks xmlns:a="http://schemas.openxmlformats.org/drawingml/2006/main" noGrp="1"/>
          </p:cNvSpPr>
          <p:nvPr/>
        </p:nvSpPr>
        <p:spPr>
          <a:xfrm xmlns:a="http://schemas.openxmlformats.org/drawingml/2006/main">
            <a:off x="609600" y="2762250"/>
            <a:ext cx="1000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0" i="1">
                <a:solidFill>
                  <a:srgbClr val="F0D478"/>
                </a:solidFill>
                <a:latin typeface="Fraunces 9pt"/>
                <a:ea typeface="Fraunces 9pt"/>
                <a:cs typeface="Fraunces 9pt"/>
              </a:defRPr>
            </a:pPr>
            <a:r>
              <a:rPr sz="4500" b="0" i="1">
                <a:solidFill>
                  <a:srgbClr val="F0D478"/>
                </a:solidFill>
                <a:latin typeface="Fraunces 9pt"/>
                <a:ea typeface="Fraunces 9pt"/>
                <a:cs typeface="Fraunces 9pt"/>
              </a:rPr>
              <a:t>about what happens next.</a:t>
            </a:r>
          </a:p>
        </p:txBody>
      </p:sp>
      <p:sp>
        <p:nvSpPr>
          <p:cNvPr id="4" name="04-arrow">
            <a:extLst xmlns:a="http://schemas.openxmlformats.org/drawingml/2006/main">
              <a:ext uri="{FF2B5EF4-FFF2-40B4-BE49-F238E27FC236}">
                <a16:creationId xmlns:a16="http://schemas.microsoft.com/office/drawing/2014/main" id="{B7550600-35EC-496C-BD59-E116AE17C870}"/>
              </a:ext>
            </a:extLst>
          </p:cNvPr>
          <p:cNvSpPr>
            <a:spLocks xmlns:a="http://schemas.openxmlformats.org/drawingml/2006/main" noGrp="1"/>
          </p:cNvSpPr>
          <p:nvPr/>
        </p:nvSpPr>
        <p:spPr>
          <a:xfrm xmlns:a="http://schemas.openxmlformats.org/drawingml/2006/main">
            <a:off x="2114550" y="4629150"/>
            <a:ext cx="2095500" cy="190500"/>
          </a:xfrm>
          <a:prstGeom xmlns:a="http://schemas.openxmlformats.org/drawingml/2006/main" prst="rightArrow">
            <a:avLst/>
          </a:prstGeom>
          <a:solidFill xmlns:a="http://schemas.openxmlformats.org/drawingml/2006/main">
            <a:srgbClr val="46635D"/>
          </a:solidFill>
          <a:ln xmlns:a="http://schemas.openxmlformats.org/drawingml/2006/main" w="0">
            <a:noFill/>
            <a:prstDash val="solid"/>
          </a:ln>
        </p:spPr>
      </p:sp>
      <p:sp>
        <p:nvSpPr>
          <p:cNvPr id="5" name="05-arrow">
            <a:extLst xmlns:a="http://schemas.openxmlformats.org/drawingml/2006/main">
              <a:ext uri="{FF2B5EF4-FFF2-40B4-BE49-F238E27FC236}">
                <a16:creationId xmlns:a16="http://schemas.microsoft.com/office/drawing/2014/main" id="{3B37B61D-2B6C-4738-9D99-56FBC9CD9FDC}"/>
              </a:ext>
            </a:extLst>
          </p:cNvPr>
          <p:cNvSpPr>
            <a:spLocks xmlns:a="http://schemas.openxmlformats.org/drawingml/2006/main" noGrp="1"/>
          </p:cNvSpPr>
          <p:nvPr/>
        </p:nvSpPr>
        <p:spPr>
          <a:xfrm xmlns:a="http://schemas.openxmlformats.org/drawingml/2006/main">
            <a:off x="6553200" y="4629150"/>
            <a:ext cx="2095500" cy="190500"/>
          </a:xfrm>
          <a:prstGeom xmlns:a="http://schemas.openxmlformats.org/drawingml/2006/main" prst="rightArrow">
            <a:avLst/>
          </a:prstGeom>
          <a:solidFill xmlns:a="http://schemas.openxmlformats.org/drawingml/2006/main">
            <a:srgbClr val="46635D"/>
          </a:solidFill>
          <a:ln xmlns:a="http://schemas.openxmlformats.org/drawingml/2006/main" w="0">
            <a:noFill/>
            <a:prstDash val="solid"/>
          </a:ln>
        </p:spPr>
      </p:sp>
      <p:sp>
        <p:nvSpPr>
          <p:cNvPr id="6" name="06-node-bg">
            <a:extLst xmlns:a="http://schemas.openxmlformats.org/drawingml/2006/main">
              <a:ext uri="{FF2B5EF4-FFF2-40B4-BE49-F238E27FC236}">
                <a16:creationId xmlns:a16="http://schemas.microsoft.com/office/drawing/2014/main" id="{C7E363E8-0133-4507-A227-0736EDADFC91}"/>
              </a:ext>
            </a:extLst>
          </p:cNvPr>
          <p:cNvSpPr>
            <a:spLocks xmlns:a="http://schemas.openxmlformats.org/drawingml/2006/main" noGrp="1"/>
          </p:cNvSpPr>
          <p:nvPr/>
        </p:nvSpPr>
        <p:spPr>
          <a:xfrm xmlns:a="http://schemas.openxmlformats.org/drawingml/2006/main">
            <a:off x="685800" y="4171950"/>
            <a:ext cx="1809750" cy="1066800"/>
          </a:xfrm>
          <a:prstGeom xmlns:a="http://schemas.openxmlformats.org/drawingml/2006/main" prst="rect">
            <a:avLst/>
          </a:prstGeom>
          <a:solidFill xmlns:a="http://schemas.openxmlformats.org/drawingml/2006/main">
            <a:srgbClr val="294A43"/>
          </a:solidFill>
          <a:ln xmlns:a="http://schemas.openxmlformats.org/drawingml/2006/main" w="14288">
            <a:solidFill>
              <a:srgbClr val="6B8A82"/>
            </a:solidFill>
            <a:prstDash val="solid"/>
          </a:ln>
        </p:spPr>
      </p:sp>
      <p:sp>
        <p:nvSpPr>
          <p:cNvPr id="7" name="07-node-label">
            <a:extLst xmlns:a="http://schemas.openxmlformats.org/drawingml/2006/main">
              <a:ext uri="{FF2B5EF4-FFF2-40B4-BE49-F238E27FC236}">
                <a16:creationId xmlns:a16="http://schemas.microsoft.com/office/drawing/2014/main" id="{9945A9F8-9ED1-4D5E-ADAB-D987E5B97749}"/>
              </a:ext>
            </a:extLst>
          </p:cNvPr>
          <p:cNvSpPr>
            <a:spLocks xmlns:a="http://schemas.openxmlformats.org/drawingml/2006/main" noGrp="1"/>
          </p:cNvSpPr>
          <p:nvPr/>
        </p:nvSpPr>
        <p:spPr>
          <a:xfrm xmlns:a="http://schemas.openxmlformats.org/drawingml/2006/main">
            <a:off x="800100" y="4248150"/>
            <a:ext cx="1581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F5F0E8"/>
                </a:solidFill>
                <a:latin typeface="Geist Mono"/>
                <a:ea typeface="Geist Mono"/>
                <a:cs typeface="Geist Mono"/>
              </a:defRPr>
            </a:pPr>
            <a:r>
              <a:rPr sz="1800" b="1" i="0">
                <a:solidFill>
                  <a:srgbClr val="F5F0E8"/>
                </a:solidFill>
                <a:latin typeface="Geist Mono"/>
                <a:ea typeface="Geist Mono"/>
                <a:cs typeface="Geist Mono"/>
              </a:rPr>
              <a:t>EVENT</a:t>
            </a:r>
          </a:p>
        </p:txBody>
      </p:sp>
      <p:sp>
        <p:nvSpPr>
          <p:cNvPr id="8" name="08-node-bg">
            <a:extLst xmlns:a="http://schemas.openxmlformats.org/drawingml/2006/main">
              <a:ext uri="{FF2B5EF4-FFF2-40B4-BE49-F238E27FC236}">
                <a16:creationId xmlns:a16="http://schemas.microsoft.com/office/drawing/2014/main" id="{AB217B6D-3AB0-4660-B813-26A1EE2C33E5}"/>
              </a:ext>
            </a:extLst>
          </p:cNvPr>
          <p:cNvSpPr>
            <a:spLocks xmlns:a="http://schemas.openxmlformats.org/drawingml/2006/main" noGrp="1"/>
          </p:cNvSpPr>
          <p:nvPr/>
        </p:nvSpPr>
        <p:spPr>
          <a:xfrm xmlns:a="http://schemas.openxmlformats.org/drawingml/2006/main">
            <a:off x="4210050" y="4171950"/>
            <a:ext cx="2667000" cy="1066800"/>
          </a:xfrm>
          <a:prstGeom xmlns:a="http://schemas.openxmlformats.org/drawingml/2006/main" prst="rect">
            <a:avLst/>
          </a:prstGeom>
          <a:solidFill xmlns:a="http://schemas.openxmlformats.org/drawingml/2006/main">
            <a:srgbClr val="C4581A"/>
          </a:solidFill>
          <a:ln xmlns:a="http://schemas.openxmlformats.org/drawingml/2006/main" w="14288">
            <a:solidFill>
              <a:srgbClr val="C4581A"/>
            </a:solidFill>
            <a:prstDash val="solid"/>
          </a:ln>
        </p:spPr>
      </p:sp>
      <p:sp>
        <p:nvSpPr>
          <p:cNvPr id="9" name="09-node-label">
            <a:extLst xmlns:a="http://schemas.openxmlformats.org/drawingml/2006/main">
              <a:ext uri="{FF2B5EF4-FFF2-40B4-BE49-F238E27FC236}">
                <a16:creationId xmlns:a16="http://schemas.microsoft.com/office/drawing/2014/main" id="{C4DD8D62-2469-4B27-A48E-DCCFC6AE673D}"/>
              </a:ext>
            </a:extLst>
          </p:cNvPr>
          <p:cNvSpPr>
            <a:spLocks xmlns:a="http://schemas.openxmlformats.org/drawingml/2006/main" noGrp="1"/>
          </p:cNvSpPr>
          <p:nvPr/>
        </p:nvSpPr>
        <p:spPr>
          <a:xfrm xmlns:a="http://schemas.openxmlformats.org/drawingml/2006/main">
            <a:off x="4324350" y="4248150"/>
            <a:ext cx="2438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F5F0E8"/>
                </a:solidFill>
                <a:latin typeface="Geist Mono"/>
                <a:ea typeface="Geist Mono"/>
                <a:cs typeface="Geist Mono"/>
              </a:defRPr>
            </a:pPr>
            <a:r>
              <a:rPr sz="1575" b="1" i="0">
                <a:solidFill>
                  <a:srgbClr val="F5F0E8"/>
                </a:solidFill>
                <a:latin typeface="Geist Mono"/>
                <a:ea typeface="Geist Mono"/>
                <a:cs typeface="Geist Mono"/>
              </a:rPr>
              <a:t>CONTROLLED STATE</a:t>
            </a:r>
          </a:p>
        </p:txBody>
      </p:sp>
      <p:sp>
        <p:nvSpPr>
          <p:cNvPr id="10" name="10-node-bg">
            <a:extLst xmlns:a="http://schemas.openxmlformats.org/drawingml/2006/main">
              <a:ext uri="{FF2B5EF4-FFF2-40B4-BE49-F238E27FC236}">
                <a16:creationId xmlns:a16="http://schemas.microsoft.com/office/drawing/2014/main" id="{B1F48A00-2517-4997-8C07-69B28F7F02FB}"/>
              </a:ext>
            </a:extLst>
          </p:cNvPr>
          <p:cNvSpPr>
            <a:spLocks xmlns:a="http://schemas.openxmlformats.org/drawingml/2006/main" noGrp="1"/>
          </p:cNvSpPr>
          <p:nvPr/>
        </p:nvSpPr>
        <p:spPr>
          <a:xfrm xmlns:a="http://schemas.openxmlformats.org/drawingml/2006/main">
            <a:off x="8648700" y="4171950"/>
            <a:ext cx="2857500" cy="1066800"/>
          </a:xfrm>
          <a:prstGeom xmlns:a="http://schemas.openxmlformats.org/drawingml/2006/main" prst="rect">
            <a:avLst/>
          </a:prstGeom>
          <a:solidFill xmlns:a="http://schemas.openxmlformats.org/drawingml/2006/main">
            <a:srgbClr val="294A43"/>
          </a:solidFill>
          <a:ln xmlns:a="http://schemas.openxmlformats.org/drawingml/2006/main" w="14288">
            <a:solidFill>
              <a:srgbClr val="6B8A82"/>
            </a:solidFill>
            <a:prstDash val="solid"/>
          </a:ln>
        </p:spPr>
      </p:sp>
      <p:sp>
        <p:nvSpPr>
          <p:cNvPr id="11" name="11-node-label">
            <a:extLst xmlns:a="http://schemas.openxmlformats.org/drawingml/2006/main">
              <a:ext uri="{FF2B5EF4-FFF2-40B4-BE49-F238E27FC236}">
                <a16:creationId xmlns:a16="http://schemas.microsoft.com/office/drawing/2014/main" id="{CF057CAB-0AFB-4B8F-994F-5E12AD52EFC6}"/>
              </a:ext>
            </a:extLst>
          </p:cNvPr>
          <p:cNvSpPr>
            <a:spLocks xmlns:a="http://schemas.openxmlformats.org/drawingml/2006/main" noGrp="1"/>
          </p:cNvSpPr>
          <p:nvPr/>
        </p:nvSpPr>
        <p:spPr>
          <a:xfrm xmlns:a="http://schemas.openxmlformats.org/drawingml/2006/main">
            <a:off x="8763000" y="4248150"/>
            <a:ext cx="2628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5F0E8"/>
                </a:solidFill>
                <a:latin typeface="Geist Mono"/>
                <a:ea typeface="Geist Mono"/>
                <a:cs typeface="Geist Mono"/>
              </a:defRPr>
            </a:pPr>
            <a:r>
              <a:rPr sz="1500" b="1" i="0">
                <a:solidFill>
                  <a:srgbClr val="F5F0E8"/>
                </a:solidFill>
                <a:latin typeface="Geist Mono"/>
                <a:ea typeface="Geist Mono"/>
                <a:cs typeface="Geist Mono"/>
              </a:rPr>
              <a:t>VERIFIED OUTCOME</a:t>
            </a:r>
          </a:p>
        </p:txBody>
      </p:sp>
      <p:sp>
        <p:nvSpPr>
          <p:cNvPr id="12" name="12-footer-rule">
            <a:extLst xmlns:a="http://schemas.openxmlformats.org/drawingml/2006/main">
              <a:ext uri="{FF2B5EF4-FFF2-40B4-BE49-F238E27FC236}">
                <a16:creationId xmlns:a16="http://schemas.microsoft.com/office/drawing/2014/main" id="{EEC6FF1E-CD6E-423D-A5BA-A9CFEC89B457}"/>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13" name="13-footer-left">
            <a:extLst xmlns:a="http://schemas.openxmlformats.org/drawingml/2006/main">
              <a:ext uri="{FF2B5EF4-FFF2-40B4-BE49-F238E27FC236}">
                <a16:creationId xmlns:a16="http://schemas.microsoft.com/office/drawing/2014/main" id="{11BCFFBA-5577-4C83-9C18-74697CB9B0D3}"/>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00:00-00:02</a:t>
            </a:r>
          </a:p>
        </p:txBody>
      </p:sp>
      <p:sp>
        <p:nvSpPr>
          <p:cNvPr id="14" name="14-footer-right">
            <a:extLst xmlns:a="http://schemas.openxmlformats.org/drawingml/2006/main">
              <a:ext uri="{FF2B5EF4-FFF2-40B4-BE49-F238E27FC236}">
                <a16:creationId xmlns:a16="http://schemas.microsoft.com/office/drawing/2014/main" id="{91675512-DDD6-40A2-BE24-45D21C364CC2}"/>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01 / 27</a:t>
            </a:r>
          </a:p>
        </p:txBody>
      </p:sp>
    </p:spTree>
    <p:extLst>
      <p:ext uri="{BB962C8B-B14F-4D97-AF65-F5344CB8AC3E}">
        <p14:creationId xmlns:p14="http://schemas.microsoft.com/office/powerpoint/2010/main" val="188212457"/>
      </p:ext>
    </p:extLst>
  </p:cSld>
</p:sld>
</file>

<file path=ppt/slides/slide2.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8" name="01-kicker">
            <a:extLst xmlns:a="http://schemas.openxmlformats.org/drawingml/2006/main">
              <a:ext uri="{FF2B5EF4-FFF2-40B4-BE49-F238E27FC236}">
                <a16:creationId xmlns:a16="http://schemas.microsoft.com/office/drawing/2014/main" id="{E75F6FB0-D467-4478-9F46-37B7613A517A}"/>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INDIVIDUAL · NO CORRECTION YET</a:t>
            </a:r>
          </a:p>
        </p:txBody>
      </p:sp>
      <p:sp>
        <p:nvSpPr>
          <p:cNvPr id="2" name="02-title">
            <a:extLst xmlns:a="http://schemas.openxmlformats.org/drawingml/2006/main">
              <a:ext uri="{FF2B5EF4-FFF2-40B4-BE49-F238E27FC236}">
                <a16:creationId xmlns:a16="http://schemas.microsoft.com/office/drawing/2014/main" id="{DEAF3683-78C8-4B8F-AA68-D1284FDC750B}"/>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Put these in order</a:t>
            </a:r>
          </a:p>
        </p:txBody>
      </p:sp>
      <p:sp>
        <p:nvSpPr>
          <p:cNvPr id="3" name="03-title-rule">
            <a:extLst xmlns:a="http://schemas.openxmlformats.org/drawingml/2006/main">
              <a:ext uri="{FF2B5EF4-FFF2-40B4-BE49-F238E27FC236}">
                <a16:creationId xmlns:a16="http://schemas.microsoft.com/office/drawing/2014/main" id="{492E220F-85B7-4F29-8C0F-246F22AFFB56}"/>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order-block">
            <a:extLst xmlns:a="http://schemas.openxmlformats.org/drawingml/2006/main">
              <a:ext uri="{FF2B5EF4-FFF2-40B4-BE49-F238E27FC236}">
                <a16:creationId xmlns:a16="http://schemas.microsoft.com/office/drawing/2014/main" id="{B6807CDE-D2B9-4E3C-8BE7-F49A21C28186}"/>
              </a:ext>
            </a:extLst>
          </p:cNvPr>
          <p:cNvSpPr>
            <a:spLocks xmlns:a="http://schemas.openxmlformats.org/drawingml/2006/main" noGrp="1"/>
          </p:cNvSpPr>
          <p:nvPr/>
        </p:nvSpPr>
        <p:spPr>
          <a:xfrm xmlns:a="http://schemas.openxmlformats.org/drawingml/2006/main">
            <a:off x="704850" y="2343150"/>
            <a:ext cx="1962150" cy="1219200"/>
          </a:xfrm>
          <a:prstGeom xmlns:a="http://schemas.openxmlformats.org/drawingml/2006/main" prst="rect">
            <a:avLst/>
          </a:prstGeom>
          <a:solidFill xmlns:a="http://schemas.openxmlformats.org/drawingml/2006/main">
            <a:srgbClr val="FFFFFF"/>
          </a:solidFill>
          <a:ln xmlns:a="http://schemas.openxmlformats.org/drawingml/2006/main" w="19050">
            <a:solidFill>
              <a:srgbClr val="EDE5D8"/>
            </a:solidFill>
            <a:prstDash val="solid"/>
          </a:ln>
        </p:spPr>
      </p:sp>
      <p:sp>
        <p:nvSpPr>
          <p:cNvPr id="5" name="05-order-label">
            <a:extLst xmlns:a="http://schemas.openxmlformats.org/drawingml/2006/main">
              <a:ext uri="{FF2B5EF4-FFF2-40B4-BE49-F238E27FC236}">
                <a16:creationId xmlns:a16="http://schemas.microsoft.com/office/drawing/2014/main" id="{4DC89F8E-25E4-45D4-933E-E489B054FD47}"/>
              </a:ext>
            </a:extLst>
          </p:cNvPr>
          <p:cNvSpPr>
            <a:spLocks xmlns:a="http://schemas.openxmlformats.org/drawingml/2006/main" noGrp="1"/>
          </p:cNvSpPr>
          <p:nvPr/>
        </p:nvSpPr>
        <p:spPr>
          <a:xfrm xmlns:a="http://schemas.openxmlformats.org/drawingml/2006/main">
            <a:off x="857250" y="2533650"/>
            <a:ext cx="1657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F1A14"/>
                </a:solidFill>
                <a:latin typeface="Geist"/>
                <a:ea typeface="Geist"/>
                <a:cs typeface="Geist"/>
              </a:defRPr>
            </a:pPr>
            <a:r>
              <a:rPr sz="1650" b="1" i="0">
                <a:solidFill>
                  <a:srgbClr val="1F1A14"/>
                </a:solidFill>
                <a:latin typeface="Geist"/>
                <a:ea typeface="Geist"/>
                <a:cs typeface="Geist"/>
              </a:rPr>
              <a:t>approval requested</a:t>
            </a:r>
          </a:p>
        </p:txBody>
      </p:sp>
      <p:sp>
        <p:nvSpPr>
          <p:cNvPr id="6" name="06-order-block">
            <a:extLst xmlns:a="http://schemas.openxmlformats.org/drawingml/2006/main">
              <a:ext uri="{FF2B5EF4-FFF2-40B4-BE49-F238E27FC236}">
                <a16:creationId xmlns:a16="http://schemas.microsoft.com/office/drawing/2014/main" id="{CA1A3E66-A6FF-4CF0-88BD-1A131227F8EE}"/>
              </a:ext>
            </a:extLst>
          </p:cNvPr>
          <p:cNvSpPr>
            <a:spLocks xmlns:a="http://schemas.openxmlformats.org/drawingml/2006/main" noGrp="1"/>
          </p:cNvSpPr>
          <p:nvPr/>
        </p:nvSpPr>
        <p:spPr>
          <a:xfrm xmlns:a="http://schemas.openxmlformats.org/drawingml/2006/main">
            <a:off x="2914650" y="2762250"/>
            <a:ext cx="1962150" cy="1219200"/>
          </a:xfrm>
          <a:prstGeom xmlns:a="http://schemas.openxmlformats.org/drawingml/2006/main" prst="rect">
            <a:avLst/>
          </a:prstGeom>
          <a:solidFill xmlns:a="http://schemas.openxmlformats.org/drawingml/2006/main">
            <a:srgbClr val="FFFFFF"/>
          </a:solidFill>
          <a:ln xmlns:a="http://schemas.openxmlformats.org/drawingml/2006/main" w="19050">
            <a:solidFill>
              <a:srgbClr val="EDE5D8"/>
            </a:solidFill>
            <a:prstDash val="solid"/>
          </a:ln>
        </p:spPr>
      </p:sp>
      <p:sp>
        <p:nvSpPr>
          <p:cNvPr id="7" name="07-order-label">
            <a:extLst xmlns:a="http://schemas.openxmlformats.org/drawingml/2006/main">
              <a:ext uri="{FF2B5EF4-FFF2-40B4-BE49-F238E27FC236}">
                <a16:creationId xmlns:a16="http://schemas.microsoft.com/office/drawing/2014/main" id="{78740DFD-A668-410C-BECC-930528246A3A}"/>
              </a:ext>
            </a:extLst>
          </p:cNvPr>
          <p:cNvSpPr>
            <a:spLocks xmlns:a="http://schemas.openxmlformats.org/drawingml/2006/main" noGrp="1"/>
          </p:cNvSpPr>
          <p:nvPr/>
        </p:nvSpPr>
        <p:spPr>
          <a:xfrm xmlns:a="http://schemas.openxmlformats.org/drawingml/2006/main">
            <a:off x="3067050" y="2952750"/>
            <a:ext cx="1657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F1A14"/>
                </a:solidFill>
                <a:latin typeface="Geist"/>
                <a:ea typeface="Geist"/>
                <a:cs typeface="Geist"/>
              </a:defRPr>
            </a:pPr>
            <a:r>
              <a:rPr sz="1650" b="1" i="0">
                <a:solidFill>
                  <a:srgbClr val="1F1A14"/>
                </a:solidFill>
                <a:latin typeface="Geist"/>
                <a:ea typeface="Geist"/>
                <a:cs typeface="Geist"/>
              </a:rPr>
              <a:t>lead received</a:t>
            </a:r>
          </a:p>
        </p:txBody>
      </p:sp>
      <p:sp>
        <p:nvSpPr>
          <p:cNvPr id="8" name="08-order-block">
            <a:extLst xmlns:a="http://schemas.openxmlformats.org/drawingml/2006/main">
              <a:ext uri="{FF2B5EF4-FFF2-40B4-BE49-F238E27FC236}">
                <a16:creationId xmlns:a16="http://schemas.microsoft.com/office/drawing/2014/main" id="{5EEE166F-109E-49E9-8B62-FEB068801A06}"/>
              </a:ext>
            </a:extLst>
          </p:cNvPr>
          <p:cNvSpPr>
            <a:spLocks xmlns:a="http://schemas.openxmlformats.org/drawingml/2006/main" noGrp="1"/>
          </p:cNvSpPr>
          <p:nvPr/>
        </p:nvSpPr>
        <p:spPr>
          <a:xfrm xmlns:a="http://schemas.openxmlformats.org/drawingml/2006/main">
            <a:off x="5124450" y="2343150"/>
            <a:ext cx="1962150" cy="1219200"/>
          </a:xfrm>
          <a:prstGeom xmlns:a="http://schemas.openxmlformats.org/drawingml/2006/main" prst="rect">
            <a:avLst/>
          </a:prstGeom>
          <a:solidFill xmlns:a="http://schemas.openxmlformats.org/drawingml/2006/main">
            <a:srgbClr val="FFFFFF"/>
          </a:solidFill>
          <a:ln xmlns:a="http://schemas.openxmlformats.org/drawingml/2006/main" w="19050">
            <a:solidFill>
              <a:srgbClr val="EDE5D8"/>
            </a:solidFill>
            <a:prstDash val="solid"/>
          </a:ln>
        </p:spPr>
      </p:sp>
      <p:sp>
        <p:nvSpPr>
          <p:cNvPr id="9" name="09-order-label">
            <a:extLst xmlns:a="http://schemas.openxmlformats.org/drawingml/2006/main">
              <a:ext uri="{FF2B5EF4-FFF2-40B4-BE49-F238E27FC236}">
                <a16:creationId xmlns:a16="http://schemas.microsoft.com/office/drawing/2014/main" id="{C6BE60A9-83E7-445F-BB39-86F2515F95D6}"/>
              </a:ext>
            </a:extLst>
          </p:cNvPr>
          <p:cNvSpPr>
            <a:spLocks xmlns:a="http://schemas.openxmlformats.org/drawingml/2006/main" noGrp="1"/>
          </p:cNvSpPr>
          <p:nvPr/>
        </p:nvSpPr>
        <p:spPr>
          <a:xfrm xmlns:a="http://schemas.openxmlformats.org/drawingml/2006/main">
            <a:off x="5276850" y="2533650"/>
            <a:ext cx="1657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F1A14"/>
                </a:solidFill>
                <a:latin typeface="Geist"/>
                <a:ea typeface="Geist"/>
                <a:cs typeface="Geist"/>
              </a:defRPr>
            </a:pPr>
            <a:r>
              <a:rPr sz="1650" b="1" i="0">
                <a:solidFill>
                  <a:srgbClr val="1F1A14"/>
                </a:solidFill>
                <a:latin typeface="Geist"/>
                <a:ea typeface="Geist"/>
                <a:cs typeface="Geist"/>
              </a:rPr>
              <a:t>follow-up drafted</a:t>
            </a:r>
          </a:p>
        </p:txBody>
      </p:sp>
      <p:sp>
        <p:nvSpPr>
          <p:cNvPr id="10" name="10-order-block">
            <a:extLst xmlns:a="http://schemas.openxmlformats.org/drawingml/2006/main">
              <a:ext uri="{FF2B5EF4-FFF2-40B4-BE49-F238E27FC236}">
                <a16:creationId xmlns:a16="http://schemas.microsoft.com/office/drawing/2014/main" id="{319324F3-3150-42FA-9FEC-EC43A2A5FD40}"/>
              </a:ext>
            </a:extLst>
          </p:cNvPr>
          <p:cNvSpPr>
            <a:spLocks xmlns:a="http://schemas.openxmlformats.org/drawingml/2006/main" noGrp="1"/>
          </p:cNvSpPr>
          <p:nvPr/>
        </p:nvSpPr>
        <p:spPr>
          <a:xfrm xmlns:a="http://schemas.openxmlformats.org/drawingml/2006/main">
            <a:off x="7334250" y="2762250"/>
            <a:ext cx="1962150" cy="1219200"/>
          </a:xfrm>
          <a:prstGeom xmlns:a="http://schemas.openxmlformats.org/drawingml/2006/main" prst="rect">
            <a:avLst/>
          </a:prstGeom>
          <a:solidFill xmlns:a="http://schemas.openxmlformats.org/drawingml/2006/main">
            <a:srgbClr val="FAEEE7"/>
          </a:solidFill>
          <a:ln xmlns:a="http://schemas.openxmlformats.org/drawingml/2006/main" w="19050">
            <a:solidFill>
              <a:srgbClr val="C4581A"/>
            </a:solidFill>
            <a:prstDash val="solid"/>
          </a:ln>
        </p:spPr>
      </p:sp>
      <p:sp>
        <p:nvSpPr>
          <p:cNvPr id="11" name="11-order-label">
            <a:extLst xmlns:a="http://schemas.openxmlformats.org/drawingml/2006/main">
              <a:ext uri="{FF2B5EF4-FFF2-40B4-BE49-F238E27FC236}">
                <a16:creationId xmlns:a16="http://schemas.microsoft.com/office/drawing/2014/main" id="{B96B343E-D99B-441D-A329-E70A64AE0404}"/>
              </a:ext>
            </a:extLst>
          </p:cNvPr>
          <p:cNvSpPr>
            <a:spLocks xmlns:a="http://schemas.openxmlformats.org/drawingml/2006/main" noGrp="1"/>
          </p:cNvSpPr>
          <p:nvPr/>
        </p:nvSpPr>
        <p:spPr>
          <a:xfrm xmlns:a="http://schemas.openxmlformats.org/drawingml/2006/main">
            <a:off x="7486650" y="2952750"/>
            <a:ext cx="1657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C4581A"/>
                </a:solidFill>
                <a:latin typeface="Geist"/>
                <a:ea typeface="Geist"/>
                <a:cs typeface="Geist"/>
              </a:defRPr>
            </a:pPr>
            <a:r>
              <a:rPr sz="1650" b="1" i="0">
                <a:solidFill>
                  <a:srgbClr val="C4581A"/>
                </a:solidFill>
                <a:latin typeface="Geist"/>
                <a:ea typeface="Geist"/>
                <a:cs typeface="Geist"/>
              </a:rPr>
              <a:t>duplicate found</a:t>
            </a:r>
          </a:p>
        </p:txBody>
      </p:sp>
      <p:sp>
        <p:nvSpPr>
          <p:cNvPr id="12" name="12-order-block">
            <a:extLst xmlns:a="http://schemas.openxmlformats.org/drawingml/2006/main">
              <a:ext uri="{FF2B5EF4-FFF2-40B4-BE49-F238E27FC236}">
                <a16:creationId xmlns:a16="http://schemas.microsoft.com/office/drawing/2014/main" id="{D33860B8-6D42-4FA5-8A1C-48B638089D93}"/>
              </a:ext>
            </a:extLst>
          </p:cNvPr>
          <p:cNvSpPr>
            <a:spLocks xmlns:a="http://schemas.openxmlformats.org/drawingml/2006/main" noGrp="1"/>
          </p:cNvSpPr>
          <p:nvPr/>
        </p:nvSpPr>
        <p:spPr>
          <a:xfrm xmlns:a="http://schemas.openxmlformats.org/drawingml/2006/main">
            <a:off x="9544050" y="2343150"/>
            <a:ext cx="1962150" cy="1219200"/>
          </a:xfrm>
          <a:prstGeom xmlns:a="http://schemas.openxmlformats.org/drawingml/2006/main" prst="rect">
            <a:avLst/>
          </a:prstGeom>
          <a:solidFill xmlns:a="http://schemas.openxmlformats.org/drawingml/2006/main">
            <a:srgbClr val="FFFFFF"/>
          </a:solidFill>
          <a:ln xmlns:a="http://schemas.openxmlformats.org/drawingml/2006/main" w="19050">
            <a:solidFill>
              <a:srgbClr val="EDE5D8"/>
            </a:solidFill>
            <a:prstDash val="solid"/>
          </a:ln>
        </p:spPr>
      </p:sp>
      <p:sp>
        <p:nvSpPr>
          <p:cNvPr id="13" name="13-order-label">
            <a:extLst xmlns:a="http://schemas.openxmlformats.org/drawingml/2006/main">
              <a:ext uri="{FF2B5EF4-FFF2-40B4-BE49-F238E27FC236}">
                <a16:creationId xmlns:a16="http://schemas.microsoft.com/office/drawing/2014/main" id="{63A00379-4B0D-4AE7-91E5-EE37C041B79E}"/>
              </a:ext>
            </a:extLst>
          </p:cNvPr>
          <p:cNvSpPr>
            <a:spLocks xmlns:a="http://schemas.openxmlformats.org/drawingml/2006/main" noGrp="1"/>
          </p:cNvSpPr>
          <p:nvPr/>
        </p:nvSpPr>
        <p:spPr>
          <a:xfrm xmlns:a="http://schemas.openxmlformats.org/drawingml/2006/main">
            <a:off x="9696450" y="2533650"/>
            <a:ext cx="16573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F1A14"/>
                </a:solidFill>
                <a:latin typeface="Geist"/>
                <a:ea typeface="Geist"/>
                <a:cs typeface="Geist"/>
              </a:defRPr>
            </a:pPr>
            <a:r>
              <a:rPr sz="1650" b="1" i="0">
                <a:solidFill>
                  <a:srgbClr val="1F1A14"/>
                </a:solidFill>
                <a:latin typeface="Geist"/>
                <a:ea typeface="Geist"/>
                <a:cs typeface="Geist"/>
              </a:rPr>
              <a:t>input validated</a:t>
            </a:r>
          </a:p>
        </p:txBody>
      </p:sp>
      <p:sp>
        <p:nvSpPr>
          <p:cNvPr id="14" name="14-order-question">
            <a:extLst xmlns:a="http://schemas.openxmlformats.org/drawingml/2006/main">
              <a:ext uri="{FF2B5EF4-FFF2-40B4-BE49-F238E27FC236}">
                <a16:creationId xmlns:a16="http://schemas.microsoft.com/office/drawing/2014/main" id="{21474AAF-D683-4218-9FB0-58A08EB7041B}"/>
              </a:ext>
            </a:extLst>
          </p:cNvPr>
          <p:cNvSpPr>
            <a:spLocks xmlns:a="http://schemas.openxmlformats.org/drawingml/2006/main" noGrp="1"/>
          </p:cNvSpPr>
          <p:nvPr/>
        </p:nvSpPr>
        <p:spPr>
          <a:xfrm xmlns:a="http://schemas.openxmlformats.org/drawingml/2006/main">
            <a:off x="1619250" y="4762500"/>
            <a:ext cx="895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0" i="1">
                <a:solidFill>
                  <a:srgbClr val="1E3A35"/>
                </a:solidFill>
                <a:latin typeface="Fraunces 9pt"/>
                <a:ea typeface="Fraunces 9pt"/>
                <a:cs typeface="Fraunces 9pt"/>
              </a:defRPr>
            </a:pPr>
            <a:r>
              <a:rPr sz="2700" b="0" i="1">
                <a:solidFill>
                  <a:srgbClr val="1E3A35"/>
                </a:solidFill>
                <a:latin typeface="Fraunces 9pt"/>
                <a:ea typeface="Fraunces 9pt"/>
                <a:cs typeface="Fraunces 9pt"/>
              </a:rPr>
              <a:t>Which event must never happen twice?</a:t>
            </a:r>
          </a:p>
        </p:txBody>
      </p:sp>
      <p:sp>
        <p:nvSpPr>
          <p:cNvPr id="15" name="15-footer-rule">
            <a:extLst xmlns:a="http://schemas.openxmlformats.org/drawingml/2006/main">
              <a:ext uri="{FF2B5EF4-FFF2-40B4-BE49-F238E27FC236}">
                <a16:creationId xmlns:a16="http://schemas.microsoft.com/office/drawing/2014/main" id="{0707B809-94D1-45C7-8C47-A06AB0246EC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6" name="16-footer-left">
            <a:extLst xmlns:a="http://schemas.openxmlformats.org/drawingml/2006/main">
              <a:ext uri="{FF2B5EF4-FFF2-40B4-BE49-F238E27FC236}">
                <a16:creationId xmlns:a16="http://schemas.microsoft.com/office/drawing/2014/main" id="{D20B4518-ED32-4D2E-AA03-C19AD84308D0}"/>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00:02-00:05</a:t>
            </a:r>
          </a:p>
        </p:txBody>
      </p:sp>
      <p:sp>
        <p:nvSpPr>
          <p:cNvPr id="17" name="17-footer-right">
            <a:extLst xmlns:a="http://schemas.openxmlformats.org/drawingml/2006/main">
              <a:ext uri="{FF2B5EF4-FFF2-40B4-BE49-F238E27FC236}">
                <a16:creationId xmlns:a16="http://schemas.microsoft.com/office/drawing/2014/main" id="{A0CC9E10-F177-4C93-B9EB-B4DA5DA7C73A}"/>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02 / 27</a:t>
            </a:r>
          </a:p>
        </p:txBody>
      </p:sp>
    </p:spTree>
    <p:extLst>
      <p:ext uri="{BB962C8B-B14F-4D97-AF65-F5344CB8AC3E}">
        <p14:creationId xmlns:p14="http://schemas.microsoft.com/office/powerpoint/2010/main" val="457824155"/>
      </p:ext>
    </p:extLst>
  </p:cSld>
</p:sld>
</file>

<file path=ppt/slides/slide3.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6" name="01-kicker">
            <a:extLst xmlns:a="http://schemas.openxmlformats.org/drawingml/2006/main">
              <a:ext uri="{FF2B5EF4-FFF2-40B4-BE49-F238E27FC236}">
                <a16:creationId xmlns:a16="http://schemas.microsoft.com/office/drawing/2014/main" id="{28959B1F-A724-479F-8298-FF7C1209E516}"/>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REPLAY THE SAME NORMAL FIXTURE</a:t>
            </a:r>
          </a:p>
        </p:txBody>
      </p:sp>
      <p:sp>
        <p:nvSpPr>
          <p:cNvPr id="2" name="02-title">
            <a:extLst xmlns:a="http://schemas.openxmlformats.org/drawingml/2006/main">
              <a:ext uri="{FF2B5EF4-FFF2-40B4-BE49-F238E27FC236}">
                <a16:creationId xmlns:a16="http://schemas.microsoft.com/office/drawing/2014/main" id="{9BC6F45D-2657-44D1-8C85-8E28B8B86871}"/>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One lead, two promises</a:t>
            </a:r>
          </a:p>
        </p:txBody>
      </p:sp>
      <p:sp>
        <p:nvSpPr>
          <p:cNvPr id="3" name="03-title-rule">
            <a:extLst xmlns:a="http://schemas.openxmlformats.org/drawingml/2006/main">
              <a:ext uri="{FF2B5EF4-FFF2-40B4-BE49-F238E27FC236}">
                <a16:creationId xmlns:a16="http://schemas.microsoft.com/office/drawing/2014/main" id="{ECC8A189-B1EA-4540-800D-7870DE90E39A}"/>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event-bg">
            <a:extLst xmlns:a="http://schemas.openxmlformats.org/drawingml/2006/main">
              <a:ext uri="{FF2B5EF4-FFF2-40B4-BE49-F238E27FC236}">
                <a16:creationId xmlns:a16="http://schemas.microsoft.com/office/drawing/2014/main" id="{706E28B4-34F7-4DF5-9772-580E46336183}"/>
              </a:ext>
            </a:extLst>
          </p:cNvPr>
          <p:cNvSpPr>
            <a:spLocks xmlns:a="http://schemas.openxmlformats.org/drawingml/2006/main" noGrp="1"/>
          </p:cNvSpPr>
          <p:nvPr/>
        </p:nvSpPr>
        <p:spPr>
          <a:xfrm xmlns:a="http://schemas.openxmlformats.org/drawingml/2006/main">
            <a:off x="819150" y="2800350"/>
            <a:ext cx="2514600" cy="1104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5" name="05-event-label">
            <a:extLst xmlns:a="http://schemas.openxmlformats.org/drawingml/2006/main">
              <a:ext uri="{FF2B5EF4-FFF2-40B4-BE49-F238E27FC236}">
                <a16:creationId xmlns:a16="http://schemas.microsoft.com/office/drawing/2014/main" id="{05963919-4C5E-450E-A4E1-1F4E52F91243}"/>
              </a:ext>
            </a:extLst>
          </p:cNvPr>
          <p:cNvSpPr>
            <a:spLocks xmlns:a="http://schemas.openxmlformats.org/drawingml/2006/main" noGrp="1"/>
          </p:cNvSpPr>
          <p:nvPr/>
        </p:nvSpPr>
        <p:spPr>
          <a:xfrm xmlns:a="http://schemas.openxmlformats.org/drawingml/2006/main">
            <a:off x="1104900" y="3048000"/>
            <a:ext cx="194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event_id</a:t>
            </a:r>
          </a:p>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lead_001</a:t>
            </a:r>
          </a:p>
        </p:txBody>
      </p:sp>
      <p:sp>
        <p:nvSpPr>
          <p:cNvPr id="6" name="06-arrow">
            <a:extLst xmlns:a="http://schemas.openxmlformats.org/drawingml/2006/main">
              <a:ext uri="{FF2B5EF4-FFF2-40B4-BE49-F238E27FC236}">
                <a16:creationId xmlns:a16="http://schemas.microsoft.com/office/drawing/2014/main" id="{F74379C0-3292-4706-AFC3-0218518FA2F7}"/>
              </a:ext>
            </a:extLst>
          </p:cNvPr>
          <p:cNvSpPr>
            <a:spLocks xmlns:a="http://schemas.openxmlformats.org/drawingml/2006/main" noGrp="1"/>
          </p:cNvSpPr>
          <p:nvPr/>
        </p:nvSpPr>
        <p:spPr>
          <a:xfrm xmlns:a="http://schemas.openxmlformats.org/drawingml/2006/main">
            <a:off x="3314700" y="3048000"/>
            <a:ext cx="1790700" cy="1714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7" name="07-arrow">
            <a:extLst xmlns:a="http://schemas.openxmlformats.org/drawingml/2006/main">
              <a:ext uri="{FF2B5EF4-FFF2-40B4-BE49-F238E27FC236}">
                <a16:creationId xmlns:a16="http://schemas.microsoft.com/office/drawing/2014/main" id="{530C7190-8E88-4D3C-AE21-197984EE3165}"/>
              </a:ext>
            </a:extLst>
          </p:cNvPr>
          <p:cNvSpPr>
            <a:spLocks xmlns:a="http://schemas.openxmlformats.org/drawingml/2006/main" noGrp="1"/>
          </p:cNvSpPr>
          <p:nvPr/>
        </p:nvSpPr>
        <p:spPr>
          <a:xfrm xmlns:a="http://schemas.openxmlformats.org/drawingml/2006/main">
            <a:off x="3314700" y="3543300"/>
            <a:ext cx="1790700" cy="1714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8" name="08-node-bg">
            <a:extLst xmlns:a="http://schemas.openxmlformats.org/drawingml/2006/main">
              <a:ext uri="{FF2B5EF4-FFF2-40B4-BE49-F238E27FC236}">
                <a16:creationId xmlns:a16="http://schemas.microsoft.com/office/drawing/2014/main" id="{BE63CA6A-2A3A-49D5-B4BA-B8DBFB0CE231}"/>
              </a:ext>
            </a:extLst>
          </p:cNvPr>
          <p:cNvSpPr>
            <a:spLocks xmlns:a="http://schemas.openxmlformats.org/drawingml/2006/main" noGrp="1"/>
          </p:cNvSpPr>
          <p:nvPr/>
        </p:nvSpPr>
        <p:spPr>
          <a:xfrm xmlns:a="http://schemas.openxmlformats.org/drawingml/2006/main">
            <a:off x="5391150" y="2381250"/>
            <a:ext cx="4953000" cy="1162050"/>
          </a:xfrm>
          <a:prstGeom xmlns:a="http://schemas.openxmlformats.org/drawingml/2006/main" prst="rect">
            <a:avLst/>
          </a:prstGeom>
          <a:solidFill xmlns:a="http://schemas.openxmlformats.org/drawingml/2006/main">
            <a:srgbClr val="EAF1EE"/>
          </a:solidFill>
          <a:ln xmlns:a="http://schemas.openxmlformats.org/drawingml/2006/main" w="14288">
            <a:solidFill>
              <a:srgbClr val="1E3A35"/>
            </a:solidFill>
            <a:prstDash val="solid"/>
          </a:ln>
        </p:spPr>
      </p:sp>
      <p:sp>
        <p:nvSpPr>
          <p:cNvPr id="9" name="09-node-label">
            <a:extLst xmlns:a="http://schemas.openxmlformats.org/drawingml/2006/main">
              <a:ext uri="{FF2B5EF4-FFF2-40B4-BE49-F238E27FC236}">
                <a16:creationId xmlns:a16="http://schemas.microsoft.com/office/drawing/2014/main" id="{BB12BFCC-4EB8-4D03-B268-51BAC954E6A5}"/>
              </a:ext>
            </a:extLst>
          </p:cNvPr>
          <p:cNvSpPr>
            <a:spLocks xmlns:a="http://schemas.openxmlformats.org/drawingml/2006/main" noGrp="1"/>
          </p:cNvSpPr>
          <p:nvPr/>
        </p:nvSpPr>
        <p:spPr>
          <a:xfrm xmlns:a="http://schemas.openxmlformats.org/drawingml/2006/main">
            <a:off x="5505450" y="2457450"/>
            <a:ext cx="47244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1E3A35"/>
                </a:solidFill>
                <a:latin typeface="Geist Mono"/>
                <a:ea typeface="Geist Mono"/>
                <a:cs typeface="Geist Mono"/>
              </a:defRPr>
            </a:pPr>
            <a:r>
              <a:rPr sz="1875" b="1" i="0">
                <a:solidFill>
                  <a:srgbClr val="1E3A35"/>
                </a:solidFill>
                <a:latin typeface="Geist Mono"/>
                <a:ea typeface="Geist Mono"/>
                <a:cs typeface="Geist Mono"/>
              </a:rPr>
              <a:t>CRM ROW 1</a:t>
            </a:r>
          </a:p>
          <a:p xmlns:a="http://schemas.openxmlformats.org/drawingml/2006/main">
            <a:pPr algn="ctr">
              <a:defRPr sz="1875" b="1" i="0">
                <a:solidFill>
                  <a:srgbClr val="1E3A35"/>
                </a:solidFill>
                <a:latin typeface="Geist Mono"/>
                <a:ea typeface="Geist Mono"/>
                <a:cs typeface="Geist Mono"/>
              </a:defRPr>
            </a:pPr>
            <a:r>
              <a:rPr sz="1875" b="1" i="0">
                <a:solidFill>
                  <a:srgbClr val="1E3A35"/>
                </a:solidFill>
                <a:latin typeface="Geist Mono"/>
                <a:ea typeface="Geist Mono"/>
                <a:cs typeface="Geist Mono"/>
              </a:rPr>
              <a:t>DRAFT 1</a:t>
            </a:r>
          </a:p>
        </p:txBody>
      </p:sp>
      <p:sp>
        <p:nvSpPr>
          <p:cNvPr id="10" name="10-node-bg">
            <a:extLst xmlns:a="http://schemas.openxmlformats.org/drawingml/2006/main">
              <a:ext uri="{FF2B5EF4-FFF2-40B4-BE49-F238E27FC236}">
                <a16:creationId xmlns:a16="http://schemas.microsoft.com/office/drawing/2014/main" id="{37F42652-F751-46EB-ABE5-89D7DAA28777}"/>
              </a:ext>
            </a:extLst>
          </p:cNvPr>
          <p:cNvSpPr>
            <a:spLocks xmlns:a="http://schemas.openxmlformats.org/drawingml/2006/main" noGrp="1"/>
          </p:cNvSpPr>
          <p:nvPr/>
        </p:nvSpPr>
        <p:spPr>
          <a:xfrm xmlns:a="http://schemas.openxmlformats.org/drawingml/2006/main">
            <a:off x="5391150" y="3771900"/>
            <a:ext cx="4953000" cy="1162050"/>
          </a:xfrm>
          <a:prstGeom xmlns:a="http://schemas.openxmlformats.org/drawingml/2006/main" prst="rect">
            <a:avLst/>
          </a:prstGeom>
          <a:solidFill xmlns:a="http://schemas.openxmlformats.org/drawingml/2006/main">
            <a:srgbClr val="FAEEE7"/>
          </a:solidFill>
          <a:ln xmlns:a="http://schemas.openxmlformats.org/drawingml/2006/main" w="14288">
            <a:solidFill>
              <a:srgbClr val="C4581A"/>
            </a:solidFill>
            <a:prstDash val="solid"/>
          </a:ln>
        </p:spPr>
      </p:sp>
      <p:sp>
        <p:nvSpPr>
          <p:cNvPr id="11" name="11-node-label">
            <a:extLst xmlns:a="http://schemas.openxmlformats.org/drawingml/2006/main">
              <a:ext uri="{FF2B5EF4-FFF2-40B4-BE49-F238E27FC236}">
                <a16:creationId xmlns:a16="http://schemas.microsoft.com/office/drawing/2014/main" id="{EE51B45E-7D88-4C96-9E85-595E1145318E}"/>
              </a:ext>
            </a:extLst>
          </p:cNvPr>
          <p:cNvSpPr>
            <a:spLocks xmlns:a="http://schemas.openxmlformats.org/drawingml/2006/main" noGrp="1"/>
          </p:cNvSpPr>
          <p:nvPr/>
        </p:nvSpPr>
        <p:spPr>
          <a:xfrm xmlns:a="http://schemas.openxmlformats.org/drawingml/2006/main">
            <a:off x="5505450" y="3848100"/>
            <a:ext cx="47244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C4581A"/>
                </a:solidFill>
                <a:latin typeface="Geist Mono"/>
                <a:ea typeface="Geist Mono"/>
                <a:cs typeface="Geist Mono"/>
              </a:defRPr>
            </a:pPr>
            <a:r>
              <a:rPr sz="1875" b="1" i="0">
                <a:solidFill>
                  <a:srgbClr val="C4581A"/>
                </a:solidFill>
                <a:latin typeface="Geist Mono"/>
                <a:ea typeface="Geist Mono"/>
                <a:cs typeface="Geist Mono"/>
              </a:rPr>
              <a:t>CRM ROW 2</a:t>
            </a:r>
          </a:p>
          <a:p xmlns:a="http://schemas.openxmlformats.org/drawingml/2006/main">
            <a:pPr algn="ctr">
              <a:defRPr sz="1875" b="1" i="0">
                <a:solidFill>
                  <a:srgbClr val="C4581A"/>
                </a:solidFill>
                <a:latin typeface="Geist Mono"/>
                <a:ea typeface="Geist Mono"/>
                <a:cs typeface="Geist Mono"/>
              </a:defRPr>
            </a:pPr>
            <a:r>
              <a:rPr sz="1875" b="1" i="0">
                <a:solidFill>
                  <a:srgbClr val="C4581A"/>
                </a:solidFill>
                <a:latin typeface="Geist Mono"/>
                <a:ea typeface="Geist Mono"/>
                <a:cs typeface="Geist Mono"/>
              </a:rPr>
              <a:t>DRAFT 2</a:t>
            </a:r>
          </a:p>
        </p:txBody>
      </p:sp>
      <p:sp>
        <p:nvSpPr>
          <p:cNvPr id="12" name="12-duplicate-summary">
            <a:extLst xmlns:a="http://schemas.openxmlformats.org/drawingml/2006/main">
              <a:ext uri="{FF2B5EF4-FFF2-40B4-BE49-F238E27FC236}">
                <a16:creationId xmlns:a16="http://schemas.microsoft.com/office/drawing/2014/main" id="{20F24671-1F3B-43A6-8431-3FA60F944CB2}"/>
              </a:ext>
            </a:extLst>
          </p:cNvPr>
          <p:cNvSpPr>
            <a:spLocks xmlns:a="http://schemas.openxmlformats.org/drawingml/2006/main" noGrp="1"/>
          </p:cNvSpPr>
          <p:nvPr/>
        </p:nvSpPr>
        <p:spPr>
          <a:xfrm xmlns:a="http://schemas.openxmlformats.org/drawingml/2006/main">
            <a:off x="1333500" y="5410200"/>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0" i="1">
                <a:solidFill>
                  <a:srgbClr val="5C5046"/>
                </a:solidFill>
                <a:latin typeface="Fraunces 9pt"/>
                <a:ea typeface="Fraunces 9pt"/>
                <a:cs typeface="Fraunces 9pt"/>
              </a:defRPr>
            </a:pPr>
            <a:r>
              <a:rPr sz="2100" b="0" i="1">
                <a:solidFill>
                  <a:srgbClr val="5C5046"/>
                </a:solidFill>
                <a:latin typeface="Fraunces 9pt"/>
                <a:ea typeface="Fraunces 9pt"/>
                <a:cs typeface="Fraunces 9pt"/>
              </a:rPr>
              <a:t>Same webhook. Same email. Two CRM rows. Two drafts.</a:t>
            </a:r>
          </a:p>
        </p:txBody>
      </p:sp>
      <p:sp>
        <p:nvSpPr>
          <p:cNvPr id="13" name="13-footer-rule">
            <a:extLst xmlns:a="http://schemas.openxmlformats.org/drawingml/2006/main">
              <a:ext uri="{FF2B5EF4-FFF2-40B4-BE49-F238E27FC236}">
                <a16:creationId xmlns:a16="http://schemas.microsoft.com/office/drawing/2014/main" id="{7A83EA19-3EAB-4DA7-9419-D5E5330B1DEA}"/>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4" name="14-footer-left">
            <a:extLst xmlns:a="http://schemas.openxmlformats.org/drawingml/2006/main">
              <a:ext uri="{FF2B5EF4-FFF2-40B4-BE49-F238E27FC236}">
                <a16:creationId xmlns:a16="http://schemas.microsoft.com/office/drawing/2014/main" id="{38F77CC2-AF72-4E8A-8D91-209F99106025}"/>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00:05-00:08</a:t>
            </a:r>
          </a:p>
        </p:txBody>
      </p:sp>
      <p:sp>
        <p:nvSpPr>
          <p:cNvPr id="15" name="15-footer-right">
            <a:extLst xmlns:a="http://schemas.openxmlformats.org/drawingml/2006/main">
              <a:ext uri="{FF2B5EF4-FFF2-40B4-BE49-F238E27FC236}">
                <a16:creationId xmlns:a16="http://schemas.microsoft.com/office/drawing/2014/main" id="{F8C9A9F3-D880-432D-A692-3CAAF7EB3FDB}"/>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03 / 27</a:t>
            </a:r>
          </a:p>
        </p:txBody>
      </p:sp>
    </p:spTree>
    <p:extLst>
      <p:ext uri="{BB962C8B-B14F-4D97-AF65-F5344CB8AC3E}">
        <p14:creationId xmlns:p14="http://schemas.microsoft.com/office/powerpoint/2010/main" val="1426469258"/>
      </p:ext>
    </p:extLst>
  </p:cSld>
</p:sld>
</file>

<file path=ppt/slides/slide4.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5" name="01-kicker">
            <a:extLst xmlns:a="http://schemas.openxmlformats.org/drawingml/2006/main">
              <a:ext uri="{FF2B5EF4-FFF2-40B4-BE49-F238E27FC236}">
                <a16:creationId xmlns:a16="http://schemas.microsoft.com/office/drawing/2014/main" id="{FC908EAA-423C-4A21-A8B4-7C4D462DA5C1}"/>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VOTE · THEN REVEAL</a:t>
            </a:r>
          </a:p>
        </p:txBody>
      </p:sp>
      <p:sp>
        <p:nvSpPr>
          <p:cNvPr id="2" name="02-title">
            <a:extLst xmlns:a="http://schemas.openxmlformats.org/drawingml/2006/main">
              <a:ext uri="{FF2B5EF4-FFF2-40B4-BE49-F238E27FC236}">
                <a16:creationId xmlns:a16="http://schemas.microsoft.com/office/drawing/2014/main" id="{D8706A79-8505-4122-8AA5-0BC495DDE3FC}"/>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What failed?</a:t>
            </a:r>
          </a:p>
        </p:txBody>
      </p:sp>
      <p:sp>
        <p:nvSpPr>
          <p:cNvPr id="3" name="03-title-rule">
            <a:extLst xmlns:a="http://schemas.openxmlformats.org/drawingml/2006/main">
              <a:ext uri="{FF2B5EF4-FFF2-40B4-BE49-F238E27FC236}">
                <a16:creationId xmlns:a16="http://schemas.microsoft.com/office/drawing/2014/main" id="{7DA9CE68-E796-4A2E-909C-B8D4346C2D13}"/>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failure-number">
            <a:extLst xmlns:a="http://schemas.openxmlformats.org/drawingml/2006/main">
              <a:ext uri="{FF2B5EF4-FFF2-40B4-BE49-F238E27FC236}">
                <a16:creationId xmlns:a16="http://schemas.microsoft.com/office/drawing/2014/main" id="{C035C4BF-0956-4EF6-83D3-DA9BBD7B6B22}"/>
              </a:ext>
            </a:extLst>
          </p:cNvPr>
          <p:cNvSpPr>
            <a:spLocks xmlns:a="http://schemas.openxmlformats.org/drawingml/2006/main" noGrp="1"/>
          </p:cNvSpPr>
          <p:nvPr/>
        </p:nvSpPr>
        <p:spPr>
          <a:xfrm xmlns:a="http://schemas.openxmlformats.org/drawingml/2006/main">
            <a:off x="1371600" y="2114550"/>
            <a:ext cx="704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i="0">
                <a:solidFill>
                  <a:srgbClr val="1E3A35"/>
                </a:solidFill>
                <a:latin typeface="Geist Mono"/>
                <a:ea typeface="Geist Mono"/>
                <a:cs typeface="Geist Mono"/>
              </a:defRPr>
            </a:pPr>
            <a:r>
              <a:rPr sz="1800" b="1" i="0">
                <a:solidFill>
                  <a:srgbClr val="1E3A35"/>
                </a:solidFill>
                <a:latin typeface="Geist Mono"/>
                <a:ea typeface="Geist Mono"/>
                <a:cs typeface="Geist Mono"/>
              </a:rPr>
              <a:t>01</a:t>
            </a:r>
          </a:p>
        </p:txBody>
      </p:sp>
      <p:sp>
        <p:nvSpPr>
          <p:cNvPr id="5" name="05-failure-option">
            <a:extLst xmlns:a="http://schemas.openxmlformats.org/drawingml/2006/main">
              <a:ext uri="{FF2B5EF4-FFF2-40B4-BE49-F238E27FC236}">
                <a16:creationId xmlns:a16="http://schemas.microsoft.com/office/drawing/2014/main" id="{2B98BE55-A47F-4D97-88F9-EBF2185E7C08}"/>
              </a:ext>
            </a:extLst>
          </p:cNvPr>
          <p:cNvSpPr>
            <a:spLocks xmlns:a="http://schemas.openxmlformats.org/drawingml/2006/main" noGrp="1"/>
          </p:cNvSpPr>
          <p:nvPr/>
        </p:nvSpPr>
        <p:spPr>
          <a:xfrm xmlns:a="http://schemas.openxmlformats.org/drawingml/2006/main">
            <a:off x="2362200" y="2114550"/>
            <a:ext cx="723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i="0">
                <a:solidFill>
                  <a:srgbClr val="1F1A14"/>
                </a:solidFill>
                <a:latin typeface="Fraunces 9pt"/>
                <a:ea typeface="Fraunces 9pt"/>
                <a:cs typeface="Fraunces 9pt"/>
              </a:defRPr>
            </a:pPr>
            <a:r>
              <a:rPr sz="3000" b="1" i="0">
                <a:solidFill>
                  <a:srgbClr val="1F1A14"/>
                </a:solidFill>
                <a:latin typeface="Fraunces 9pt"/>
                <a:ea typeface="Fraunces 9pt"/>
                <a:cs typeface="Fraunces 9pt"/>
              </a:rPr>
              <a:t>Make</a:t>
            </a:r>
          </a:p>
        </p:txBody>
      </p:sp>
      <p:sp>
        <p:nvSpPr>
          <p:cNvPr id="6" name="06-failure-number">
            <a:extLst xmlns:a="http://schemas.openxmlformats.org/drawingml/2006/main">
              <a:ext uri="{FF2B5EF4-FFF2-40B4-BE49-F238E27FC236}">
                <a16:creationId xmlns:a16="http://schemas.microsoft.com/office/drawing/2014/main" id="{D3EB3969-98A8-4723-A67D-8F4A2CBE51DC}"/>
              </a:ext>
            </a:extLst>
          </p:cNvPr>
          <p:cNvSpPr>
            <a:spLocks xmlns:a="http://schemas.openxmlformats.org/drawingml/2006/main" noGrp="1"/>
          </p:cNvSpPr>
          <p:nvPr/>
        </p:nvSpPr>
        <p:spPr>
          <a:xfrm xmlns:a="http://schemas.openxmlformats.org/drawingml/2006/main">
            <a:off x="1371600" y="3048000"/>
            <a:ext cx="704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i="0">
                <a:solidFill>
                  <a:srgbClr val="1E3A35"/>
                </a:solidFill>
                <a:latin typeface="Geist Mono"/>
                <a:ea typeface="Geist Mono"/>
                <a:cs typeface="Geist Mono"/>
              </a:defRPr>
            </a:pPr>
            <a:r>
              <a:rPr sz="1800" b="1" i="0">
                <a:solidFill>
                  <a:srgbClr val="1E3A35"/>
                </a:solidFill>
                <a:latin typeface="Geist Mono"/>
                <a:ea typeface="Geist Mono"/>
                <a:cs typeface="Geist Mono"/>
              </a:rPr>
              <a:t>02</a:t>
            </a:r>
          </a:p>
        </p:txBody>
      </p:sp>
      <p:sp>
        <p:nvSpPr>
          <p:cNvPr id="7" name="07-failure-option">
            <a:extLst xmlns:a="http://schemas.openxmlformats.org/drawingml/2006/main">
              <a:ext uri="{FF2B5EF4-FFF2-40B4-BE49-F238E27FC236}">
                <a16:creationId xmlns:a16="http://schemas.microsoft.com/office/drawing/2014/main" id="{E4B8BCD8-E8B0-407C-B872-E9281D6CC187}"/>
              </a:ext>
            </a:extLst>
          </p:cNvPr>
          <p:cNvSpPr>
            <a:spLocks xmlns:a="http://schemas.openxmlformats.org/drawingml/2006/main" noGrp="1"/>
          </p:cNvSpPr>
          <p:nvPr/>
        </p:nvSpPr>
        <p:spPr>
          <a:xfrm xmlns:a="http://schemas.openxmlformats.org/drawingml/2006/main">
            <a:off x="2362200" y="3048000"/>
            <a:ext cx="723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i="0">
                <a:solidFill>
                  <a:srgbClr val="1F1A14"/>
                </a:solidFill>
                <a:latin typeface="Fraunces 9pt"/>
                <a:ea typeface="Fraunces 9pt"/>
                <a:cs typeface="Fraunces 9pt"/>
              </a:defRPr>
            </a:pPr>
            <a:r>
              <a:rPr sz="3000" b="1" i="0">
                <a:solidFill>
                  <a:srgbClr val="1F1A14"/>
                </a:solidFill>
                <a:latin typeface="Fraunces 9pt"/>
                <a:ea typeface="Fraunces 9pt"/>
                <a:cs typeface="Fraunces 9pt"/>
              </a:rPr>
              <a:t>The modules</a:t>
            </a:r>
          </a:p>
        </p:txBody>
      </p:sp>
      <p:sp>
        <p:nvSpPr>
          <p:cNvPr id="8" name="08-failure-number">
            <a:extLst xmlns:a="http://schemas.openxmlformats.org/drawingml/2006/main">
              <a:ext uri="{FF2B5EF4-FFF2-40B4-BE49-F238E27FC236}">
                <a16:creationId xmlns:a16="http://schemas.microsoft.com/office/drawing/2014/main" id="{C682675B-AF14-42AD-917C-4646637436A0}"/>
              </a:ext>
            </a:extLst>
          </p:cNvPr>
          <p:cNvSpPr>
            <a:spLocks xmlns:a="http://schemas.openxmlformats.org/drawingml/2006/main" noGrp="1"/>
          </p:cNvSpPr>
          <p:nvPr/>
        </p:nvSpPr>
        <p:spPr>
          <a:xfrm xmlns:a="http://schemas.openxmlformats.org/drawingml/2006/main">
            <a:off x="1371600" y="3981450"/>
            <a:ext cx="704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i="0">
                <a:solidFill>
                  <a:srgbClr val="C4581A"/>
                </a:solidFill>
                <a:latin typeface="Geist Mono"/>
                <a:ea typeface="Geist Mono"/>
                <a:cs typeface="Geist Mono"/>
              </a:defRPr>
            </a:pPr>
            <a:r>
              <a:rPr sz="1800" b="1" i="0">
                <a:solidFill>
                  <a:srgbClr val="C4581A"/>
                </a:solidFill>
                <a:latin typeface="Geist Mono"/>
                <a:ea typeface="Geist Mono"/>
                <a:cs typeface="Geist Mono"/>
              </a:rPr>
              <a:t>03</a:t>
            </a:r>
          </a:p>
        </p:txBody>
      </p:sp>
      <p:sp>
        <p:nvSpPr>
          <p:cNvPr id="9" name="09-failure-option">
            <a:extLst xmlns:a="http://schemas.openxmlformats.org/drawingml/2006/main">
              <a:ext uri="{FF2B5EF4-FFF2-40B4-BE49-F238E27FC236}">
                <a16:creationId xmlns:a16="http://schemas.microsoft.com/office/drawing/2014/main" id="{89C05027-2DAC-4DFF-B0F1-70EF61438678}"/>
              </a:ext>
            </a:extLst>
          </p:cNvPr>
          <p:cNvSpPr>
            <a:spLocks xmlns:a="http://schemas.openxmlformats.org/drawingml/2006/main" noGrp="1"/>
          </p:cNvSpPr>
          <p:nvPr/>
        </p:nvSpPr>
        <p:spPr>
          <a:xfrm xmlns:a="http://schemas.openxmlformats.org/drawingml/2006/main">
            <a:off x="2362200" y="3981450"/>
            <a:ext cx="723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i="0">
                <a:solidFill>
                  <a:srgbClr val="1F1A14"/>
                </a:solidFill>
                <a:latin typeface="Fraunces 9pt"/>
                <a:ea typeface="Fraunces 9pt"/>
                <a:cs typeface="Fraunces 9pt"/>
              </a:defRPr>
            </a:pPr>
            <a:r>
              <a:rPr sz="3000" b="1" i="0">
                <a:solidFill>
                  <a:srgbClr val="1F1A14"/>
                </a:solidFill>
                <a:latin typeface="Fraunces 9pt"/>
                <a:ea typeface="Fraunces 9pt"/>
                <a:cs typeface="Fraunces 9pt"/>
              </a:rPr>
              <a:t>The design</a:t>
            </a:r>
          </a:p>
        </p:txBody>
      </p:sp>
      <p:sp>
        <p:nvSpPr>
          <p:cNvPr id="10" name="10-reveal-underline">
            <a:extLst xmlns:a="http://schemas.openxmlformats.org/drawingml/2006/main">
              <a:ext uri="{FF2B5EF4-FFF2-40B4-BE49-F238E27FC236}">
                <a16:creationId xmlns:a16="http://schemas.microsoft.com/office/drawing/2014/main" id="{CB8B1FB1-65E9-4D41-B21D-5A5C91074C3F}"/>
              </a:ext>
            </a:extLst>
          </p:cNvPr>
          <p:cNvSpPr>
            <a:spLocks xmlns:a="http://schemas.openxmlformats.org/drawingml/2006/main" noGrp="1"/>
          </p:cNvSpPr>
          <p:nvPr/>
        </p:nvSpPr>
        <p:spPr>
          <a:xfrm xmlns:a="http://schemas.openxmlformats.org/drawingml/2006/main">
            <a:off x="2362200" y="4667250"/>
            <a:ext cx="3905250" cy="0"/>
          </a:xfrm>
          <a:prstGeom xmlns:a="http://schemas.openxmlformats.org/drawingml/2006/main" prst="line">
            <a:avLst/>
          </a:prstGeom>
          <a:noFill xmlns:a="http://schemas.openxmlformats.org/drawingml/2006/main"/>
          <a:ln xmlns:a="http://schemas.openxmlformats.org/drawingml/2006/main" w="47625">
            <a:solidFill>
              <a:srgbClr val="C4581A"/>
            </a:solidFill>
            <a:prstDash val="solid"/>
          </a:ln>
        </p:spPr>
      </p:sp>
      <p:sp>
        <p:nvSpPr>
          <p:cNvPr id="11" name="11-failure-reveal">
            <a:extLst xmlns:a="http://schemas.openxmlformats.org/drawingml/2006/main">
              <a:ext uri="{FF2B5EF4-FFF2-40B4-BE49-F238E27FC236}">
                <a16:creationId xmlns:a16="http://schemas.microsoft.com/office/drawing/2014/main" id="{3A0FCA71-9B9F-4D18-BE11-81C06D4C826D}"/>
              </a:ext>
            </a:extLst>
          </p:cNvPr>
          <p:cNvSpPr>
            <a:spLocks xmlns:a="http://schemas.openxmlformats.org/drawingml/2006/main" noGrp="1"/>
          </p:cNvSpPr>
          <p:nvPr/>
        </p:nvSpPr>
        <p:spPr>
          <a:xfrm xmlns:a="http://schemas.openxmlformats.org/drawingml/2006/main">
            <a:off x="1619250" y="5162550"/>
            <a:ext cx="895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i="1">
                <a:solidFill>
                  <a:srgbClr val="5C5046"/>
                </a:solidFill>
                <a:latin typeface="Geist"/>
                <a:ea typeface="Geist"/>
                <a:cs typeface="Geist"/>
              </a:defRPr>
            </a:pPr>
            <a:r>
              <a:rPr sz="1800" b="0" i="1">
                <a:solidFill>
                  <a:srgbClr val="5C5046"/>
                </a:solidFill>
                <a:latin typeface="Geist"/>
                <a:ea typeface="Geist"/>
                <a:cs typeface="Geist"/>
              </a:rPr>
              <a:t>Retries are normal. The design allowed action before duplicate check.</a:t>
            </a:r>
          </a:p>
        </p:txBody>
      </p:sp>
      <p:sp>
        <p:nvSpPr>
          <p:cNvPr id="12" name="12-footer-rule">
            <a:extLst xmlns:a="http://schemas.openxmlformats.org/drawingml/2006/main">
              <a:ext uri="{FF2B5EF4-FFF2-40B4-BE49-F238E27FC236}">
                <a16:creationId xmlns:a16="http://schemas.microsoft.com/office/drawing/2014/main" id="{1860BA51-F925-44F6-A20A-A6EA177EA9BF}"/>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3" name="13-footer-left">
            <a:extLst xmlns:a="http://schemas.openxmlformats.org/drawingml/2006/main">
              <a:ext uri="{FF2B5EF4-FFF2-40B4-BE49-F238E27FC236}">
                <a16:creationId xmlns:a16="http://schemas.microsoft.com/office/drawing/2014/main" id="{F60C3633-C8A6-4733-97C7-75BF4354695F}"/>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00:08-00:12</a:t>
            </a:r>
          </a:p>
        </p:txBody>
      </p:sp>
      <p:sp>
        <p:nvSpPr>
          <p:cNvPr id="14" name="14-footer-right">
            <a:extLst xmlns:a="http://schemas.openxmlformats.org/drawingml/2006/main">
              <a:ext uri="{FF2B5EF4-FFF2-40B4-BE49-F238E27FC236}">
                <a16:creationId xmlns:a16="http://schemas.microsoft.com/office/drawing/2014/main" id="{ACE025BC-4374-4978-A9F7-5C6CEC8EEA6A}"/>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04 / 27</a:t>
            </a:r>
          </a:p>
        </p:txBody>
      </p:sp>
    </p:spTree>
    <p:extLst>
      <p:ext uri="{BB962C8B-B14F-4D97-AF65-F5344CB8AC3E}">
        <p14:creationId xmlns:p14="http://schemas.microsoft.com/office/powerpoint/2010/main" val="269822908"/>
      </p:ext>
    </p:extLst>
  </p:cSld>
</p:sld>
</file>

<file path=ppt/slides/slide5.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30" name="01-kicker">
            <a:extLst xmlns:a="http://schemas.openxmlformats.org/drawingml/2006/main">
              <a:ext uri="{FF2B5EF4-FFF2-40B4-BE49-F238E27FC236}">
                <a16:creationId xmlns:a16="http://schemas.microsoft.com/office/drawing/2014/main" id="{2F77006A-C3D4-4EE7-95D4-19B104384C36}"/>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NAME THE BUSINESS TRUTH</a:t>
            </a:r>
          </a:p>
        </p:txBody>
      </p:sp>
      <p:sp>
        <p:nvSpPr>
          <p:cNvPr id="2" name="02-title">
            <a:extLst xmlns:a="http://schemas.openxmlformats.org/drawingml/2006/main">
              <a:ext uri="{FF2B5EF4-FFF2-40B4-BE49-F238E27FC236}">
                <a16:creationId xmlns:a16="http://schemas.microsoft.com/office/drawing/2014/main" id="{CF32C06A-2B3B-4426-863E-8C3EF26251C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F1A14"/>
                </a:solidFill>
                <a:latin typeface="Fraunces 9pt"/>
                <a:ea typeface="Fraunces 9pt"/>
                <a:cs typeface="Fraunces 9pt"/>
              </a:defRPr>
            </a:pPr>
            <a:r>
              <a:rPr sz="3600" b="1" i="0">
                <a:solidFill>
                  <a:srgbClr val="1F1A14"/>
                </a:solidFill>
                <a:latin typeface="Fraunces 9pt"/>
                <a:ea typeface="Fraunces 9pt"/>
                <a:cs typeface="Fraunces 9pt"/>
              </a:rPr>
              <a:t>Automation is state, not spaghetti</a:t>
            </a:r>
          </a:p>
        </p:txBody>
      </p:sp>
      <p:sp>
        <p:nvSpPr>
          <p:cNvPr id="3" name="03-title-rule">
            <a:extLst xmlns:a="http://schemas.openxmlformats.org/drawingml/2006/main">
              <a:ext uri="{FF2B5EF4-FFF2-40B4-BE49-F238E27FC236}">
                <a16:creationId xmlns:a16="http://schemas.microsoft.com/office/drawing/2014/main" id="{221297CE-A7FA-4884-B915-53EABDDE95CF}"/>
              </a:ext>
            </a:extLst>
          </p:cNvPr>
          <p:cNvSpPr>
            <a:spLocks xmlns:a="http://schemas.openxmlformats.org/drawingml/2006/main" noGrp="1"/>
          </p:cNvSpPr>
          <p:nvPr/>
        </p:nvSpPr>
        <p:spPr>
          <a:xfrm xmlns:a="http://schemas.openxmlformats.org/drawingml/2006/main">
            <a:off x="609600" y="18478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arrow">
            <a:extLst xmlns:a="http://schemas.openxmlformats.org/drawingml/2006/main">
              <a:ext uri="{FF2B5EF4-FFF2-40B4-BE49-F238E27FC236}">
                <a16:creationId xmlns:a16="http://schemas.microsoft.com/office/drawing/2014/main" id="{ED880756-DE7E-4AE3-9C21-780197A6EF0E}"/>
              </a:ext>
            </a:extLst>
          </p:cNvPr>
          <p:cNvSpPr>
            <a:spLocks xmlns:a="http://schemas.openxmlformats.org/drawingml/2006/main" noGrp="1"/>
          </p:cNvSpPr>
          <p:nvPr/>
        </p:nvSpPr>
        <p:spPr>
          <a:xfrm xmlns:a="http://schemas.openxmlformats.org/drawingml/2006/main">
            <a:off x="2628900" y="2933700"/>
            <a:ext cx="47625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5" name="05-node-bg">
            <a:extLst xmlns:a="http://schemas.openxmlformats.org/drawingml/2006/main">
              <a:ext uri="{FF2B5EF4-FFF2-40B4-BE49-F238E27FC236}">
                <a16:creationId xmlns:a16="http://schemas.microsoft.com/office/drawing/2014/main" id="{ADECBD26-2E0C-4072-A0E9-8B9AB930EAE5}"/>
              </a:ext>
            </a:extLst>
          </p:cNvPr>
          <p:cNvSpPr>
            <a:spLocks xmlns:a="http://schemas.openxmlformats.org/drawingml/2006/main" noGrp="1"/>
          </p:cNvSpPr>
          <p:nvPr/>
        </p:nvSpPr>
        <p:spPr>
          <a:xfrm xmlns:a="http://schemas.openxmlformats.org/drawingml/2006/main">
            <a:off x="685800" y="2590800"/>
            <a:ext cx="1905000"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6" name="06-node-label">
            <a:extLst xmlns:a="http://schemas.openxmlformats.org/drawingml/2006/main">
              <a:ext uri="{FF2B5EF4-FFF2-40B4-BE49-F238E27FC236}">
                <a16:creationId xmlns:a16="http://schemas.microsoft.com/office/drawing/2014/main" id="{661F81BE-0138-49BB-A22B-4CC4EDCA863E}"/>
              </a:ext>
            </a:extLst>
          </p:cNvPr>
          <p:cNvSpPr>
            <a:spLocks xmlns:a="http://schemas.openxmlformats.org/drawingml/2006/main" noGrp="1"/>
          </p:cNvSpPr>
          <p:nvPr/>
        </p:nvSpPr>
        <p:spPr>
          <a:xfrm xmlns:a="http://schemas.openxmlformats.org/drawingml/2006/main">
            <a:off x="800100" y="266700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RECEIVED</a:t>
            </a:r>
          </a:p>
        </p:txBody>
      </p:sp>
      <p:sp>
        <p:nvSpPr>
          <p:cNvPr id="7" name="07-arrow">
            <a:extLst xmlns:a="http://schemas.openxmlformats.org/drawingml/2006/main">
              <a:ext uri="{FF2B5EF4-FFF2-40B4-BE49-F238E27FC236}">
                <a16:creationId xmlns:a16="http://schemas.microsoft.com/office/drawing/2014/main" id="{78EA4EAF-AE4A-4ECE-A7C5-8C7A81C7E303}"/>
              </a:ext>
            </a:extLst>
          </p:cNvPr>
          <p:cNvSpPr>
            <a:spLocks xmlns:a="http://schemas.openxmlformats.org/drawingml/2006/main" noGrp="1"/>
          </p:cNvSpPr>
          <p:nvPr/>
        </p:nvSpPr>
        <p:spPr>
          <a:xfrm xmlns:a="http://schemas.openxmlformats.org/drawingml/2006/main">
            <a:off x="4819650" y="2933700"/>
            <a:ext cx="47625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8" name="08-node-bg">
            <a:extLst xmlns:a="http://schemas.openxmlformats.org/drawingml/2006/main">
              <a:ext uri="{FF2B5EF4-FFF2-40B4-BE49-F238E27FC236}">
                <a16:creationId xmlns:a16="http://schemas.microsoft.com/office/drawing/2014/main" id="{F42EA989-181B-4169-AF7A-D3ECA254CED8}"/>
              </a:ext>
            </a:extLst>
          </p:cNvPr>
          <p:cNvSpPr>
            <a:spLocks xmlns:a="http://schemas.openxmlformats.org/drawingml/2006/main" noGrp="1"/>
          </p:cNvSpPr>
          <p:nvPr/>
        </p:nvSpPr>
        <p:spPr>
          <a:xfrm xmlns:a="http://schemas.openxmlformats.org/drawingml/2006/main">
            <a:off x="2876550" y="2590800"/>
            <a:ext cx="1905000"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9" name="09-node-label">
            <a:extLst xmlns:a="http://schemas.openxmlformats.org/drawingml/2006/main">
              <a:ext uri="{FF2B5EF4-FFF2-40B4-BE49-F238E27FC236}">
                <a16:creationId xmlns:a16="http://schemas.microsoft.com/office/drawing/2014/main" id="{19891CFD-1AAD-46A6-8465-B007C067380E}"/>
              </a:ext>
            </a:extLst>
          </p:cNvPr>
          <p:cNvSpPr>
            <a:spLocks xmlns:a="http://schemas.openxmlformats.org/drawingml/2006/main" noGrp="1"/>
          </p:cNvSpPr>
          <p:nvPr/>
        </p:nvSpPr>
        <p:spPr>
          <a:xfrm xmlns:a="http://schemas.openxmlformats.org/drawingml/2006/main">
            <a:off x="2990850" y="266700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VALIDATED</a:t>
            </a:r>
          </a:p>
        </p:txBody>
      </p:sp>
      <p:sp>
        <p:nvSpPr>
          <p:cNvPr id="10" name="10-arrow">
            <a:extLst xmlns:a="http://schemas.openxmlformats.org/drawingml/2006/main">
              <a:ext uri="{FF2B5EF4-FFF2-40B4-BE49-F238E27FC236}">
                <a16:creationId xmlns:a16="http://schemas.microsoft.com/office/drawing/2014/main" id="{48A624D0-DD91-44E5-9006-293B6B4F2176}"/>
              </a:ext>
            </a:extLst>
          </p:cNvPr>
          <p:cNvSpPr>
            <a:spLocks xmlns:a="http://schemas.openxmlformats.org/drawingml/2006/main" noGrp="1"/>
          </p:cNvSpPr>
          <p:nvPr/>
        </p:nvSpPr>
        <p:spPr>
          <a:xfrm xmlns:a="http://schemas.openxmlformats.org/drawingml/2006/main">
            <a:off x="7010400" y="2933700"/>
            <a:ext cx="47625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11" name="11-node-bg">
            <a:extLst xmlns:a="http://schemas.openxmlformats.org/drawingml/2006/main">
              <a:ext uri="{FF2B5EF4-FFF2-40B4-BE49-F238E27FC236}">
                <a16:creationId xmlns:a16="http://schemas.microsoft.com/office/drawing/2014/main" id="{1212EC73-4100-4E18-B789-07E7C14186E0}"/>
              </a:ext>
            </a:extLst>
          </p:cNvPr>
          <p:cNvSpPr>
            <a:spLocks xmlns:a="http://schemas.openxmlformats.org/drawingml/2006/main" noGrp="1"/>
          </p:cNvSpPr>
          <p:nvPr/>
        </p:nvSpPr>
        <p:spPr>
          <a:xfrm xmlns:a="http://schemas.openxmlformats.org/drawingml/2006/main">
            <a:off x="5067300" y="2590800"/>
            <a:ext cx="1905000"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12" name="12-node-label">
            <a:extLst xmlns:a="http://schemas.openxmlformats.org/drawingml/2006/main">
              <a:ext uri="{FF2B5EF4-FFF2-40B4-BE49-F238E27FC236}">
                <a16:creationId xmlns:a16="http://schemas.microsoft.com/office/drawing/2014/main" id="{9E714CFF-443F-4149-9F5F-5F4E9B080D93}"/>
              </a:ext>
            </a:extLst>
          </p:cNvPr>
          <p:cNvSpPr>
            <a:spLocks xmlns:a="http://schemas.openxmlformats.org/drawingml/2006/main" noGrp="1"/>
          </p:cNvSpPr>
          <p:nvPr/>
        </p:nvSpPr>
        <p:spPr>
          <a:xfrm xmlns:a="http://schemas.openxmlformats.org/drawingml/2006/main">
            <a:off x="5181600" y="266700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QUEUED</a:t>
            </a:r>
          </a:p>
        </p:txBody>
      </p:sp>
      <p:sp>
        <p:nvSpPr>
          <p:cNvPr id="13" name="13-arrow">
            <a:extLst xmlns:a="http://schemas.openxmlformats.org/drawingml/2006/main">
              <a:ext uri="{FF2B5EF4-FFF2-40B4-BE49-F238E27FC236}">
                <a16:creationId xmlns:a16="http://schemas.microsoft.com/office/drawing/2014/main" id="{FAB9D23E-17C4-4B0A-BC8A-F75B9F7FCEE4}"/>
              </a:ext>
            </a:extLst>
          </p:cNvPr>
          <p:cNvSpPr>
            <a:spLocks xmlns:a="http://schemas.openxmlformats.org/drawingml/2006/main" noGrp="1"/>
          </p:cNvSpPr>
          <p:nvPr/>
        </p:nvSpPr>
        <p:spPr>
          <a:xfrm xmlns:a="http://schemas.openxmlformats.org/drawingml/2006/main">
            <a:off x="9201150" y="2933700"/>
            <a:ext cx="47625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14" name="14-node-bg">
            <a:extLst xmlns:a="http://schemas.openxmlformats.org/drawingml/2006/main">
              <a:ext uri="{FF2B5EF4-FFF2-40B4-BE49-F238E27FC236}">
                <a16:creationId xmlns:a16="http://schemas.microsoft.com/office/drawing/2014/main" id="{757C3FD2-6BA1-4525-9224-BB7A39C7E52B}"/>
              </a:ext>
            </a:extLst>
          </p:cNvPr>
          <p:cNvSpPr>
            <a:spLocks xmlns:a="http://schemas.openxmlformats.org/drawingml/2006/main" noGrp="1"/>
          </p:cNvSpPr>
          <p:nvPr/>
        </p:nvSpPr>
        <p:spPr>
          <a:xfrm xmlns:a="http://schemas.openxmlformats.org/drawingml/2006/main">
            <a:off x="7258050" y="2590800"/>
            <a:ext cx="1905000"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15" name="15-node-label">
            <a:extLst xmlns:a="http://schemas.openxmlformats.org/drawingml/2006/main">
              <a:ext uri="{FF2B5EF4-FFF2-40B4-BE49-F238E27FC236}">
                <a16:creationId xmlns:a16="http://schemas.microsoft.com/office/drawing/2014/main" id="{9DC32633-514E-4722-A2BD-849E3506A1B8}"/>
              </a:ext>
            </a:extLst>
          </p:cNvPr>
          <p:cNvSpPr>
            <a:spLocks xmlns:a="http://schemas.openxmlformats.org/drawingml/2006/main" noGrp="1"/>
          </p:cNvSpPr>
          <p:nvPr/>
        </p:nvSpPr>
        <p:spPr>
          <a:xfrm xmlns:a="http://schemas.openxmlformats.org/drawingml/2006/main">
            <a:off x="7372350" y="266700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APPROVED</a:t>
            </a:r>
          </a:p>
        </p:txBody>
      </p:sp>
      <p:sp>
        <p:nvSpPr>
          <p:cNvPr id="16" name="16-node-bg">
            <a:extLst xmlns:a="http://schemas.openxmlformats.org/drawingml/2006/main">
              <a:ext uri="{FF2B5EF4-FFF2-40B4-BE49-F238E27FC236}">
                <a16:creationId xmlns:a16="http://schemas.microsoft.com/office/drawing/2014/main" id="{C9C43E81-EC82-4676-8AF3-231506A3C95E}"/>
              </a:ext>
            </a:extLst>
          </p:cNvPr>
          <p:cNvSpPr>
            <a:spLocks xmlns:a="http://schemas.openxmlformats.org/drawingml/2006/main" noGrp="1"/>
          </p:cNvSpPr>
          <p:nvPr/>
        </p:nvSpPr>
        <p:spPr>
          <a:xfrm xmlns:a="http://schemas.openxmlformats.org/drawingml/2006/main">
            <a:off x="9448800" y="2590800"/>
            <a:ext cx="1905000" cy="800100"/>
          </a:xfrm>
          <a:prstGeom xmlns:a="http://schemas.openxmlformats.org/drawingml/2006/main" prst="rect">
            <a:avLst/>
          </a:prstGeom>
          <a:solidFill xmlns:a="http://schemas.openxmlformats.org/drawingml/2006/main">
            <a:srgbClr val="FAEEE7"/>
          </a:solidFill>
          <a:ln xmlns:a="http://schemas.openxmlformats.org/drawingml/2006/main" w="14288">
            <a:solidFill>
              <a:srgbClr val="C4581A"/>
            </a:solidFill>
            <a:prstDash val="solid"/>
          </a:ln>
        </p:spPr>
      </p:sp>
      <p:sp>
        <p:nvSpPr>
          <p:cNvPr id="17" name="17-node-label">
            <a:extLst xmlns:a="http://schemas.openxmlformats.org/drawingml/2006/main">
              <a:ext uri="{FF2B5EF4-FFF2-40B4-BE49-F238E27FC236}">
                <a16:creationId xmlns:a16="http://schemas.microsoft.com/office/drawing/2014/main" id="{44512AA6-D06D-489C-9101-32083853F852}"/>
              </a:ext>
            </a:extLst>
          </p:cNvPr>
          <p:cNvSpPr>
            <a:spLocks xmlns:a="http://schemas.openxmlformats.org/drawingml/2006/main" noGrp="1"/>
          </p:cNvSpPr>
          <p:nvPr/>
        </p:nvSpPr>
        <p:spPr>
          <a:xfrm xmlns:a="http://schemas.openxmlformats.org/drawingml/2006/main">
            <a:off x="9563100" y="2667000"/>
            <a:ext cx="1676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C4581A"/>
                </a:solidFill>
                <a:latin typeface="Geist Mono"/>
                <a:ea typeface="Geist Mono"/>
                <a:cs typeface="Geist Mono"/>
              </a:defRPr>
            </a:pPr>
            <a:r>
              <a:rPr sz="1200" b="1" i="0">
                <a:solidFill>
                  <a:srgbClr val="C4581A"/>
                </a:solidFill>
                <a:latin typeface="Geist Mono"/>
                <a:ea typeface="Geist Mono"/>
                <a:cs typeface="Geist Mono"/>
              </a:rPr>
              <a:t>COMPLETED</a:t>
            </a:r>
          </a:p>
        </p:txBody>
      </p:sp>
      <p:sp>
        <p:nvSpPr>
          <p:cNvPr id="18" name="18-side-state">
            <a:extLst xmlns:a="http://schemas.openxmlformats.org/drawingml/2006/main">
              <a:ext uri="{FF2B5EF4-FFF2-40B4-BE49-F238E27FC236}">
                <a16:creationId xmlns:a16="http://schemas.microsoft.com/office/drawing/2014/main" id="{72D4478F-F00B-4F6E-BE3F-CEA4B68DA919}"/>
              </a:ext>
            </a:extLst>
          </p:cNvPr>
          <p:cNvSpPr>
            <a:spLocks xmlns:a="http://schemas.openxmlformats.org/drawingml/2006/main" noGrp="1"/>
          </p:cNvSpPr>
          <p:nvPr/>
        </p:nvSpPr>
        <p:spPr>
          <a:xfrm xmlns:a="http://schemas.openxmlformats.org/drawingml/2006/main">
            <a:off x="1466850" y="40576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5C5046"/>
                </a:solidFill>
                <a:latin typeface="Geist Mono"/>
                <a:ea typeface="Geist Mono"/>
                <a:cs typeface="Geist Mono"/>
              </a:defRPr>
            </a:pPr>
            <a:r>
              <a:rPr sz="1125" b="1" i="0">
                <a:solidFill>
                  <a:srgbClr val="5C5046"/>
                </a:solidFill>
                <a:latin typeface="Geist Mono"/>
                <a:ea typeface="Geist Mono"/>
                <a:cs typeface="Geist Mono"/>
              </a:rPr>
              <a:t>DUPLICATE</a:t>
            </a:r>
          </a:p>
        </p:txBody>
      </p:sp>
      <p:sp>
        <p:nvSpPr>
          <p:cNvPr id="19" name="19-side-state-rule">
            <a:extLst xmlns:a="http://schemas.openxmlformats.org/drawingml/2006/main">
              <a:ext uri="{FF2B5EF4-FFF2-40B4-BE49-F238E27FC236}">
                <a16:creationId xmlns:a16="http://schemas.microsoft.com/office/drawing/2014/main" id="{E827D7BF-AB7D-48A8-BE82-E18AB3F0E891}"/>
              </a:ext>
            </a:extLst>
          </p:cNvPr>
          <p:cNvSpPr>
            <a:spLocks xmlns:a="http://schemas.openxmlformats.org/drawingml/2006/main" noGrp="1"/>
          </p:cNvSpPr>
          <p:nvPr/>
        </p:nvSpPr>
        <p:spPr>
          <a:xfrm xmlns:a="http://schemas.openxmlformats.org/drawingml/2006/main">
            <a:off x="1847850" y="4591050"/>
            <a:ext cx="13335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20" name="20-side-state">
            <a:extLst xmlns:a="http://schemas.openxmlformats.org/drawingml/2006/main">
              <a:ext uri="{FF2B5EF4-FFF2-40B4-BE49-F238E27FC236}">
                <a16:creationId xmlns:a16="http://schemas.microsoft.com/office/drawing/2014/main" id="{564FE611-7F95-4AED-9552-DB2630B2474F}"/>
              </a:ext>
            </a:extLst>
          </p:cNvPr>
          <p:cNvSpPr>
            <a:spLocks xmlns:a="http://schemas.openxmlformats.org/drawingml/2006/main" noGrp="1"/>
          </p:cNvSpPr>
          <p:nvPr/>
        </p:nvSpPr>
        <p:spPr>
          <a:xfrm xmlns:a="http://schemas.openxmlformats.org/drawingml/2006/main">
            <a:off x="3867150" y="40576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5C5046"/>
                </a:solidFill>
                <a:latin typeface="Geist Mono"/>
                <a:ea typeface="Geist Mono"/>
                <a:cs typeface="Geist Mono"/>
              </a:defRPr>
            </a:pPr>
            <a:r>
              <a:rPr sz="1125" b="1" i="0">
                <a:solidFill>
                  <a:srgbClr val="5C5046"/>
                </a:solidFill>
                <a:latin typeface="Geist Mono"/>
                <a:ea typeface="Geist Mono"/>
                <a:cs typeface="Geist Mono"/>
              </a:rPr>
              <a:t>QUARANTINED</a:t>
            </a:r>
          </a:p>
        </p:txBody>
      </p:sp>
      <p:sp>
        <p:nvSpPr>
          <p:cNvPr id="21" name="21-side-state-rule">
            <a:extLst xmlns:a="http://schemas.openxmlformats.org/drawingml/2006/main">
              <a:ext uri="{FF2B5EF4-FFF2-40B4-BE49-F238E27FC236}">
                <a16:creationId xmlns:a16="http://schemas.microsoft.com/office/drawing/2014/main" id="{A794E542-610F-4408-8345-B9190A3FF4DD}"/>
              </a:ext>
            </a:extLst>
          </p:cNvPr>
          <p:cNvSpPr>
            <a:spLocks xmlns:a="http://schemas.openxmlformats.org/drawingml/2006/main" noGrp="1"/>
          </p:cNvSpPr>
          <p:nvPr/>
        </p:nvSpPr>
        <p:spPr>
          <a:xfrm xmlns:a="http://schemas.openxmlformats.org/drawingml/2006/main">
            <a:off x="4248150" y="4591050"/>
            <a:ext cx="13335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22" name="22-side-state">
            <a:extLst xmlns:a="http://schemas.openxmlformats.org/drawingml/2006/main">
              <a:ext uri="{FF2B5EF4-FFF2-40B4-BE49-F238E27FC236}">
                <a16:creationId xmlns:a16="http://schemas.microsoft.com/office/drawing/2014/main" id="{7CA57A34-3A0D-4569-BD1C-7B23B64CE8F5}"/>
              </a:ext>
            </a:extLst>
          </p:cNvPr>
          <p:cNvSpPr>
            <a:spLocks xmlns:a="http://schemas.openxmlformats.org/drawingml/2006/main" noGrp="1"/>
          </p:cNvSpPr>
          <p:nvPr/>
        </p:nvSpPr>
        <p:spPr>
          <a:xfrm xmlns:a="http://schemas.openxmlformats.org/drawingml/2006/main">
            <a:off x="6267450" y="40576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5C5046"/>
                </a:solidFill>
                <a:latin typeface="Geist Mono"/>
                <a:ea typeface="Geist Mono"/>
                <a:cs typeface="Geist Mono"/>
              </a:defRPr>
            </a:pPr>
            <a:r>
              <a:rPr sz="1125" b="1" i="0">
                <a:solidFill>
                  <a:srgbClr val="5C5046"/>
                </a:solidFill>
                <a:latin typeface="Geist Mono"/>
                <a:ea typeface="Geist Mono"/>
                <a:cs typeface="Geist Mono"/>
              </a:rPr>
              <a:t>RETRYING</a:t>
            </a:r>
          </a:p>
        </p:txBody>
      </p:sp>
      <p:sp>
        <p:nvSpPr>
          <p:cNvPr id="23" name="23-side-state-rule">
            <a:extLst xmlns:a="http://schemas.openxmlformats.org/drawingml/2006/main">
              <a:ext uri="{FF2B5EF4-FFF2-40B4-BE49-F238E27FC236}">
                <a16:creationId xmlns:a16="http://schemas.microsoft.com/office/drawing/2014/main" id="{C6127BAD-BE02-4A51-B5D9-993B34780763}"/>
              </a:ext>
            </a:extLst>
          </p:cNvPr>
          <p:cNvSpPr>
            <a:spLocks xmlns:a="http://schemas.openxmlformats.org/drawingml/2006/main" noGrp="1"/>
          </p:cNvSpPr>
          <p:nvPr/>
        </p:nvSpPr>
        <p:spPr>
          <a:xfrm xmlns:a="http://schemas.openxmlformats.org/drawingml/2006/main">
            <a:off x="6648450" y="4591050"/>
            <a:ext cx="13335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24" name="24-side-state">
            <a:extLst xmlns:a="http://schemas.openxmlformats.org/drawingml/2006/main">
              <a:ext uri="{FF2B5EF4-FFF2-40B4-BE49-F238E27FC236}">
                <a16:creationId xmlns:a16="http://schemas.microsoft.com/office/drawing/2014/main" id="{188FCB10-3C35-491C-997C-709D4DFB6D41}"/>
              </a:ext>
            </a:extLst>
          </p:cNvPr>
          <p:cNvSpPr>
            <a:spLocks xmlns:a="http://schemas.openxmlformats.org/drawingml/2006/main" noGrp="1"/>
          </p:cNvSpPr>
          <p:nvPr/>
        </p:nvSpPr>
        <p:spPr>
          <a:xfrm xmlns:a="http://schemas.openxmlformats.org/drawingml/2006/main">
            <a:off x="8667750" y="40576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i="0">
                <a:solidFill>
                  <a:srgbClr val="5C5046"/>
                </a:solidFill>
                <a:latin typeface="Geist Mono"/>
                <a:ea typeface="Geist Mono"/>
                <a:cs typeface="Geist Mono"/>
              </a:defRPr>
            </a:pPr>
            <a:r>
              <a:rPr sz="1125" b="1" i="0">
                <a:solidFill>
                  <a:srgbClr val="5C5046"/>
                </a:solidFill>
                <a:latin typeface="Geist Mono"/>
                <a:ea typeface="Geist Mono"/>
                <a:cs typeface="Geist Mono"/>
              </a:rPr>
              <a:t>REJECTED</a:t>
            </a:r>
          </a:p>
        </p:txBody>
      </p:sp>
      <p:sp>
        <p:nvSpPr>
          <p:cNvPr id="25" name="25-side-state-rule">
            <a:extLst xmlns:a="http://schemas.openxmlformats.org/drawingml/2006/main">
              <a:ext uri="{FF2B5EF4-FFF2-40B4-BE49-F238E27FC236}">
                <a16:creationId xmlns:a16="http://schemas.microsoft.com/office/drawing/2014/main" id="{38B33671-E73D-4C2E-978E-540400045C02}"/>
              </a:ext>
            </a:extLst>
          </p:cNvPr>
          <p:cNvSpPr>
            <a:spLocks xmlns:a="http://schemas.openxmlformats.org/drawingml/2006/main" noGrp="1"/>
          </p:cNvSpPr>
          <p:nvPr/>
        </p:nvSpPr>
        <p:spPr>
          <a:xfrm xmlns:a="http://schemas.openxmlformats.org/drawingml/2006/main">
            <a:off x="9048750" y="4591050"/>
            <a:ext cx="13335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26" name="26-state-takeaway">
            <a:extLst xmlns:a="http://schemas.openxmlformats.org/drawingml/2006/main">
              <a:ext uri="{FF2B5EF4-FFF2-40B4-BE49-F238E27FC236}">
                <a16:creationId xmlns:a16="http://schemas.microsoft.com/office/drawing/2014/main" id="{208C51E7-44D3-4F7D-8FF7-90C8FD01C121}"/>
              </a:ext>
            </a:extLst>
          </p:cNvPr>
          <p:cNvSpPr>
            <a:spLocks xmlns:a="http://schemas.openxmlformats.org/drawingml/2006/main" noGrp="1"/>
          </p:cNvSpPr>
          <p:nvPr/>
        </p:nvSpPr>
        <p:spPr>
          <a:xfrm xmlns:a="http://schemas.openxmlformats.org/drawingml/2006/main">
            <a:off x="1619250" y="5143500"/>
            <a:ext cx="895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625" b="0" i="1">
                <a:solidFill>
                  <a:srgbClr val="1F1A14"/>
                </a:solidFill>
                <a:latin typeface="Fraunces 9pt"/>
                <a:ea typeface="Fraunces 9pt"/>
                <a:cs typeface="Fraunces 9pt"/>
              </a:defRPr>
            </a:pPr>
            <a:r>
              <a:rPr sz="2625" b="0" i="1">
                <a:solidFill>
                  <a:srgbClr val="1F1A14"/>
                </a:solidFill>
                <a:latin typeface="Fraunces 9pt"/>
                <a:ea typeface="Fraunces 9pt"/>
                <a:cs typeface="Fraunces 9pt"/>
              </a:rPr>
              <a:t>If you cannot name the states, you cannot control the system.</a:t>
            </a:r>
          </a:p>
        </p:txBody>
      </p:sp>
      <p:sp>
        <p:nvSpPr>
          <p:cNvPr id="27" name="27-footer-rule">
            <a:extLst xmlns:a="http://schemas.openxmlformats.org/drawingml/2006/main">
              <a:ext uri="{FF2B5EF4-FFF2-40B4-BE49-F238E27FC236}">
                <a16:creationId xmlns:a16="http://schemas.microsoft.com/office/drawing/2014/main" id="{2F1CB3F1-0BAE-487E-B5FF-92A4BEB62D9F}"/>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8" name="28-footer-left">
            <a:extLst xmlns:a="http://schemas.openxmlformats.org/drawingml/2006/main">
              <a:ext uri="{FF2B5EF4-FFF2-40B4-BE49-F238E27FC236}">
                <a16:creationId xmlns:a16="http://schemas.microsoft.com/office/drawing/2014/main" id="{ED0ACB64-EEBB-4343-8E5B-75266EBE2A36}"/>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00:12-00:14</a:t>
            </a:r>
          </a:p>
        </p:txBody>
      </p:sp>
      <p:sp>
        <p:nvSpPr>
          <p:cNvPr id="29" name="29-footer-right">
            <a:extLst xmlns:a="http://schemas.openxmlformats.org/drawingml/2006/main">
              <a:ext uri="{FF2B5EF4-FFF2-40B4-BE49-F238E27FC236}">
                <a16:creationId xmlns:a16="http://schemas.microsoft.com/office/drawing/2014/main" id="{95F5288A-59F1-44AB-BB7A-B71CBE472CD0}"/>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05 / 27</a:t>
            </a:r>
          </a:p>
        </p:txBody>
      </p:sp>
    </p:spTree>
    <p:extLst>
      <p:ext uri="{BB962C8B-B14F-4D97-AF65-F5344CB8AC3E}">
        <p14:creationId xmlns:p14="http://schemas.microsoft.com/office/powerpoint/2010/main" val="2011517796"/>
      </p:ext>
    </p:extLst>
  </p:cSld>
</p:sld>
</file>

<file path=ppt/slides/slide6.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31" name="01-kicker">
            <a:extLst xmlns:a="http://schemas.openxmlformats.org/drawingml/2006/main">
              <a:ext uri="{FF2B5EF4-FFF2-40B4-BE49-F238E27FC236}">
                <a16:creationId xmlns:a16="http://schemas.microsoft.com/office/drawing/2014/main" id="{9C69E0B5-5F56-4E2E-839F-6BBC51F30170}"/>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ONE SENTENCE EACH</a:t>
            </a:r>
          </a:p>
        </p:txBody>
      </p:sp>
      <p:sp>
        <p:nvSpPr>
          <p:cNvPr id="2" name="02-title">
            <a:extLst xmlns:a="http://schemas.openxmlformats.org/drawingml/2006/main">
              <a:ext uri="{FF2B5EF4-FFF2-40B4-BE49-F238E27FC236}">
                <a16:creationId xmlns:a16="http://schemas.microsoft.com/office/drawing/2014/main" id="{6C6E54E2-F00E-44FD-9244-A243A1D37BCB}"/>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The six-box contract</a:t>
            </a:r>
          </a:p>
        </p:txBody>
      </p:sp>
      <p:sp>
        <p:nvSpPr>
          <p:cNvPr id="3" name="03-title-rule">
            <a:extLst xmlns:a="http://schemas.openxmlformats.org/drawingml/2006/main">
              <a:ext uri="{FF2B5EF4-FFF2-40B4-BE49-F238E27FC236}">
                <a16:creationId xmlns:a16="http://schemas.microsoft.com/office/drawing/2014/main" id="{57DA29F0-F67D-4319-9088-AF881BDE9FE0}"/>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contract-number">
            <a:extLst xmlns:a="http://schemas.openxmlformats.org/drawingml/2006/main">
              <a:ext uri="{FF2B5EF4-FFF2-40B4-BE49-F238E27FC236}">
                <a16:creationId xmlns:a16="http://schemas.microsoft.com/office/drawing/2014/main" id="{B38439A9-B87B-40A7-8FE6-C1CF33CE2C92}"/>
              </a:ext>
            </a:extLst>
          </p:cNvPr>
          <p:cNvSpPr>
            <a:spLocks xmlns:a="http://schemas.openxmlformats.org/drawingml/2006/main" noGrp="1"/>
          </p:cNvSpPr>
          <p:nvPr/>
        </p:nvSpPr>
        <p:spPr>
          <a:xfrm xmlns:a="http://schemas.openxmlformats.org/drawingml/2006/main">
            <a:off x="609600" y="217170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i="0">
                <a:solidFill>
                  <a:srgbClr val="1E3A35"/>
                </a:solidFill>
                <a:latin typeface="Fraunces 9pt"/>
                <a:ea typeface="Fraunces 9pt"/>
                <a:cs typeface="Fraunces 9pt"/>
              </a:defRPr>
            </a:pPr>
            <a:r>
              <a:rPr sz="3150" b="1" i="0">
                <a:solidFill>
                  <a:srgbClr val="1E3A35"/>
                </a:solidFill>
                <a:latin typeface="Fraunces 9pt"/>
                <a:ea typeface="Fraunces 9pt"/>
                <a:cs typeface="Fraunces 9pt"/>
              </a:rPr>
              <a:t>1</a:t>
            </a:r>
          </a:p>
        </p:txBody>
      </p:sp>
      <p:sp>
        <p:nvSpPr>
          <p:cNvPr id="5" name="05-contract-rule">
            <a:extLst xmlns:a="http://schemas.openxmlformats.org/drawingml/2006/main">
              <a:ext uri="{FF2B5EF4-FFF2-40B4-BE49-F238E27FC236}">
                <a16:creationId xmlns:a16="http://schemas.microsoft.com/office/drawing/2014/main" id="{414E400D-8E05-46B9-82A9-52AD1A6354A2}"/>
              </a:ext>
            </a:extLst>
          </p:cNvPr>
          <p:cNvSpPr>
            <a:spLocks xmlns:a="http://schemas.openxmlformats.org/drawingml/2006/main" noGrp="1"/>
          </p:cNvSpPr>
          <p:nvPr/>
        </p:nvSpPr>
        <p:spPr>
          <a:xfrm xmlns:a="http://schemas.openxmlformats.org/drawingml/2006/main">
            <a:off x="609600" y="2857500"/>
            <a:ext cx="16764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6" name="06-contract-label">
            <a:extLst xmlns:a="http://schemas.openxmlformats.org/drawingml/2006/main">
              <a:ext uri="{FF2B5EF4-FFF2-40B4-BE49-F238E27FC236}">
                <a16:creationId xmlns:a16="http://schemas.microsoft.com/office/drawing/2014/main" id="{56E7838A-15AF-42ED-90D9-08857B33E5DF}"/>
              </a:ext>
            </a:extLst>
          </p:cNvPr>
          <p:cNvSpPr>
            <a:spLocks xmlns:a="http://schemas.openxmlformats.org/drawingml/2006/main" noGrp="1"/>
          </p:cNvSpPr>
          <p:nvPr/>
        </p:nvSpPr>
        <p:spPr>
          <a:xfrm xmlns:a="http://schemas.openxmlformats.org/drawingml/2006/main">
            <a:off x="609600" y="30670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F1A14"/>
                </a:solidFill>
                <a:latin typeface="Geist"/>
                <a:ea typeface="Geist"/>
                <a:cs typeface="Geist"/>
              </a:defRPr>
            </a:pPr>
            <a:r>
              <a:rPr sz="1500" b="1" i="0">
                <a:solidFill>
                  <a:srgbClr val="1F1A14"/>
                </a:solidFill>
                <a:latin typeface="Geist"/>
                <a:ea typeface="Geist"/>
                <a:cs typeface="Geist"/>
              </a:rPr>
              <a:t>Trigger</a:t>
            </a:r>
          </a:p>
        </p:txBody>
      </p:sp>
      <p:sp>
        <p:nvSpPr>
          <p:cNvPr id="7" name="07-contract-sub">
            <a:extLst xmlns:a="http://schemas.openxmlformats.org/drawingml/2006/main">
              <a:ext uri="{FF2B5EF4-FFF2-40B4-BE49-F238E27FC236}">
                <a16:creationId xmlns:a16="http://schemas.microsoft.com/office/drawing/2014/main" id="{5BD8BF7D-C59E-49A8-A63A-D7C0552DDD40}"/>
              </a:ext>
            </a:extLst>
          </p:cNvPr>
          <p:cNvSpPr>
            <a:spLocks xmlns:a="http://schemas.openxmlformats.org/drawingml/2006/main" noGrp="1"/>
          </p:cNvSpPr>
          <p:nvPr/>
        </p:nvSpPr>
        <p:spPr>
          <a:xfrm xmlns:a="http://schemas.openxmlformats.org/drawingml/2006/main">
            <a:off x="685800" y="37338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5C5046"/>
                </a:solidFill>
                <a:latin typeface="Geist"/>
                <a:ea typeface="Geist"/>
                <a:cs typeface="Geist"/>
              </a:defRPr>
            </a:pPr>
            <a:r>
              <a:rPr sz="1275" b="0" i="0">
                <a:solidFill>
                  <a:srgbClr val="5C5046"/>
                </a:solidFill>
                <a:latin typeface="Geist"/>
                <a:ea typeface="Geist"/>
                <a:cs typeface="Geist"/>
              </a:rPr>
              <a:t>webhook</a:t>
            </a:r>
          </a:p>
        </p:txBody>
      </p:sp>
      <p:sp>
        <p:nvSpPr>
          <p:cNvPr id="8" name="08-contract-number">
            <a:extLst xmlns:a="http://schemas.openxmlformats.org/drawingml/2006/main">
              <a:ext uri="{FF2B5EF4-FFF2-40B4-BE49-F238E27FC236}">
                <a16:creationId xmlns:a16="http://schemas.microsoft.com/office/drawing/2014/main" id="{DBA5F3DA-E736-4420-91A7-9ED9BE497B00}"/>
              </a:ext>
            </a:extLst>
          </p:cNvPr>
          <p:cNvSpPr>
            <a:spLocks xmlns:a="http://schemas.openxmlformats.org/drawingml/2006/main" noGrp="1"/>
          </p:cNvSpPr>
          <p:nvPr/>
        </p:nvSpPr>
        <p:spPr>
          <a:xfrm xmlns:a="http://schemas.openxmlformats.org/drawingml/2006/main">
            <a:off x="2438400" y="217170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i="0">
                <a:solidFill>
                  <a:srgbClr val="1E3A35"/>
                </a:solidFill>
                <a:latin typeface="Fraunces 9pt"/>
                <a:ea typeface="Fraunces 9pt"/>
                <a:cs typeface="Fraunces 9pt"/>
              </a:defRPr>
            </a:pPr>
            <a:r>
              <a:rPr sz="3150" b="1" i="0">
                <a:solidFill>
                  <a:srgbClr val="1E3A35"/>
                </a:solidFill>
                <a:latin typeface="Fraunces 9pt"/>
                <a:ea typeface="Fraunces 9pt"/>
                <a:cs typeface="Fraunces 9pt"/>
              </a:rPr>
              <a:t>2</a:t>
            </a:r>
          </a:p>
        </p:txBody>
      </p:sp>
      <p:sp>
        <p:nvSpPr>
          <p:cNvPr id="9" name="09-contract-rule">
            <a:extLst xmlns:a="http://schemas.openxmlformats.org/drawingml/2006/main">
              <a:ext uri="{FF2B5EF4-FFF2-40B4-BE49-F238E27FC236}">
                <a16:creationId xmlns:a16="http://schemas.microsoft.com/office/drawing/2014/main" id="{AC36E5DF-C94F-4FB1-86CF-B613339E0A11}"/>
              </a:ext>
            </a:extLst>
          </p:cNvPr>
          <p:cNvSpPr>
            <a:spLocks xmlns:a="http://schemas.openxmlformats.org/drawingml/2006/main" noGrp="1"/>
          </p:cNvSpPr>
          <p:nvPr/>
        </p:nvSpPr>
        <p:spPr>
          <a:xfrm xmlns:a="http://schemas.openxmlformats.org/drawingml/2006/main">
            <a:off x="2438400" y="2857500"/>
            <a:ext cx="16764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10" name="10-contract-label">
            <a:extLst xmlns:a="http://schemas.openxmlformats.org/drawingml/2006/main">
              <a:ext uri="{FF2B5EF4-FFF2-40B4-BE49-F238E27FC236}">
                <a16:creationId xmlns:a16="http://schemas.microsoft.com/office/drawing/2014/main" id="{DC47199F-7F2D-4CEF-8A25-93B38042AB28}"/>
              </a:ext>
            </a:extLst>
          </p:cNvPr>
          <p:cNvSpPr>
            <a:spLocks xmlns:a="http://schemas.openxmlformats.org/drawingml/2006/main" noGrp="1"/>
          </p:cNvSpPr>
          <p:nvPr/>
        </p:nvSpPr>
        <p:spPr>
          <a:xfrm xmlns:a="http://schemas.openxmlformats.org/drawingml/2006/main">
            <a:off x="2438400" y="30670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F1A14"/>
                </a:solidFill>
                <a:latin typeface="Geist"/>
                <a:ea typeface="Geist"/>
                <a:cs typeface="Geist"/>
              </a:defRPr>
            </a:pPr>
            <a:r>
              <a:rPr sz="1500" b="1" i="0">
                <a:solidFill>
                  <a:srgbClr val="1F1A14"/>
                </a:solidFill>
                <a:latin typeface="Geist"/>
                <a:ea typeface="Geist"/>
                <a:cs typeface="Geist"/>
              </a:rPr>
              <a:t>Contract</a:t>
            </a:r>
          </a:p>
        </p:txBody>
      </p:sp>
      <p:sp>
        <p:nvSpPr>
          <p:cNvPr id="11" name="11-contract-sub">
            <a:extLst xmlns:a="http://schemas.openxmlformats.org/drawingml/2006/main">
              <a:ext uri="{FF2B5EF4-FFF2-40B4-BE49-F238E27FC236}">
                <a16:creationId xmlns:a16="http://schemas.microsoft.com/office/drawing/2014/main" id="{D50EE284-49FF-4B77-A259-A381BF9D82F5}"/>
              </a:ext>
            </a:extLst>
          </p:cNvPr>
          <p:cNvSpPr>
            <a:spLocks xmlns:a="http://schemas.openxmlformats.org/drawingml/2006/main" noGrp="1"/>
          </p:cNvSpPr>
          <p:nvPr/>
        </p:nvSpPr>
        <p:spPr>
          <a:xfrm xmlns:a="http://schemas.openxmlformats.org/drawingml/2006/main">
            <a:off x="2514600" y="37338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5C5046"/>
                </a:solidFill>
                <a:latin typeface="Geist"/>
                <a:ea typeface="Geist"/>
                <a:cs typeface="Geist"/>
              </a:defRPr>
            </a:pPr>
            <a:r>
              <a:rPr sz="1275" b="0" i="0">
                <a:solidFill>
                  <a:srgbClr val="5C5046"/>
                </a:solidFill>
                <a:latin typeface="Geist"/>
                <a:ea typeface="Geist"/>
                <a:cs typeface="Geist"/>
              </a:rPr>
              <a:t>required fields</a:t>
            </a:r>
          </a:p>
        </p:txBody>
      </p:sp>
      <p:sp>
        <p:nvSpPr>
          <p:cNvPr id="12" name="12-contract-number">
            <a:extLst xmlns:a="http://schemas.openxmlformats.org/drawingml/2006/main">
              <a:ext uri="{FF2B5EF4-FFF2-40B4-BE49-F238E27FC236}">
                <a16:creationId xmlns:a16="http://schemas.microsoft.com/office/drawing/2014/main" id="{8F444FEF-2FC3-4010-8A34-49DDDE69EEDD}"/>
              </a:ext>
            </a:extLst>
          </p:cNvPr>
          <p:cNvSpPr>
            <a:spLocks xmlns:a="http://schemas.openxmlformats.org/drawingml/2006/main" noGrp="1"/>
          </p:cNvSpPr>
          <p:nvPr/>
        </p:nvSpPr>
        <p:spPr>
          <a:xfrm xmlns:a="http://schemas.openxmlformats.org/drawingml/2006/main">
            <a:off x="4267200" y="217170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i="0">
                <a:solidFill>
                  <a:srgbClr val="1E3A35"/>
                </a:solidFill>
                <a:latin typeface="Fraunces 9pt"/>
                <a:ea typeface="Fraunces 9pt"/>
                <a:cs typeface="Fraunces 9pt"/>
              </a:defRPr>
            </a:pPr>
            <a:r>
              <a:rPr sz="3150" b="1" i="0">
                <a:solidFill>
                  <a:srgbClr val="1E3A35"/>
                </a:solidFill>
                <a:latin typeface="Fraunces 9pt"/>
                <a:ea typeface="Fraunces 9pt"/>
                <a:cs typeface="Fraunces 9pt"/>
              </a:rPr>
              <a:t>3</a:t>
            </a:r>
          </a:p>
        </p:txBody>
      </p:sp>
      <p:sp>
        <p:nvSpPr>
          <p:cNvPr id="13" name="13-contract-rule">
            <a:extLst xmlns:a="http://schemas.openxmlformats.org/drawingml/2006/main">
              <a:ext uri="{FF2B5EF4-FFF2-40B4-BE49-F238E27FC236}">
                <a16:creationId xmlns:a16="http://schemas.microsoft.com/office/drawing/2014/main" id="{12812805-1430-4F72-8319-38BBDD6854C0}"/>
              </a:ext>
            </a:extLst>
          </p:cNvPr>
          <p:cNvSpPr>
            <a:spLocks xmlns:a="http://schemas.openxmlformats.org/drawingml/2006/main" noGrp="1"/>
          </p:cNvSpPr>
          <p:nvPr/>
        </p:nvSpPr>
        <p:spPr>
          <a:xfrm xmlns:a="http://schemas.openxmlformats.org/drawingml/2006/main">
            <a:off x="4267200" y="2857500"/>
            <a:ext cx="16764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14" name="14-contract-label">
            <a:extLst xmlns:a="http://schemas.openxmlformats.org/drawingml/2006/main">
              <a:ext uri="{FF2B5EF4-FFF2-40B4-BE49-F238E27FC236}">
                <a16:creationId xmlns:a16="http://schemas.microsoft.com/office/drawing/2014/main" id="{5C06C525-7420-4A10-8C85-F256CFAC9F50}"/>
              </a:ext>
            </a:extLst>
          </p:cNvPr>
          <p:cNvSpPr>
            <a:spLocks xmlns:a="http://schemas.openxmlformats.org/drawingml/2006/main" noGrp="1"/>
          </p:cNvSpPr>
          <p:nvPr/>
        </p:nvSpPr>
        <p:spPr>
          <a:xfrm xmlns:a="http://schemas.openxmlformats.org/drawingml/2006/main">
            <a:off x="4267200" y="30670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F1A14"/>
                </a:solidFill>
                <a:latin typeface="Geist"/>
                <a:ea typeface="Geist"/>
                <a:cs typeface="Geist"/>
              </a:defRPr>
            </a:pPr>
            <a:r>
              <a:rPr sz="1500" b="1" i="0">
                <a:solidFill>
                  <a:srgbClr val="1F1A14"/>
                </a:solidFill>
                <a:latin typeface="Geist"/>
                <a:ea typeface="Geist"/>
                <a:cs typeface="Geist"/>
              </a:rPr>
              <a:t>State</a:t>
            </a:r>
          </a:p>
        </p:txBody>
      </p:sp>
      <p:sp>
        <p:nvSpPr>
          <p:cNvPr id="15" name="15-contract-sub">
            <a:extLst xmlns:a="http://schemas.openxmlformats.org/drawingml/2006/main">
              <a:ext uri="{FF2B5EF4-FFF2-40B4-BE49-F238E27FC236}">
                <a16:creationId xmlns:a16="http://schemas.microsoft.com/office/drawing/2014/main" id="{FB366F49-9FD3-495F-9BCA-E02EA4DBDC5B}"/>
              </a:ext>
            </a:extLst>
          </p:cNvPr>
          <p:cNvSpPr>
            <a:spLocks xmlns:a="http://schemas.openxmlformats.org/drawingml/2006/main" noGrp="1"/>
          </p:cNvSpPr>
          <p:nvPr/>
        </p:nvSpPr>
        <p:spPr>
          <a:xfrm xmlns:a="http://schemas.openxmlformats.org/drawingml/2006/main">
            <a:off x="4343400" y="37338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5C5046"/>
                </a:solidFill>
                <a:latin typeface="Geist"/>
                <a:ea typeface="Geist"/>
                <a:cs typeface="Geist"/>
              </a:defRPr>
            </a:pPr>
            <a:r>
              <a:rPr sz="1275" b="0" i="0">
                <a:solidFill>
                  <a:srgbClr val="5C5046"/>
                </a:solidFill>
                <a:latin typeface="Geist"/>
                <a:ea typeface="Geist"/>
                <a:cs typeface="Geist"/>
              </a:rPr>
              <a:t>new / duplicate</a:t>
            </a:r>
          </a:p>
        </p:txBody>
      </p:sp>
      <p:sp>
        <p:nvSpPr>
          <p:cNvPr id="16" name="16-contract-number">
            <a:extLst xmlns:a="http://schemas.openxmlformats.org/drawingml/2006/main">
              <a:ext uri="{FF2B5EF4-FFF2-40B4-BE49-F238E27FC236}">
                <a16:creationId xmlns:a16="http://schemas.microsoft.com/office/drawing/2014/main" id="{BFBE4397-5C98-4924-A65E-9384DF96E0DF}"/>
              </a:ext>
            </a:extLst>
          </p:cNvPr>
          <p:cNvSpPr>
            <a:spLocks xmlns:a="http://schemas.openxmlformats.org/drawingml/2006/main" noGrp="1"/>
          </p:cNvSpPr>
          <p:nvPr/>
        </p:nvSpPr>
        <p:spPr>
          <a:xfrm xmlns:a="http://schemas.openxmlformats.org/drawingml/2006/main">
            <a:off x="6096000" y="217170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i="0">
                <a:solidFill>
                  <a:srgbClr val="1E3A35"/>
                </a:solidFill>
                <a:latin typeface="Fraunces 9pt"/>
                <a:ea typeface="Fraunces 9pt"/>
                <a:cs typeface="Fraunces 9pt"/>
              </a:defRPr>
            </a:pPr>
            <a:r>
              <a:rPr sz="3150" b="1" i="0">
                <a:solidFill>
                  <a:srgbClr val="1E3A35"/>
                </a:solidFill>
                <a:latin typeface="Fraunces 9pt"/>
                <a:ea typeface="Fraunces 9pt"/>
                <a:cs typeface="Fraunces 9pt"/>
              </a:rPr>
              <a:t>4</a:t>
            </a:r>
          </a:p>
        </p:txBody>
      </p:sp>
      <p:sp>
        <p:nvSpPr>
          <p:cNvPr id="17" name="17-contract-rule">
            <a:extLst xmlns:a="http://schemas.openxmlformats.org/drawingml/2006/main">
              <a:ext uri="{FF2B5EF4-FFF2-40B4-BE49-F238E27FC236}">
                <a16:creationId xmlns:a16="http://schemas.microsoft.com/office/drawing/2014/main" id="{DC205DC5-A32E-42A6-88C0-6C67ABAEAA9E}"/>
              </a:ext>
            </a:extLst>
          </p:cNvPr>
          <p:cNvSpPr>
            <a:spLocks xmlns:a="http://schemas.openxmlformats.org/drawingml/2006/main" noGrp="1"/>
          </p:cNvSpPr>
          <p:nvPr/>
        </p:nvSpPr>
        <p:spPr>
          <a:xfrm xmlns:a="http://schemas.openxmlformats.org/drawingml/2006/main">
            <a:off x="6096000" y="2857500"/>
            <a:ext cx="16764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18" name="18-contract-label">
            <a:extLst xmlns:a="http://schemas.openxmlformats.org/drawingml/2006/main">
              <a:ext uri="{FF2B5EF4-FFF2-40B4-BE49-F238E27FC236}">
                <a16:creationId xmlns:a16="http://schemas.microsoft.com/office/drawing/2014/main" id="{E49D3203-FB07-4955-958E-740BF1178C60}"/>
              </a:ext>
            </a:extLst>
          </p:cNvPr>
          <p:cNvSpPr>
            <a:spLocks xmlns:a="http://schemas.openxmlformats.org/drawingml/2006/main" noGrp="1"/>
          </p:cNvSpPr>
          <p:nvPr/>
        </p:nvSpPr>
        <p:spPr>
          <a:xfrm xmlns:a="http://schemas.openxmlformats.org/drawingml/2006/main">
            <a:off x="6096000" y="30670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F1A14"/>
                </a:solidFill>
                <a:latin typeface="Geist"/>
                <a:ea typeface="Geist"/>
                <a:cs typeface="Geist"/>
              </a:defRPr>
            </a:pPr>
            <a:r>
              <a:rPr sz="1500" b="1" i="0">
                <a:solidFill>
                  <a:srgbClr val="1F1A14"/>
                </a:solidFill>
                <a:latin typeface="Geist"/>
                <a:ea typeface="Geist"/>
                <a:cs typeface="Geist"/>
              </a:rPr>
              <a:t>Decision</a:t>
            </a:r>
          </a:p>
        </p:txBody>
      </p:sp>
      <p:sp>
        <p:nvSpPr>
          <p:cNvPr id="19" name="19-contract-sub">
            <a:extLst xmlns:a="http://schemas.openxmlformats.org/drawingml/2006/main">
              <a:ext uri="{FF2B5EF4-FFF2-40B4-BE49-F238E27FC236}">
                <a16:creationId xmlns:a16="http://schemas.microsoft.com/office/drawing/2014/main" id="{AB5C8542-6E7B-4E38-819B-27EB90D8A290}"/>
              </a:ext>
            </a:extLst>
          </p:cNvPr>
          <p:cNvSpPr>
            <a:spLocks xmlns:a="http://schemas.openxmlformats.org/drawingml/2006/main" noGrp="1"/>
          </p:cNvSpPr>
          <p:nvPr/>
        </p:nvSpPr>
        <p:spPr>
          <a:xfrm xmlns:a="http://schemas.openxmlformats.org/drawingml/2006/main">
            <a:off x="6172200" y="37338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5C5046"/>
                </a:solidFill>
                <a:latin typeface="Geist"/>
                <a:ea typeface="Geist"/>
                <a:cs typeface="Geist"/>
              </a:defRPr>
            </a:pPr>
            <a:r>
              <a:rPr sz="1275" b="0" i="0">
                <a:solidFill>
                  <a:srgbClr val="5C5046"/>
                </a:solidFill>
                <a:latin typeface="Geist"/>
                <a:ea typeface="Geist"/>
                <a:cs typeface="Geist"/>
              </a:rPr>
              <a:t>route</a:t>
            </a:r>
          </a:p>
        </p:txBody>
      </p:sp>
      <p:sp>
        <p:nvSpPr>
          <p:cNvPr id="20" name="20-contract-number">
            <a:extLst xmlns:a="http://schemas.openxmlformats.org/drawingml/2006/main">
              <a:ext uri="{FF2B5EF4-FFF2-40B4-BE49-F238E27FC236}">
                <a16:creationId xmlns:a16="http://schemas.microsoft.com/office/drawing/2014/main" id="{B92103D7-691E-44D8-97F7-B34FC2169D36}"/>
              </a:ext>
            </a:extLst>
          </p:cNvPr>
          <p:cNvSpPr>
            <a:spLocks xmlns:a="http://schemas.openxmlformats.org/drawingml/2006/main" noGrp="1"/>
          </p:cNvSpPr>
          <p:nvPr/>
        </p:nvSpPr>
        <p:spPr>
          <a:xfrm xmlns:a="http://schemas.openxmlformats.org/drawingml/2006/main">
            <a:off x="7924800" y="217170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i="0">
                <a:solidFill>
                  <a:srgbClr val="1E3A35"/>
                </a:solidFill>
                <a:latin typeface="Fraunces 9pt"/>
                <a:ea typeface="Fraunces 9pt"/>
                <a:cs typeface="Fraunces 9pt"/>
              </a:defRPr>
            </a:pPr>
            <a:r>
              <a:rPr sz="3150" b="1" i="0">
                <a:solidFill>
                  <a:srgbClr val="1E3A35"/>
                </a:solidFill>
                <a:latin typeface="Fraunces 9pt"/>
                <a:ea typeface="Fraunces 9pt"/>
                <a:cs typeface="Fraunces 9pt"/>
              </a:rPr>
              <a:t>5</a:t>
            </a:r>
          </a:p>
        </p:txBody>
      </p:sp>
      <p:sp>
        <p:nvSpPr>
          <p:cNvPr id="21" name="21-contract-rule">
            <a:extLst xmlns:a="http://schemas.openxmlformats.org/drawingml/2006/main">
              <a:ext uri="{FF2B5EF4-FFF2-40B4-BE49-F238E27FC236}">
                <a16:creationId xmlns:a16="http://schemas.microsoft.com/office/drawing/2014/main" id="{1D9E4041-AB7F-4E02-82EF-68CAEF4A3E7A}"/>
              </a:ext>
            </a:extLst>
          </p:cNvPr>
          <p:cNvSpPr>
            <a:spLocks xmlns:a="http://schemas.openxmlformats.org/drawingml/2006/main" noGrp="1"/>
          </p:cNvSpPr>
          <p:nvPr/>
        </p:nvSpPr>
        <p:spPr>
          <a:xfrm xmlns:a="http://schemas.openxmlformats.org/drawingml/2006/main">
            <a:off x="7924800" y="2857500"/>
            <a:ext cx="16764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22" name="22-contract-label">
            <a:extLst xmlns:a="http://schemas.openxmlformats.org/drawingml/2006/main">
              <a:ext uri="{FF2B5EF4-FFF2-40B4-BE49-F238E27FC236}">
                <a16:creationId xmlns:a16="http://schemas.microsoft.com/office/drawing/2014/main" id="{6F6F97E3-DF51-4C85-A5DD-59CAD48B166F}"/>
              </a:ext>
            </a:extLst>
          </p:cNvPr>
          <p:cNvSpPr>
            <a:spLocks xmlns:a="http://schemas.openxmlformats.org/drawingml/2006/main" noGrp="1"/>
          </p:cNvSpPr>
          <p:nvPr/>
        </p:nvSpPr>
        <p:spPr>
          <a:xfrm xmlns:a="http://schemas.openxmlformats.org/drawingml/2006/main">
            <a:off x="7924800" y="30670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F1A14"/>
                </a:solidFill>
                <a:latin typeface="Geist"/>
                <a:ea typeface="Geist"/>
                <a:cs typeface="Geist"/>
              </a:defRPr>
            </a:pPr>
            <a:r>
              <a:rPr sz="1500" b="1" i="0">
                <a:solidFill>
                  <a:srgbClr val="1F1A14"/>
                </a:solidFill>
                <a:latin typeface="Geist"/>
                <a:ea typeface="Geist"/>
                <a:cs typeface="Geist"/>
              </a:rPr>
              <a:t>Action</a:t>
            </a:r>
          </a:p>
        </p:txBody>
      </p:sp>
      <p:sp>
        <p:nvSpPr>
          <p:cNvPr id="23" name="23-contract-sub">
            <a:extLst xmlns:a="http://schemas.openxmlformats.org/drawingml/2006/main">
              <a:ext uri="{FF2B5EF4-FFF2-40B4-BE49-F238E27FC236}">
                <a16:creationId xmlns:a16="http://schemas.microsoft.com/office/drawing/2014/main" id="{E15B891D-2F97-4150-AE35-2B34A3E9804D}"/>
              </a:ext>
            </a:extLst>
          </p:cNvPr>
          <p:cNvSpPr>
            <a:spLocks xmlns:a="http://schemas.openxmlformats.org/drawingml/2006/main" noGrp="1"/>
          </p:cNvSpPr>
          <p:nvPr/>
        </p:nvSpPr>
        <p:spPr>
          <a:xfrm xmlns:a="http://schemas.openxmlformats.org/drawingml/2006/main">
            <a:off x="8001000" y="37338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5C5046"/>
                </a:solidFill>
                <a:latin typeface="Geist"/>
                <a:ea typeface="Geist"/>
                <a:cs typeface="Geist"/>
              </a:defRPr>
            </a:pPr>
            <a:r>
              <a:rPr sz="1275" b="0" i="0">
                <a:solidFill>
                  <a:srgbClr val="5C5046"/>
                </a:solidFill>
                <a:latin typeface="Geist"/>
                <a:ea typeface="Geist"/>
                <a:cs typeface="Geist"/>
              </a:rPr>
              <a:t>draft / queue</a:t>
            </a:r>
          </a:p>
        </p:txBody>
      </p:sp>
      <p:sp>
        <p:nvSpPr>
          <p:cNvPr id="24" name="24-contract-number">
            <a:extLst xmlns:a="http://schemas.openxmlformats.org/drawingml/2006/main">
              <a:ext uri="{FF2B5EF4-FFF2-40B4-BE49-F238E27FC236}">
                <a16:creationId xmlns:a16="http://schemas.microsoft.com/office/drawing/2014/main" id="{E08C2AC2-EE50-46BC-A656-A1A1D2EB646D}"/>
              </a:ext>
            </a:extLst>
          </p:cNvPr>
          <p:cNvSpPr>
            <a:spLocks xmlns:a="http://schemas.openxmlformats.org/drawingml/2006/main" noGrp="1"/>
          </p:cNvSpPr>
          <p:nvPr/>
        </p:nvSpPr>
        <p:spPr>
          <a:xfrm xmlns:a="http://schemas.openxmlformats.org/drawingml/2006/main">
            <a:off x="9753600" y="2171700"/>
            <a:ext cx="1676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i="0">
                <a:solidFill>
                  <a:srgbClr val="C4581A"/>
                </a:solidFill>
                <a:latin typeface="Fraunces 9pt"/>
                <a:ea typeface="Fraunces 9pt"/>
                <a:cs typeface="Fraunces 9pt"/>
              </a:defRPr>
            </a:pPr>
            <a:r>
              <a:rPr sz="3150" b="1" i="0">
                <a:solidFill>
                  <a:srgbClr val="C4581A"/>
                </a:solidFill>
                <a:latin typeface="Fraunces 9pt"/>
                <a:ea typeface="Fraunces 9pt"/>
                <a:cs typeface="Fraunces 9pt"/>
              </a:rPr>
              <a:t>6</a:t>
            </a:r>
          </a:p>
        </p:txBody>
      </p:sp>
      <p:sp>
        <p:nvSpPr>
          <p:cNvPr id="25" name="25-contract-rule">
            <a:extLst xmlns:a="http://schemas.openxmlformats.org/drawingml/2006/main">
              <a:ext uri="{FF2B5EF4-FFF2-40B4-BE49-F238E27FC236}">
                <a16:creationId xmlns:a16="http://schemas.microsoft.com/office/drawing/2014/main" id="{C8EF1D89-22EC-4AEE-B3B2-CC40C4B4971C}"/>
              </a:ext>
            </a:extLst>
          </p:cNvPr>
          <p:cNvSpPr>
            <a:spLocks xmlns:a="http://schemas.openxmlformats.org/drawingml/2006/main" noGrp="1"/>
          </p:cNvSpPr>
          <p:nvPr/>
        </p:nvSpPr>
        <p:spPr>
          <a:xfrm xmlns:a="http://schemas.openxmlformats.org/drawingml/2006/main">
            <a:off x="9753600" y="2857500"/>
            <a:ext cx="1676400" cy="0"/>
          </a:xfrm>
          <a:prstGeom xmlns:a="http://schemas.openxmlformats.org/drawingml/2006/main" prst="line">
            <a:avLst/>
          </a:prstGeom>
          <a:noFill xmlns:a="http://schemas.openxmlformats.org/drawingml/2006/main"/>
          <a:ln xmlns:a="http://schemas.openxmlformats.org/drawingml/2006/main" w="38100">
            <a:solidFill>
              <a:srgbClr val="C4581A"/>
            </a:solidFill>
            <a:prstDash val="solid"/>
          </a:ln>
        </p:spPr>
      </p:sp>
      <p:sp>
        <p:nvSpPr>
          <p:cNvPr id="26" name="26-contract-label">
            <a:extLst xmlns:a="http://schemas.openxmlformats.org/drawingml/2006/main">
              <a:ext uri="{FF2B5EF4-FFF2-40B4-BE49-F238E27FC236}">
                <a16:creationId xmlns:a16="http://schemas.microsoft.com/office/drawing/2014/main" id="{A7BAE704-1DDE-48D0-8B39-48D371CECC38}"/>
              </a:ext>
            </a:extLst>
          </p:cNvPr>
          <p:cNvSpPr>
            <a:spLocks xmlns:a="http://schemas.openxmlformats.org/drawingml/2006/main" noGrp="1"/>
          </p:cNvSpPr>
          <p:nvPr/>
        </p:nvSpPr>
        <p:spPr>
          <a:xfrm xmlns:a="http://schemas.openxmlformats.org/drawingml/2006/main">
            <a:off x="9753600" y="30670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F1A14"/>
                </a:solidFill>
                <a:latin typeface="Geist"/>
                <a:ea typeface="Geist"/>
                <a:cs typeface="Geist"/>
              </a:defRPr>
            </a:pPr>
            <a:r>
              <a:rPr sz="1500" b="1" i="0">
                <a:solidFill>
                  <a:srgbClr val="1F1A14"/>
                </a:solidFill>
                <a:latin typeface="Geist"/>
                <a:ea typeface="Geist"/>
                <a:cs typeface="Geist"/>
              </a:rPr>
              <a:t>Evidence</a:t>
            </a:r>
          </a:p>
        </p:txBody>
      </p:sp>
      <p:sp>
        <p:nvSpPr>
          <p:cNvPr id="27" name="27-contract-sub">
            <a:extLst xmlns:a="http://schemas.openxmlformats.org/drawingml/2006/main">
              <a:ext uri="{FF2B5EF4-FFF2-40B4-BE49-F238E27FC236}">
                <a16:creationId xmlns:a16="http://schemas.microsoft.com/office/drawing/2014/main" id="{29A9AF67-5CD4-4E80-BC1D-FF1DC4889159}"/>
              </a:ext>
            </a:extLst>
          </p:cNvPr>
          <p:cNvSpPr>
            <a:spLocks xmlns:a="http://schemas.openxmlformats.org/drawingml/2006/main" noGrp="1"/>
          </p:cNvSpPr>
          <p:nvPr/>
        </p:nvSpPr>
        <p:spPr>
          <a:xfrm xmlns:a="http://schemas.openxmlformats.org/drawingml/2006/main">
            <a:off x="9829800" y="3733800"/>
            <a:ext cx="152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5C5046"/>
                </a:solidFill>
                <a:latin typeface="Geist"/>
                <a:ea typeface="Geist"/>
                <a:cs typeface="Geist"/>
              </a:defRPr>
            </a:pPr>
            <a:r>
              <a:rPr sz="1275" b="0" i="0">
                <a:solidFill>
                  <a:srgbClr val="5C5046"/>
                </a:solidFill>
                <a:latin typeface="Geist"/>
                <a:ea typeface="Geist"/>
                <a:cs typeface="Geist"/>
              </a:rPr>
              <a:t>audit + output</a:t>
            </a:r>
          </a:p>
        </p:txBody>
      </p:sp>
      <p:sp>
        <p:nvSpPr>
          <p:cNvPr id="28" name="28-footer-rule">
            <a:extLst xmlns:a="http://schemas.openxmlformats.org/drawingml/2006/main">
              <a:ext uri="{FF2B5EF4-FFF2-40B4-BE49-F238E27FC236}">
                <a16:creationId xmlns:a16="http://schemas.microsoft.com/office/drawing/2014/main" id="{ABE3AF9E-CD09-4A43-94E2-6E9ACB5D6B6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9" name="29-footer-left">
            <a:extLst xmlns:a="http://schemas.openxmlformats.org/drawingml/2006/main">
              <a:ext uri="{FF2B5EF4-FFF2-40B4-BE49-F238E27FC236}">
                <a16:creationId xmlns:a16="http://schemas.microsoft.com/office/drawing/2014/main" id="{A4454AF5-B592-40E7-88B6-A830D8B8B99B}"/>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00:14-00:18</a:t>
            </a:r>
          </a:p>
        </p:txBody>
      </p:sp>
      <p:sp>
        <p:nvSpPr>
          <p:cNvPr id="30" name="30-footer-right">
            <a:extLst xmlns:a="http://schemas.openxmlformats.org/drawingml/2006/main">
              <a:ext uri="{FF2B5EF4-FFF2-40B4-BE49-F238E27FC236}">
                <a16:creationId xmlns:a16="http://schemas.microsoft.com/office/drawing/2014/main" id="{B1901CE1-4B2D-4F7B-B68C-B8745097AB74}"/>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06 / 27</a:t>
            </a:r>
          </a:p>
        </p:txBody>
      </p:sp>
    </p:spTree>
    <p:extLst>
      <p:ext uri="{BB962C8B-B14F-4D97-AF65-F5344CB8AC3E}">
        <p14:creationId xmlns:p14="http://schemas.microsoft.com/office/powerpoint/2010/main" val="2139270959"/>
      </p:ext>
    </p:extLst>
  </p:cSld>
</p:sld>
</file>

<file path=ppt/slides/slide7.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18" name="01-kicker">
            <a:extLst xmlns:a="http://schemas.openxmlformats.org/drawingml/2006/main">
              <a:ext uri="{FF2B5EF4-FFF2-40B4-BE49-F238E27FC236}">
                <a16:creationId xmlns:a16="http://schemas.microsoft.com/office/drawing/2014/main" id="{2BDEE5DE-3453-4089-8B7C-8FF202444D6F}"/>
              </a:ext>
            </a:extLst>
          </p:cNvPr>
          <p:cNvSpPr>
            <a:spLocks xmlns:a="http://schemas.openxmlformats.org/drawingml/2006/main" noGrp="1"/>
          </p:cNvSpPr>
          <p:nvPr/>
        </p:nvSpPr>
        <p:spPr>
          <a:xfrm xmlns:a="http://schemas.openxmlformats.org/drawingml/2006/main">
            <a:off x="609600" y="5524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CONTROL BEFORE CONSEQUENCE</a:t>
            </a:r>
          </a:p>
        </p:txBody>
      </p:sp>
      <p:sp>
        <p:nvSpPr>
          <p:cNvPr id="2" name="02-brake-title">
            <a:extLst xmlns:a="http://schemas.openxmlformats.org/drawingml/2006/main">
              <a:ext uri="{FF2B5EF4-FFF2-40B4-BE49-F238E27FC236}">
                <a16:creationId xmlns:a16="http://schemas.microsoft.com/office/drawing/2014/main" id="{CFE29583-887B-4571-AC71-5EEA785E3DE2}"/>
              </a:ext>
            </a:extLst>
          </p:cNvPr>
          <p:cNvSpPr>
            <a:spLocks xmlns:a="http://schemas.openxmlformats.org/drawingml/2006/main" noGrp="1"/>
          </p:cNvSpPr>
          <p:nvPr/>
        </p:nvSpPr>
        <p:spPr>
          <a:xfrm xmlns:a="http://schemas.openxmlformats.org/drawingml/2006/main">
            <a:off x="609600" y="12573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i="0">
                <a:solidFill>
                  <a:srgbClr val="F5F0E8"/>
                </a:solidFill>
                <a:latin typeface="Fraunces 9pt"/>
                <a:ea typeface="Fraunces 9pt"/>
                <a:cs typeface="Fraunces 9pt"/>
              </a:defRPr>
            </a:pPr>
            <a:r>
              <a:rPr sz="5400" b="1" i="0">
                <a:solidFill>
                  <a:srgbClr val="F5F0E8"/>
                </a:solidFill>
                <a:latin typeface="Fraunces 9pt"/>
                <a:ea typeface="Fraunces 9pt"/>
                <a:cs typeface="Fraunces 9pt"/>
              </a:rPr>
              <a:t>Put the brake before the cliff</a:t>
            </a:r>
          </a:p>
        </p:txBody>
      </p:sp>
      <p:sp>
        <p:nvSpPr>
          <p:cNvPr id="3" name="03-brake-context">
            <a:extLst xmlns:a="http://schemas.openxmlformats.org/drawingml/2006/main">
              <a:ext uri="{FF2B5EF4-FFF2-40B4-BE49-F238E27FC236}">
                <a16:creationId xmlns:a16="http://schemas.microsoft.com/office/drawing/2014/main" id="{726DBA94-F2E7-42E7-B0A0-DA378FAACA0D}"/>
              </a:ext>
            </a:extLst>
          </p:cNvPr>
          <p:cNvSpPr>
            <a:spLocks xmlns:a="http://schemas.openxmlformats.org/drawingml/2006/main" noGrp="1"/>
          </p:cNvSpPr>
          <p:nvPr/>
        </p:nvSpPr>
        <p:spPr>
          <a:xfrm xmlns:a="http://schemas.openxmlformats.org/drawingml/2006/main">
            <a:off x="762000" y="27813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50" b="0" i="0">
                <a:solidFill>
                  <a:srgbClr val="C7D3CE"/>
                </a:solidFill>
                <a:latin typeface="Geist"/>
                <a:ea typeface="Geist"/>
                <a:cs typeface="Geist"/>
              </a:defRPr>
            </a:pPr>
            <a:r>
              <a:rPr sz="1950" b="0" i="0">
                <a:solidFill>
                  <a:srgbClr val="C7D3CE"/>
                </a:solidFill>
                <a:latin typeface="Geist"/>
                <a:ea typeface="Geist"/>
                <a:cs typeface="Geist"/>
              </a:rPr>
              <a:t>Before money, messages, deletion, publishing, or customer status changes:</a:t>
            </a:r>
          </a:p>
        </p:txBody>
      </p:sp>
      <p:sp>
        <p:nvSpPr>
          <p:cNvPr id="4" name="04-arrow">
            <a:extLst xmlns:a="http://schemas.openxmlformats.org/drawingml/2006/main">
              <a:ext uri="{FF2B5EF4-FFF2-40B4-BE49-F238E27FC236}">
                <a16:creationId xmlns:a16="http://schemas.microsoft.com/office/drawing/2014/main" id="{C9E51C38-C48C-4B45-9D1F-CC943F870073}"/>
              </a:ext>
            </a:extLst>
          </p:cNvPr>
          <p:cNvSpPr>
            <a:spLocks xmlns:a="http://schemas.openxmlformats.org/drawingml/2006/main" noGrp="1"/>
          </p:cNvSpPr>
          <p:nvPr/>
        </p:nvSpPr>
        <p:spPr>
          <a:xfrm xmlns:a="http://schemas.openxmlformats.org/drawingml/2006/main">
            <a:off x="3143250" y="4352925"/>
            <a:ext cx="838200" cy="171450"/>
          </a:xfrm>
          <a:prstGeom xmlns:a="http://schemas.openxmlformats.org/drawingml/2006/main" prst="rightArrow">
            <a:avLst/>
          </a:prstGeom>
          <a:solidFill xmlns:a="http://schemas.openxmlformats.org/drawingml/2006/main">
            <a:srgbClr val="46635D"/>
          </a:solidFill>
          <a:ln xmlns:a="http://schemas.openxmlformats.org/drawingml/2006/main" w="0">
            <a:noFill/>
            <a:prstDash val="solid"/>
          </a:ln>
        </p:spPr>
      </p:sp>
      <p:sp>
        <p:nvSpPr>
          <p:cNvPr id="5" name="05-node-bg">
            <a:extLst xmlns:a="http://schemas.openxmlformats.org/drawingml/2006/main">
              <a:ext uri="{FF2B5EF4-FFF2-40B4-BE49-F238E27FC236}">
                <a16:creationId xmlns:a16="http://schemas.microsoft.com/office/drawing/2014/main" id="{44131285-F11C-4487-9786-494A2925B899}"/>
              </a:ext>
            </a:extLst>
          </p:cNvPr>
          <p:cNvSpPr>
            <a:spLocks xmlns:a="http://schemas.openxmlformats.org/drawingml/2006/main" noGrp="1"/>
          </p:cNvSpPr>
          <p:nvPr/>
        </p:nvSpPr>
        <p:spPr>
          <a:xfrm xmlns:a="http://schemas.openxmlformats.org/drawingml/2006/main">
            <a:off x="800100" y="3943350"/>
            <a:ext cx="2381250" cy="990600"/>
          </a:xfrm>
          <a:prstGeom xmlns:a="http://schemas.openxmlformats.org/drawingml/2006/main" prst="rect">
            <a:avLst/>
          </a:prstGeom>
          <a:solidFill xmlns:a="http://schemas.openxmlformats.org/drawingml/2006/main">
            <a:srgbClr val="294A43"/>
          </a:solidFill>
          <a:ln xmlns:a="http://schemas.openxmlformats.org/drawingml/2006/main" w="14288">
            <a:solidFill>
              <a:srgbClr val="6B8A82"/>
            </a:solidFill>
            <a:prstDash val="solid"/>
          </a:ln>
        </p:spPr>
      </p:sp>
      <p:sp>
        <p:nvSpPr>
          <p:cNvPr id="6" name="06-node-label">
            <a:extLst xmlns:a="http://schemas.openxmlformats.org/drawingml/2006/main">
              <a:ext uri="{FF2B5EF4-FFF2-40B4-BE49-F238E27FC236}">
                <a16:creationId xmlns:a16="http://schemas.microsoft.com/office/drawing/2014/main" id="{C1CF0D5A-CB37-45ED-8810-B9450DC29CE9}"/>
              </a:ext>
            </a:extLst>
          </p:cNvPr>
          <p:cNvSpPr>
            <a:spLocks xmlns:a="http://schemas.openxmlformats.org/drawingml/2006/main" noGrp="1"/>
          </p:cNvSpPr>
          <p:nvPr/>
        </p:nvSpPr>
        <p:spPr>
          <a:xfrm xmlns:a="http://schemas.openxmlformats.org/drawingml/2006/main">
            <a:off x="914400" y="4019550"/>
            <a:ext cx="215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VALIDATE</a:t>
            </a:r>
          </a:p>
        </p:txBody>
      </p:sp>
      <p:sp>
        <p:nvSpPr>
          <p:cNvPr id="7" name="07-arrow">
            <a:extLst xmlns:a="http://schemas.openxmlformats.org/drawingml/2006/main">
              <a:ext uri="{FF2B5EF4-FFF2-40B4-BE49-F238E27FC236}">
                <a16:creationId xmlns:a16="http://schemas.microsoft.com/office/drawing/2014/main" id="{C2527546-6866-4801-89A4-7CD60741853B}"/>
              </a:ext>
            </a:extLst>
          </p:cNvPr>
          <p:cNvSpPr>
            <a:spLocks xmlns:a="http://schemas.openxmlformats.org/drawingml/2006/main" noGrp="1"/>
          </p:cNvSpPr>
          <p:nvPr/>
        </p:nvSpPr>
        <p:spPr>
          <a:xfrm xmlns:a="http://schemas.openxmlformats.org/drawingml/2006/main">
            <a:off x="5867400" y="4352925"/>
            <a:ext cx="838200" cy="171450"/>
          </a:xfrm>
          <a:prstGeom xmlns:a="http://schemas.openxmlformats.org/drawingml/2006/main" prst="rightArrow">
            <a:avLst/>
          </a:prstGeom>
          <a:solidFill xmlns:a="http://schemas.openxmlformats.org/drawingml/2006/main">
            <a:srgbClr val="46635D"/>
          </a:solidFill>
          <a:ln xmlns:a="http://schemas.openxmlformats.org/drawingml/2006/main" w="0">
            <a:noFill/>
            <a:prstDash val="solid"/>
          </a:ln>
        </p:spPr>
      </p:sp>
      <p:sp>
        <p:nvSpPr>
          <p:cNvPr id="8" name="08-node-bg">
            <a:extLst xmlns:a="http://schemas.openxmlformats.org/drawingml/2006/main">
              <a:ext uri="{FF2B5EF4-FFF2-40B4-BE49-F238E27FC236}">
                <a16:creationId xmlns:a16="http://schemas.microsoft.com/office/drawing/2014/main" id="{2C22C623-8BDB-4CDB-8050-717A431DE18A}"/>
              </a:ext>
            </a:extLst>
          </p:cNvPr>
          <p:cNvSpPr>
            <a:spLocks xmlns:a="http://schemas.openxmlformats.org/drawingml/2006/main" noGrp="1"/>
          </p:cNvSpPr>
          <p:nvPr/>
        </p:nvSpPr>
        <p:spPr>
          <a:xfrm xmlns:a="http://schemas.openxmlformats.org/drawingml/2006/main">
            <a:off x="3524250" y="3943350"/>
            <a:ext cx="2381250" cy="990600"/>
          </a:xfrm>
          <a:prstGeom xmlns:a="http://schemas.openxmlformats.org/drawingml/2006/main" prst="rect">
            <a:avLst/>
          </a:prstGeom>
          <a:solidFill xmlns:a="http://schemas.openxmlformats.org/drawingml/2006/main">
            <a:srgbClr val="294A43"/>
          </a:solidFill>
          <a:ln xmlns:a="http://schemas.openxmlformats.org/drawingml/2006/main" w="14288">
            <a:solidFill>
              <a:srgbClr val="6B8A82"/>
            </a:solidFill>
            <a:prstDash val="solid"/>
          </a:ln>
        </p:spPr>
      </p:sp>
      <p:sp>
        <p:nvSpPr>
          <p:cNvPr id="9" name="09-node-label">
            <a:extLst xmlns:a="http://schemas.openxmlformats.org/drawingml/2006/main">
              <a:ext uri="{FF2B5EF4-FFF2-40B4-BE49-F238E27FC236}">
                <a16:creationId xmlns:a16="http://schemas.microsoft.com/office/drawing/2014/main" id="{0AAF7551-6F9D-45D2-BCC7-8C77661D5312}"/>
              </a:ext>
            </a:extLst>
          </p:cNvPr>
          <p:cNvSpPr>
            <a:spLocks xmlns:a="http://schemas.openxmlformats.org/drawingml/2006/main" noGrp="1"/>
          </p:cNvSpPr>
          <p:nvPr/>
        </p:nvSpPr>
        <p:spPr>
          <a:xfrm xmlns:a="http://schemas.openxmlformats.org/drawingml/2006/main">
            <a:off x="3638550" y="4019550"/>
            <a:ext cx="215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DEDUPE</a:t>
            </a:r>
          </a:p>
        </p:txBody>
      </p:sp>
      <p:sp>
        <p:nvSpPr>
          <p:cNvPr id="10" name="10-arrow">
            <a:extLst xmlns:a="http://schemas.openxmlformats.org/drawingml/2006/main">
              <a:ext uri="{FF2B5EF4-FFF2-40B4-BE49-F238E27FC236}">
                <a16:creationId xmlns:a16="http://schemas.microsoft.com/office/drawing/2014/main" id="{CF95254A-4484-48B5-B714-CDC1F16D6C06}"/>
              </a:ext>
            </a:extLst>
          </p:cNvPr>
          <p:cNvSpPr>
            <a:spLocks xmlns:a="http://schemas.openxmlformats.org/drawingml/2006/main" noGrp="1"/>
          </p:cNvSpPr>
          <p:nvPr/>
        </p:nvSpPr>
        <p:spPr>
          <a:xfrm xmlns:a="http://schemas.openxmlformats.org/drawingml/2006/main">
            <a:off x="8591550" y="4352925"/>
            <a:ext cx="838200" cy="171450"/>
          </a:xfrm>
          <a:prstGeom xmlns:a="http://schemas.openxmlformats.org/drawingml/2006/main" prst="rightArrow">
            <a:avLst/>
          </a:prstGeom>
          <a:solidFill xmlns:a="http://schemas.openxmlformats.org/drawingml/2006/main">
            <a:srgbClr val="46635D"/>
          </a:solidFill>
          <a:ln xmlns:a="http://schemas.openxmlformats.org/drawingml/2006/main" w="0">
            <a:noFill/>
            <a:prstDash val="solid"/>
          </a:ln>
        </p:spPr>
      </p:sp>
      <p:sp>
        <p:nvSpPr>
          <p:cNvPr id="11" name="11-node-bg">
            <a:extLst xmlns:a="http://schemas.openxmlformats.org/drawingml/2006/main">
              <a:ext uri="{FF2B5EF4-FFF2-40B4-BE49-F238E27FC236}">
                <a16:creationId xmlns:a16="http://schemas.microsoft.com/office/drawing/2014/main" id="{AD3490CC-07B9-4044-B70B-3E520124D2DD}"/>
              </a:ext>
            </a:extLst>
          </p:cNvPr>
          <p:cNvSpPr>
            <a:spLocks xmlns:a="http://schemas.openxmlformats.org/drawingml/2006/main" noGrp="1"/>
          </p:cNvSpPr>
          <p:nvPr/>
        </p:nvSpPr>
        <p:spPr>
          <a:xfrm xmlns:a="http://schemas.openxmlformats.org/drawingml/2006/main">
            <a:off x="6248400" y="3943350"/>
            <a:ext cx="2381250" cy="990600"/>
          </a:xfrm>
          <a:prstGeom xmlns:a="http://schemas.openxmlformats.org/drawingml/2006/main" prst="rect">
            <a:avLst/>
          </a:prstGeom>
          <a:solidFill xmlns:a="http://schemas.openxmlformats.org/drawingml/2006/main">
            <a:srgbClr val="294A43"/>
          </a:solidFill>
          <a:ln xmlns:a="http://schemas.openxmlformats.org/drawingml/2006/main" w="14288">
            <a:solidFill>
              <a:srgbClr val="6B8A82"/>
            </a:solidFill>
            <a:prstDash val="solid"/>
          </a:ln>
        </p:spPr>
      </p:sp>
      <p:sp>
        <p:nvSpPr>
          <p:cNvPr id="12" name="12-node-label">
            <a:extLst xmlns:a="http://schemas.openxmlformats.org/drawingml/2006/main">
              <a:ext uri="{FF2B5EF4-FFF2-40B4-BE49-F238E27FC236}">
                <a16:creationId xmlns:a16="http://schemas.microsoft.com/office/drawing/2014/main" id="{91915FA2-20A9-4EE7-AA30-E0C322B2C5E2}"/>
              </a:ext>
            </a:extLst>
          </p:cNvPr>
          <p:cNvSpPr>
            <a:spLocks xmlns:a="http://schemas.openxmlformats.org/drawingml/2006/main" noGrp="1"/>
          </p:cNvSpPr>
          <p:nvPr/>
        </p:nvSpPr>
        <p:spPr>
          <a:xfrm xmlns:a="http://schemas.openxmlformats.org/drawingml/2006/main">
            <a:off x="6362700" y="4019550"/>
            <a:ext cx="215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APPROVE</a:t>
            </a:r>
          </a:p>
        </p:txBody>
      </p:sp>
      <p:sp>
        <p:nvSpPr>
          <p:cNvPr id="13" name="13-node-bg">
            <a:extLst xmlns:a="http://schemas.openxmlformats.org/drawingml/2006/main">
              <a:ext uri="{FF2B5EF4-FFF2-40B4-BE49-F238E27FC236}">
                <a16:creationId xmlns:a16="http://schemas.microsoft.com/office/drawing/2014/main" id="{6A63BD61-AD54-45E3-A349-0D7C9CA71336}"/>
              </a:ext>
            </a:extLst>
          </p:cNvPr>
          <p:cNvSpPr>
            <a:spLocks xmlns:a="http://schemas.openxmlformats.org/drawingml/2006/main" noGrp="1"/>
          </p:cNvSpPr>
          <p:nvPr/>
        </p:nvSpPr>
        <p:spPr>
          <a:xfrm xmlns:a="http://schemas.openxmlformats.org/drawingml/2006/main">
            <a:off x="8972550" y="3943350"/>
            <a:ext cx="2381250" cy="990600"/>
          </a:xfrm>
          <a:prstGeom xmlns:a="http://schemas.openxmlformats.org/drawingml/2006/main" prst="rect">
            <a:avLst/>
          </a:prstGeom>
          <a:solidFill xmlns:a="http://schemas.openxmlformats.org/drawingml/2006/main">
            <a:srgbClr val="C4581A"/>
          </a:solidFill>
          <a:ln xmlns:a="http://schemas.openxmlformats.org/drawingml/2006/main" w="14288">
            <a:solidFill>
              <a:srgbClr val="C4581A"/>
            </a:solidFill>
            <a:prstDash val="solid"/>
          </a:ln>
        </p:spPr>
      </p:sp>
      <p:sp>
        <p:nvSpPr>
          <p:cNvPr id="14" name="14-node-label">
            <a:extLst xmlns:a="http://schemas.openxmlformats.org/drawingml/2006/main">
              <a:ext uri="{FF2B5EF4-FFF2-40B4-BE49-F238E27FC236}">
                <a16:creationId xmlns:a16="http://schemas.microsoft.com/office/drawing/2014/main" id="{26477B47-5D65-49FF-B90E-DE2FF2093198}"/>
              </a:ext>
            </a:extLst>
          </p:cNvPr>
          <p:cNvSpPr>
            <a:spLocks xmlns:a="http://schemas.openxmlformats.org/drawingml/2006/main" noGrp="1"/>
          </p:cNvSpPr>
          <p:nvPr/>
        </p:nvSpPr>
        <p:spPr>
          <a:xfrm xmlns:a="http://schemas.openxmlformats.org/drawingml/2006/main">
            <a:off x="9086850" y="4019550"/>
            <a:ext cx="215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ACT</a:t>
            </a:r>
          </a:p>
        </p:txBody>
      </p:sp>
      <p:sp>
        <p:nvSpPr>
          <p:cNvPr id="15" name="15-footer-rule">
            <a:extLst xmlns:a="http://schemas.openxmlformats.org/drawingml/2006/main">
              <a:ext uri="{FF2B5EF4-FFF2-40B4-BE49-F238E27FC236}">
                <a16:creationId xmlns:a16="http://schemas.microsoft.com/office/drawing/2014/main" id="{0A3D40D7-A4E3-48B6-A532-DBD95E8B351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16" name="16-footer-left">
            <a:extLst xmlns:a="http://schemas.openxmlformats.org/drawingml/2006/main">
              <a:ext uri="{FF2B5EF4-FFF2-40B4-BE49-F238E27FC236}">
                <a16:creationId xmlns:a16="http://schemas.microsoft.com/office/drawing/2014/main" id="{788CAAE5-B871-424A-96BA-FAA6A8020417}"/>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00:18-00:20</a:t>
            </a:r>
          </a:p>
        </p:txBody>
      </p:sp>
      <p:sp>
        <p:nvSpPr>
          <p:cNvPr id="17" name="17-footer-right">
            <a:extLst xmlns:a="http://schemas.openxmlformats.org/drawingml/2006/main">
              <a:ext uri="{FF2B5EF4-FFF2-40B4-BE49-F238E27FC236}">
                <a16:creationId xmlns:a16="http://schemas.microsoft.com/office/drawing/2014/main" id="{2462E095-8540-4D5A-89F6-4C362859878F}"/>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07 / 27</a:t>
            </a:r>
          </a:p>
        </p:txBody>
      </p:sp>
    </p:spTree>
    <p:extLst>
      <p:ext uri="{BB962C8B-B14F-4D97-AF65-F5344CB8AC3E}">
        <p14:creationId xmlns:p14="http://schemas.microsoft.com/office/powerpoint/2010/main" val="209353736"/>
      </p:ext>
    </p:extLst>
  </p:cSld>
</p:sld>
</file>

<file path=ppt/slides/slide8.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7" name="01-kicker">
            <a:extLst xmlns:a="http://schemas.openxmlformats.org/drawingml/2006/main">
              <a:ext uri="{FF2B5EF4-FFF2-40B4-BE49-F238E27FC236}">
                <a16:creationId xmlns:a16="http://schemas.microsoft.com/office/drawing/2014/main" id="{19308C57-3609-4ADE-A037-751EE0518394}"/>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ONE PACK · ONE OWNER · ONE MEASURABLE RESULT</a:t>
            </a:r>
          </a:p>
        </p:txBody>
      </p:sp>
      <p:sp>
        <p:nvSpPr>
          <p:cNvPr id="2" name="02-title">
            <a:extLst xmlns:a="http://schemas.openxmlformats.org/drawingml/2006/main">
              <a:ext uri="{FF2B5EF4-FFF2-40B4-BE49-F238E27FC236}">
                <a16:creationId xmlns:a16="http://schemas.microsoft.com/office/drawing/2014/main" id="{D603BE3F-D75A-4509-B70C-F439C4F3518C}"/>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Choose one operating problem</a:t>
            </a:r>
          </a:p>
        </p:txBody>
      </p:sp>
      <p:sp>
        <p:nvSpPr>
          <p:cNvPr id="3" name="03-title-rule">
            <a:extLst xmlns:a="http://schemas.openxmlformats.org/drawingml/2006/main">
              <a:ext uri="{FF2B5EF4-FFF2-40B4-BE49-F238E27FC236}">
                <a16:creationId xmlns:a16="http://schemas.microsoft.com/office/drawing/2014/main" id="{A8153447-03B5-4435-89BD-984B90E1DFA6}"/>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problem-rule">
            <a:extLst xmlns:a="http://schemas.openxmlformats.org/drawingml/2006/main">
              <a:ext uri="{FF2B5EF4-FFF2-40B4-BE49-F238E27FC236}">
                <a16:creationId xmlns:a16="http://schemas.microsoft.com/office/drawing/2014/main" id="{C71C3732-0A37-41A5-AF02-8D031A055553}"/>
              </a:ext>
            </a:extLst>
          </p:cNvPr>
          <p:cNvSpPr>
            <a:spLocks xmlns:a="http://schemas.openxmlformats.org/drawingml/2006/main" noGrp="1"/>
          </p:cNvSpPr>
          <p:nvPr/>
        </p:nvSpPr>
        <p:spPr>
          <a:xfrm xmlns:a="http://schemas.openxmlformats.org/drawingml/2006/main">
            <a:off x="609600" y="2038350"/>
            <a:ext cx="3276600" cy="0"/>
          </a:xfrm>
          <a:prstGeom xmlns:a="http://schemas.openxmlformats.org/drawingml/2006/main" prst="line">
            <a:avLst/>
          </a:prstGeom>
          <a:noFill xmlns:a="http://schemas.openxmlformats.org/drawingml/2006/main"/>
          <a:ln xmlns:a="http://schemas.openxmlformats.org/drawingml/2006/main" w="47625">
            <a:solidFill>
              <a:srgbClr val="C4581A"/>
            </a:solidFill>
            <a:prstDash val="solid"/>
          </a:ln>
        </p:spPr>
      </p:sp>
      <p:sp>
        <p:nvSpPr>
          <p:cNvPr id="5" name="05-problem-label">
            <a:extLst xmlns:a="http://schemas.openxmlformats.org/drawingml/2006/main">
              <a:ext uri="{FF2B5EF4-FFF2-40B4-BE49-F238E27FC236}">
                <a16:creationId xmlns:a16="http://schemas.microsoft.com/office/drawing/2014/main" id="{C020DA3D-87AE-4CD8-97C6-4A271EDD806F}"/>
              </a:ext>
            </a:extLst>
          </p:cNvPr>
          <p:cNvSpPr>
            <a:spLocks xmlns:a="http://schemas.openxmlformats.org/drawingml/2006/main" noGrp="1"/>
          </p:cNvSpPr>
          <p:nvPr/>
        </p:nvSpPr>
        <p:spPr>
          <a:xfrm xmlns:a="http://schemas.openxmlformats.org/drawingml/2006/main">
            <a:off x="609600" y="2343150"/>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i="0">
                <a:solidFill>
                  <a:srgbClr val="C4581A"/>
                </a:solidFill>
                <a:latin typeface="Geist Mono"/>
                <a:ea typeface="Geist Mono"/>
                <a:cs typeface="Geist Mono"/>
              </a:defRPr>
            </a:pPr>
            <a:r>
              <a:rPr sz="1650" b="1" i="0">
                <a:solidFill>
                  <a:srgbClr val="C4581A"/>
                </a:solidFill>
                <a:latin typeface="Geist Mono"/>
                <a:ea typeface="Geist Mono"/>
                <a:cs typeface="Geist Mono"/>
              </a:rPr>
              <a:t>GTM</a:t>
            </a:r>
          </a:p>
        </p:txBody>
      </p:sp>
      <p:sp>
        <p:nvSpPr>
          <p:cNvPr id="6" name="06-problem-copy">
            <a:extLst xmlns:a="http://schemas.openxmlformats.org/drawingml/2006/main">
              <a:ext uri="{FF2B5EF4-FFF2-40B4-BE49-F238E27FC236}">
                <a16:creationId xmlns:a16="http://schemas.microsoft.com/office/drawing/2014/main" id="{EFCE9568-F4C2-499A-967C-1FBE2A33DE3A}"/>
              </a:ext>
            </a:extLst>
          </p:cNvPr>
          <p:cNvSpPr>
            <a:spLocks xmlns:a="http://schemas.openxmlformats.org/drawingml/2006/main" noGrp="1"/>
          </p:cNvSpPr>
          <p:nvPr/>
        </p:nvSpPr>
        <p:spPr>
          <a:xfrm xmlns:a="http://schemas.openxmlformats.org/drawingml/2006/main">
            <a:off x="857250" y="3143250"/>
            <a:ext cx="2781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1F1A14"/>
                </a:solidFill>
                <a:latin typeface="Fraunces 9pt"/>
                <a:ea typeface="Fraunces 9pt"/>
                <a:cs typeface="Fraunces 9pt"/>
              </a:defRPr>
            </a:pPr>
            <a:r>
              <a:rPr sz="2025" b="1" i="0">
                <a:solidFill>
                  <a:srgbClr val="1F1A14"/>
                </a:solidFill>
                <a:latin typeface="Fraunces 9pt"/>
                <a:ea typeface="Fraunces 9pt"/>
                <a:cs typeface="Fraunces 9pt"/>
              </a:rPr>
              <a:t>route a lead without duplicates</a:t>
            </a:r>
          </a:p>
        </p:txBody>
      </p:sp>
      <p:sp>
        <p:nvSpPr>
          <p:cNvPr id="7" name="07-problem-rule">
            <a:extLst xmlns:a="http://schemas.openxmlformats.org/drawingml/2006/main">
              <a:ext uri="{FF2B5EF4-FFF2-40B4-BE49-F238E27FC236}">
                <a16:creationId xmlns:a16="http://schemas.microsoft.com/office/drawing/2014/main" id="{B412840A-F5A8-42EB-89C4-54981F1EC6C4}"/>
              </a:ext>
            </a:extLst>
          </p:cNvPr>
          <p:cNvSpPr>
            <a:spLocks xmlns:a="http://schemas.openxmlformats.org/drawingml/2006/main" noGrp="1"/>
          </p:cNvSpPr>
          <p:nvPr/>
        </p:nvSpPr>
        <p:spPr>
          <a:xfrm xmlns:a="http://schemas.openxmlformats.org/drawingml/2006/main">
            <a:off x="4343400" y="2038350"/>
            <a:ext cx="3276600" cy="0"/>
          </a:xfrm>
          <a:prstGeom xmlns:a="http://schemas.openxmlformats.org/drawingml/2006/main" prst="line">
            <a:avLst/>
          </a:prstGeom>
          <a:noFill xmlns:a="http://schemas.openxmlformats.org/drawingml/2006/main"/>
          <a:ln xmlns:a="http://schemas.openxmlformats.org/drawingml/2006/main" w="47625">
            <a:solidFill>
              <a:srgbClr val="1E3A35"/>
            </a:solidFill>
            <a:prstDash val="solid"/>
          </a:ln>
        </p:spPr>
      </p:sp>
      <p:sp>
        <p:nvSpPr>
          <p:cNvPr id="8" name="08-problem-label">
            <a:extLst xmlns:a="http://schemas.openxmlformats.org/drawingml/2006/main">
              <a:ext uri="{FF2B5EF4-FFF2-40B4-BE49-F238E27FC236}">
                <a16:creationId xmlns:a16="http://schemas.microsoft.com/office/drawing/2014/main" id="{9DE845E9-61A7-4D8C-9E79-4DC6BFE7AFF6}"/>
              </a:ext>
            </a:extLst>
          </p:cNvPr>
          <p:cNvSpPr>
            <a:spLocks xmlns:a="http://schemas.openxmlformats.org/drawingml/2006/main" noGrp="1"/>
          </p:cNvSpPr>
          <p:nvPr/>
        </p:nvSpPr>
        <p:spPr>
          <a:xfrm xmlns:a="http://schemas.openxmlformats.org/drawingml/2006/main">
            <a:off x="4343400" y="2343150"/>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i="0">
                <a:solidFill>
                  <a:srgbClr val="1E3A35"/>
                </a:solidFill>
                <a:latin typeface="Geist Mono"/>
                <a:ea typeface="Geist Mono"/>
                <a:cs typeface="Geist Mono"/>
              </a:defRPr>
            </a:pPr>
            <a:r>
              <a:rPr sz="1650" b="1" i="0">
                <a:solidFill>
                  <a:srgbClr val="1E3A35"/>
                </a:solidFill>
                <a:latin typeface="Geist Mono"/>
                <a:ea typeface="Geist Mono"/>
                <a:cs typeface="Geist Mono"/>
              </a:rPr>
              <a:t>OPERATIONS</a:t>
            </a:r>
          </a:p>
        </p:txBody>
      </p:sp>
      <p:sp>
        <p:nvSpPr>
          <p:cNvPr id="9" name="09-problem-copy">
            <a:extLst xmlns:a="http://schemas.openxmlformats.org/drawingml/2006/main">
              <a:ext uri="{FF2B5EF4-FFF2-40B4-BE49-F238E27FC236}">
                <a16:creationId xmlns:a16="http://schemas.microsoft.com/office/drawing/2014/main" id="{64195256-25CB-4094-985E-A1E52D0F6734}"/>
              </a:ext>
            </a:extLst>
          </p:cNvPr>
          <p:cNvSpPr>
            <a:spLocks xmlns:a="http://schemas.openxmlformats.org/drawingml/2006/main" noGrp="1"/>
          </p:cNvSpPr>
          <p:nvPr/>
        </p:nvSpPr>
        <p:spPr>
          <a:xfrm xmlns:a="http://schemas.openxmlformats.org/drawingml/2006/main">
            <a:off x="4591050" y="3143250"/>
            <a:ext cx="2781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1F1A14"/>
                </a:solidFill>
                <a:latin typeface="Fraunces 9pt"/>
                <a:ea typeface="Fraunces 9pt"/>
                <a:cs typeface="Fraunces 9pt"/>
              </a:defRPr>
            </a:pPr>
            <a:r>
              <a:rPr sz="2025" b="1" i="0">
                <a:solidFill>
                  <a:srgbClr val="1F1A14"/>
                </a:solidFill>
                <a:latin typeface="Fraunces 9pt"/>
                <a:ea typeface="Fraunces 9pt"/>
                <a:cs typeface="Fraunces 9pt"/>
              </a:rPr>
              <a:t>contain and escalate an exception</a:t>
            </a:r>
          </a:p>
        </p:txBody>
      </p:sp>
      <p:sp>
        <p:nvSpPr>
          <p:cNvPr id="10" name="10-problem-rule">
            <a:extLst xmlns:a="http://schemas.openxmlformats.org/drawingml/2006/main">
              <a:ext uri="{FF2B5EF4-FFF2-40B4-BE49-F238E27FC236}">
                <a16:creationId xmlns:a16="http://schemas.microsoft.com/office/drawing/2014/main" id="{706A36CA-7B37-4ED4-8F1F-5EC1D6EFDC81}"/>
              </a:ext>
            </a:extLst>
          </p:cNvPr>
          <p:cNvSpPr>
            <a:spLocks xmlns:a="http://schemas.openxmlformats.org/drawingml/2006/main" noGrp="1"/>
          </p:cNvSpPr>
          <p:nvPr/>
        </p:nvSpPr>
        <p:spPr>
          <a:xfrm xmlns:a="http://schemas.openxmlformats.org/drawingml/2006/main">
            <a:off x="8077200" y="2038350"/>
            <a:ext cx="3276600" cy="0"/>
          </a:xfrm>
          <a:prstGeom xmlns:a="http://schemas.openxmlformats.org/drawingml/2006/main" prst="line">
            <a:avLst/>
          </a:prstGeom>
          <a:noFill xmlns:a="http://schemas.openxmlformats.org/drawingml/2006/main"/>
          <a:ln xmlns:a="http://schemas.openxmlformats.org/drawingml/2006/main" w="47625">
            <a:solidFill>
              <a:srgbClr val="1E3A35"/>
            </a:solidFill>
            <a:prstDash val="solid"/>
          </a:ln>
        </p:spPr>
      </p:sp>
      <p:sp>
        <p:nvSpPr>
          <p:cNvPr id="11" name="11-problem-label">
            <a:extLst xmlns:a="http://schemas.openxmlformats.org/drawingml/2006/main">
              <a:ext uri="{FF2B5EF4-FFF2-40B4-BE49-F238E27FC236}">
                <a16:creationId xmlns:a16="http://schemas.microsoft.com/office/drawing/2014/main" id="{463514DF-618A-49A6-8D7B-D620D11DE881}"/>
              </a:ext>
            </a:extLst>
          </p:cNvPr>
          <p:cNvSpPr>
            <a:spLocks xmlns:a="http://schemas.openxmlformats.org/drawingml/2006/main" noGrp="1"/>
          </p:cNvSpPr>
          <p:nvPr/>
        </p:nvSpPr>
        <p:spPr>
          <a:xfrm xmlns:a="http://schemas.openxmlformats.org/drawingml/2006/main">
            <a:off x="8077200" y="2343150"/>
            <a:ext cx="3276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i="0">
                <a:solidFill>
                  <a:srgbClr val="1E3A35"/>
                </a:solidFill>
                <a:latin typeface="Geist Mono"/>
                <a:ea typeface="Geist Mono"/>
                <a:cs typeface="Geist Mono"/>
              </a:defRPr>
            </a:pPr>
            <a:r>
              <a:rPr sz="1650" b="1" i="0">
                <a:solidFill>
                  <a:srgbClr val="1E3A35"/>
                </a:solidFill>
                <a:latin typeface="Geist Mono"/>
                <a:ea typeface="Geist Mono"/>
                <a:cs typeface="Geist Mono"/>
              </a:rPr>
              <a:t>REVENUE</a:t>
            </a:r>
          </a:p>
        </p:txBody>
      </p:sp>
      <p:sp>
        <p:nvSpPr>
          <p:cNvPr id="12" name="12-problem-copy">
            <a:extLst xmlns:a="http://schemas.openxmlformats.org/drawingml/2006/main">
              <a:ext uri="{FF2B5EF4-FFF2-40B4-BE49-F238E27FC236}">
                <a16:creationId xmlns:a16="http://schemas.microsoft.com/office/drawing/2014/main" id="{03AB9902-C597-4CD8-A8A2-AD60BA109920}"/>
              </a:ext>
            </a:extLst>
          </p:cNvPr>
          <p:cNvSpPr>
            <a:spLocks xmlns:a="http://schemas.openxmlformats.org/drawingml/2006/main" noGrp="1"/>
          </p:cNvSpPr>
          <p:nvPr/>
        </p:nvSpPr>
        <p:spPr>
          <a:xfrm xmlns:a="http://schemas.openxmlformats.org/drawingml/2006/main">
            <a:off x="8324850" y="3143250"/>
            <a:ext cx="27813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1F1A14"/>
                </a:solidFill>
                <a:latin typeface="Fraunces 9pt"/>
                <a:ea typeface="Fraunces 9pt"/>
                <a:cs typeface="Fraunces 9pt"/>
              </a:defRPr>
            </a:pPr>
            <a:r>
              <a:rPr sz="2025" b="1" i="0">
                <a:solidFill>
                  <a:srgbClr val="1F1A14"/>
                </a:solidFill>
                <a:latin typeface="Fraunces 9pt"/>
                <a:ea typeface="Fraunces 9pt"/>
                <a:cs typeface="Fraunces 9pt"/>
              </a:rPr>
              <a:t>reconcile expected and actual money</a:t>
            </a:r>
          </a:p>
        </p:txBody>
      </p:sp>
      <p:sp>
        <p:nvSpPr>
          <p:cNvPr id="13" name="13-problem-default">
            <a:extLst xmlns:a="http://schemas.openxmlformats.org/drawingml/2006/main">
              <a:ext uri="{FF2B5EF4-FFF2-40B4-BE49-F238E27FC236}">
                <a16:creationId xmlns:a16="http://schemas.microsoft.com/office/drawing/2014/main" id="{A808C72D-46E5-424C-A820-2B8F52B7068F}"/>
              </a:ext>
            </a:extLst>
          </p:cNvPr>
          <p:cNvSpPr>
            <a:spLocks xmlns:a="http://schemas.openxmlformats.org/drawingml/2006/main" noGrp="1"/>
          </p:cNvSpPr>
          <p:nvPr/>
        </p:nvSpPr>
        <p:spPr>
          <a:xfrm xmlns:a="http://schemas.openxmlformats.org/drawingml/2006/main">
            <a:off x="2190750" y="4991100"/>
            <a:ext cx="781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1">
                <a:solidFill>
                  <a:srgbClr val="5C5046"/>
                </a:solidFill>
                <a:latin typeface="Geist"/>
                <a:ea typeface="Geist"/>
                <a:cs typeface="Geist"/>
              </a:defRPr>
            </a:pPr>
            <a:r>
              <a:rPr sz="1725" b="0" i="1">
                <a:solidFill>
                  <a:srgbClr val="5C5046"/>
                </a:solidFill>
                <a:latin typeface="Geist"/>
                <a:ea typeface="Geist"/>
                <a:cs typeface="Geist"/>
              </a:rPr>
              <a:t>Default to GTM if time or confidence is low.</a:t>
            </a:r>
          </a:p>
        </p:txBody>
      </p:sp>
      <p:sp>
        <p:nvSpPr>
          <p:cNvPr id="14" name="14-footer-rule">
            <a:extLst xmlns:a="http://schemas.openxmlformats.org/drawingml/2006/main">
              <a:ext uri="{FF2B5EF4-FFF2-40B4-BE49-F238E27FC236}">
                <a16:creationId xmlns:a16="http://schemas.microsoft.com/office/drawing/2014/main" id="{5F497932-04F9-4419-BA47-DCA9E7A08CA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5" name="15-footer-left">
            <a:extLst xmlns:a="http://schemas.openxmlformats.org/drawingml/2006/main">
              <a:ext uri="{FF2B5EF4-FFF2-40B4-BE49-F238E27FC236}">
                <a16:creationId xmlns:a16="http://schemas.microsoft.com/office/drawing/2014/main" id="{A464ED67-802C-400A-9A58-8B56A267C869}"/>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00:20-00:22</a:t>
            </a:r>
          </a:p>
        </p:txBody>
      </p:sp>
      <p:sp>
        <p:nvSpPr>
          <p:cNvPr id="16" name="16-footer-right">
            <a:extLst xmlns:a="http://schemas.openxmlformats.org/drawingml/2006/main">
              <a:ext uri="{FF2B5EF4-FFF2-40B4-BE49-F238E27FC236}">
                <a16:creationId xmlns:a16="http://schemas.microsoft.com/office/drawing/2014/main" id="{1894A447-9983-405C-8E42-92EBB7729A43}"/>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08 / 27</a:t>
            </a:r>
          </a:p>
        </p:txBody>
      </p:sp>
    </p:spTree>
    <p:extLst>
      <p:ext uri="{BB962C8B-B14F-4D97-AF65-F5344CB8AC3E}">
        <p14:creationId xmlns:p14="http://schemas.microsoft.com/office/powerpoint/2010/main" val="413209814"/>
      </p:ext>
    </p:extLst>
  </p:cSld>
</p:sld>
</file>

<file path=ppt/slides/slide9.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9" name="01-kicker">
            <a:extLst xmlns:a="http://schemas.openxmlformats.org/drawingml/2006/main">
              <a:ext uri="{FF2B5EF4-FFF2-40B4-BE49-F238E27FC236}">
                <a16:creationId xmlns:a16="http://schemas.microsoft.com/office/drawing/2014/main" id="{C5C66EC6-6578-415D-AA19-8832B8A74B7A}"/>
              </a:ext>
            </a:extLst>
          </p:cNvPr>
          <p:cNvSpPr>
            <a:spLocks xmlns:a="http://schemas.openxmlformats.org/drawingml/2006/main" noGrp="1"/>
          </p:cNvSpPr>
          <p:nvPr/>
        </p:nvSpPr>
        <p:spPr>
          <a:xfrm xmlns:a="http://schemas.openxmlformats.org/drawingml/2006/main">
            <a:off x="609600" y="5143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DRAW BEFORE YOU AUTOMATE</a:t>
            </a:r>
          </a:p>
        </p:txBody>
      </p:sp>
      <p:sp>
        <p:nvSpPr>
          <p:cNvPr id="2" name="02-timer">
            <a:extLst xmlns:a="http://schemas.openxmlformats.org/drawingml/2006/main">
              <a:ext uri="{FF2B5EF4-FFF2-40B4-BE49-F238E27FC236}">
                <a16:creationId xmlns:a16="http://schemas.microsoft.com/office/drawing/2014/main" id="{4DE31DAC-BD11-4D80-BF81-88BA07B8AD23}"/>
              </a:ext>
            </a:extLst>
          </p:cNvPr>
          <p:cNvSpPr>
            <a:spLocks xmlns:a="http://schemas.openxmlformats.org/drawingml/2006/main" noGrp="1"/>
          </p:cNvSpPr>
          <p:nvPr/>
        </p:nvSpPr>
        <p:spPr>
          <a:xfrm xmlns:a="http://schemas.openxmlformats.org/drawingml/2006/main">
            <a:off x="609600" y="1619250"/>
            <a:ext cx="10972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0" b="1" i="0">
                <a:solidFill>
                  <a:srgbClr val="F5F0E8"/>
                </a:solidFill>
                <a:latin typeface="Geist Mono"/>
                <a:ea typeface="Geist Mono"/>
                <a:cs typeface="Geist Mono"/>
              </a:defRPr>
            </a:pPr>
            <a:r>
              <a:rPr sz="11250" b="1" i="0">
                <a:solidFill>
                  <a:srgbClr val="F5F0E8"/>
                </a:solidFill>
                <a:latin typeface="Geist Mono"/>
                <a:ea typeface="Geist Mono"/>
                <a:cs typeface="Geist Mono"/>
              </a:rPr>
              <a:t>08:00</a:t>
            </a:r>
          </a:p>
        </p:txBody>
      </p:sp>
      <p:sp>
        <p:nvSpPr>
          <p:cNvPr id="3" name="03-timer-track">
            <a:extLst xmlns:a="http://schemas.openxmlformats.org/drawingml/2006/main">
              <a:ext uri="{FF2B5EF4-FFF2-40B4-BE49-F238E27FC236}">
                <a16:creationId xmlns:a16="http://schemas.microsoft.com/office/drawing/2014/main" id="{AA246391-4177-4D3A-A5D1-5B44D1DF8C57}"/>
              </a:ext>
            </a:extLst>
          </p:cNvPr>
          <p:cNvSpPr>
            <a:spLocks xmlns:a="http://schemas.openxmlformats.org/drawingml/2006/main" noGrp="1"/>
          </p:cNvSpPr>
          <p:nvPr/>
        </p:nvSpPr>
        <p:spPr>
          <a:xfrm xmlns:a="http://schemas.openxmlformats.org/drawingml/2006/main">
            <a:off x="609600" y="4476750"/>
            <a:ext cx="10972800" cy="76200"/>
          </a:xfrm>
          <a:prstGeom xmlns:a="http://schemas.openxmlformats.org/drawingml/2006/main" prst="rect">
            <a:avLst/>
          </a:prstGeom>
          <a:solidFill xmlns:a="http://schemas.openxmlformats.org/drawingml/2006/main">
            <a:srgbClr val="F0D478"/>
          </a:solidFill>
          <a:ln xmlns:a="http://schemas.openxmlformats.org/drawingml/2006/main" w="0">
            <a:noFill/>
            <a:prstDash val="solid"/>
          </a:ln>
        </p:spPr>
      </p:sp>
      <p:sp>
        <p:nvSpPr>
          <p:cNvPr id="4" name="04-timer-progress">
            <a:extLst xmlns:a="http://schemas.openxmlformats.org/drawingml/2006/main">
              <a:ext uri="{FF2B5EF4-FFF2-40B4-BE49-F238E27FC236}">
                <a16:creationId xmlns:a16="http://schemas.microsoft.com/office/drawing/2014/main" id="{A78B71D5-E7C1-482C-B3FF-AC4B05B45F25}"/>
              </a:ext>
            </a:extLst>
          </p:cNvPr>
          <p:cNvSpPr>
            <a:spLocks xmlns:a="http://schemas.openxmlformats.org/drawingml/2006/main" noGrp="1"/>
          </p:cNvSpPr>
          <p:nvPr/>
        </p:nvSpPr>
        <p:spPr>
          <a:xfrm xmlns:a="http://schemas.openxmlformats.org/drawingml/2006/main">
            <a:off x="609600" y="4476750"/>
            <a:ext cx="2381250" cy="76200"/>
          </a:xfrm>
          <a:prstGeom xmlns:a="http://schemas.openxmlformats.org/drawingml/2006/main" prst="rect">
            <a:avLst/>
          </a:prstGeom>
          <a:solidFill xmlns:a="http://schemas.openxmlformats.org/drawingml/2006/main">
            <a:srgbClr val="C4581A"/>
          </a:solidFill>
          <a:ln xmlns:a="http://schemas.openxmlformats.org/drawingml/2006/main" w="0">
            <a:noFill/>
            <a:prstDash val="solid"/>
          </a:ln>
        </p:spPr>
      </p:sp>
      <p:sp>
        <p:nvSpPr>
          <p:cNvPr id="5" name="05-timer-footer">
            <a:extLst xmlns:a="http://schemas.openxmlformats.org/drawingml/2006/main">
              <a:ext uri="{FF2B5EF4-FFF2-40B4-BE49-F238E27FC236}">
                <a16:creationId xmlns:a16="http://schemas.microsoft.com/office/drawing/2014/main" id="{5CB62664-FD3D-4521-A009-CF4E1BED3E77}"/>
              </a:ext>
            </a:extLst>
          </p:cNvPr>
          <p:cNvSpPr>
            <a:spLocks xmlns:a="http://schemas.openxmlformats.org/drawingml/2006/main" noGrp="1"/>
          </p:cNvSpPr>
          <p:nvPr/>
        </p:nvSpPr>
        <p:spPr>
          <a:xfrm xmlns:a="http://schemas.openxmlformats.org/drawingml/2006/main">
            <a:off x="1333500" y="495300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i="0">
                <a:solidFill>
                  <a:srgbClr val="C7D3CE"/>
                </a:solidFill>
                <a:latin typeface="Geist"/>
                <a:ea typeface="Geist"/>
                <a:cs typeface="Geist"/>
              </a:defRPr>
            </a:pPr>
            <a:r>
              <a:rPr sz="1800" b="0" i="0">
                <a:solidFill>
                  <a:srgbClr val="C7D3CE"/>
                </a:solidFill>
                <a:latin typeface="Geist"/>
                <a:ea typeface="Geist"/>
                <a:cs typeface="Geist"/>
              </a:rPr>
              <a:t>START · VALIDATE · DEDUPE · DECIDE · ACT/QUEUE · RECORD · END</a:t>
            </a:r>
          </a:p>
        </p:txBody>
      </p:sp>
      <p:sp>
        <p:nvSpPr>
          <p:cNvPr id="6" name="06-footer-rule">
            <a:extLst xmlns:a="http://schemas.openxmlformats.org/drawingml/2006/main">
              <a:ext uri="{FF2B5EF4-FFF2-40B4-BE49-F238E27FC236}">
                <a16:creationId xmlns:a16="http://schemas.microsoft.com/office/drawing/2014/main" id="{7941FDE0-915D-4197-8E2C-2A0ADAD7EC0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7" name="07-footer-left">
            <a:extLst xmlns:a="http://schemas.openxmlformats.org/drawingml/2006/main">
              <a:ext uri="{FF2B5EF4-FFF2-40B4-BE49-F238E27FC236}">
                <a16:creationId xmlns:a16="http://schemas.microsoft.com/office/drawing/2014/main" id="{B49D33DC-D0EF-40B9-8D77-4253D6F883FF}"/>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00:22-00:30</a:t>
            </a:r>
          </a:p>
        </p:txBody>
      </p:sp>
      <p:sp>
        <p:nvSpPr>
          <p:cNvPr id="8" name="08-footer-right">
            <a:extLst xmlns:a="http://schemas.openxmlformats.org/drawingml/2006/main">
              <a:ext uri="{FF2B5EF4-FFF2-40B4-BE49-F238E27FC236}">
                <a16:creationId xmlns:a16="http://schemas.microsoft.com/office/drawing/2014/main" id="{DAA43E17-CBBF-47C9-B522-626C51135ED7}"/>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09 / 27</a:t>
            </a:r>
          </a:p>
        </p:txBody>
      </p:sp>
    </p:spTree>
    <p:extLst>
      <p:ext uri="{BB962C8B-B14F-4D97-AF65-F5344CB8AC3E}">
        <p14:creationId xmlns:p14="http://schemas.microsoft.com/office/powerpoint/2010/main" val="286390027"/>
      </p:ext>
    </p:extLst>
  </p:cSld>
</p:sld>
</file>

<file path=ppt/slides/slide10.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31" name="01-kicker">
            <a:extLst xmlns:a="http://schemas.openxmlformats.org/drawingml/2006/main">
              <a:ext uri="{FF2B5EF4-FFF2-40B4-BE49-F238E27FC236}">
                <a16:creationId xmlns:a16="http://schemas.microsoft.com/office/drawing/2014/main" id="{13CE8BBA-CFBA-4383-9CAE-7438FA317D84}"/>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TERMINAL STATE + OWNER</a:t>
            </a:r>
          </a:p>
        </p:txBody>
      </p:sp>
      <p:sp>
        <p:nvSpPr>
          <p:cNvPr id="2" name="02-title">
            <a:extLst xmlns:a="http://schemas.openxmlformats.org/drawingml/2006/main">
              <a:ext uri="{FF2B5EF4-FFF2-40B4-BE49-F238E27FC236}">
                <a16:creationId xmlns:a16="http://schemas.microsoft.com/office/drawing/2014/main" id="{78E310BF-4153-4ED2-A56F-3A05FBA711F5}"/>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Every path must land</a:t>
            </a:r>
          </a:p>
        </p:txBody>
      </p:sp>
      <p:sp>
        <p:nvSpPr>
          <p:cNvPr id="3" name="03-title-rule">
            <a:extLst xmlns:a="http://schemas.openxmlformats.org/drawingml/2006/main">
              <a:ext uri="{FF2B5EF4-FFF2-40B4-BE49-F238E27FC236}">
                <a16:creationId xmlns:a16="http://schemas.microsoft.com/office/drawing/2014/main" id="{EB3978A1-3E54-49C3-928D-FB2BAD143232}"/>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table-head-bg">
            <a:extLst xmlns:a="http://schemas.openxmlformats.org/drawingml/2006/main">
              <a:ext uri="{FF2B5EF4-FFF2-40B4-BE49-F238E27FC236}">
                <a16:creationId xmlns:a16="http://schemas.microsoft.com/office/drawing/2014/main" id="{14BA1369-1BDC-4417-B3B3-5F12760BBF64}"/>
              </a:ext>
            </a:extLst>
          </p:cNvPr>
          <p:cNvSpPr>
            <a:spLocks xmlns:a="http://schemas.openxmlformats.org/drawingml/2006/main" noGrp="1"/>
          </p:cNvSpPr>
          <p:nvPr/>
        </p:nvSpPr>
        <p:spPr>
          <a:xfrm xmlns:a="http://schemas.openxmlformats.org/drawingml/2006/main">
            <a:off x="609600" y="1809750"/>
            <a:ext cx="3143250" cy="5715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5" name="05-table-head">
            <a:extLst xmlns:a="http://schemas.openxmlformats.org/drawingml/2006/main">
              <a:ext uri="{FF2B5EF4-FFF2-40B4-BE49-F238E27FC236}">
                <a16:creationId xmlns:a16="http://schemas.microsoft.com/office/drawing/2014/main" id="{72D1FD53-8A6C-4085-8224-66FE5556C994}"/>
              </a:ext>
            </a:extLst>
          </p:cNvPr>
          <p:cNvSpPr>
            <a:spLocks xmlns:a="http://schemas.openxmlformats.org/drawingml/2006/main" noGrp="1"/>
          </p:cNvSpPr>
          <p:nvPr/>
        </p:nvSpPr>
        <p:spPr>
          <a:xfrm xmlns:a="http://schemas.openxmlformats.org/drawingml/2006/main">
            <a:off x="742950" y="1885950"/>
            <a:ext cx="2876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CASE</a:t>
            </a:r>
          </a:p>
        </p:txBody>
      </p:sp>
      <p:sp>
        <p:nvSpPr>
          <p:cNvPr id="6" name="06-table-head-bg">
            <a:extLst xmlns:a="http://schemas.openxmlformats.org/drawingml/2006/main">
              <a:ext uri="{FF2B5EF4-FFF2-40B4-BE49-F238E27FC236}">
                <a16:creationId xmlns:a16="http://schemas.microsoft.com/office/drawing/2014/main" id="{29D23470-C3DD-4366-9794-A20BA84935EF}"/>
              </a:ext>
            </a:extLst>
          </p:cNvPr>
          <p:cNvSpPr>
            <a:spLocks xmlns:a="http://schemas.openxmlformats.org/drawingml/2006/main" noGrp="1"/>
          </p:cNvSpPr>
          <p:nvPr/>
        </p:nvSpPr>
        <p:spPr>
          <a:xfrm xmlns:a="http://schemas.openxmlformats.org/drawingml/2006/main">
            <a:off x="3752850" y="1809750"/>
            <a:ext cx="7829550" cy="5715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7" name="07-table-head">
            <a:extLst xmlns:a="http://schemas.openxmlformats.org/drawingml/2006/main">
              <a:ext uri="{FF2B5EF4-FFF2-40B4-BE49-F238E27FC236}">
                <a16:creationId xmlns:a16="http://schemas.microsoft.com/office/drawing/2014/main" id="{3DE480A1-0710-4E5F-829D-9C2BE31A3226}"/>
              </a:ext>
            </a:extLst>
          </p:cNvPr>
          <p:cNvSpPr>
            <a:spLocks xmlns:a="http://schemas.openxmlformats.org/drawingml/2006/main" noGrp="1"/>
          </p:cNvSpPr>
          <p:nvPr/>
        </p:nvSpPr>
        <p:spPr>
          <a:xfrm xmlns:a="http://schemas.openxmlformats.org/drawingml/2006/main">
            <a:off x="3886200" y="1885950"/>
            <a:ext cx="7562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MUST END AS</a:t>
            </a:r>
          </a:p>
        </p:txBody>
      </p:sp>
      <p:sp>
        <p:nvSpPr>
          <p:cNvPr id="8" name="08-table-cell-bg">
            <a:extLst xmlns:a="http://schemas.openxmlformats.org/drawingml/2006/main">
              <a:ext uri="{FF2B5EF4-FFF2-40B4-BE49-F238E27FC236}">
                <a16:creationId xmlns:a16="http://schemas.microsoft.com/office/drawing/2014/main" id="{D8EB0B0A-453A-4FC7-9C45-13F5F0C0F43B}"/>
              </a:ext>
            </a:extLst>
          </p:cNvPr>
          <p:cNvSpPr>
            <a:spLocks xmlns:a="http://schemas.openxmlformats.org/drawingml/2006/main" noGrp="1"/>
          </p:cNvSpPr>
          <p:nvPr/>
        </p:nvSpPr>
        <p:spPr>
          <a:xfrm xmlns:a="http://schemas.openxmlformats.org/drawingml/2006/main">
            <a:off x="609600" y="2381250"/>
            <a:ext cx="3143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9" name="09-table-cell">
            <a:extLst xmlns:a="http://schemas.openxmlformats.org/drawingml/2006/main">
              <a:ext uri="{FF2B5EF4-FFF2-40B4-BE49-F238E27FC236}">
                <a16:creationId xmlns:a16="http://schemas.microsoft.com/office/drawing/2014/main" id="{3919B780-C1A8-444B-8FAA-05D12AF92A45}"/>
              </a:ext>
            </a:extLst>
          </p:cNvPr>
          <p:cNvSpPr>
            <a:spLocks xmlns:a="http://schemas.openxmlformats.org/drawingml/2006/main" noGrp="1"/>
          </p:cNvSpPr>
          <p:nvPr/>
        </p:nvSpPr>
        <p:spPr>
          <a:xfrm xmlns:a="http://schemas.openxmlformats.org/drawingml/2006/main">
            <a:off x="742950" y="24479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normal</a:t>
            </a:r>
          </a:p>
        </p:txBody>
      </p:sp>
      <p:sp>
        <p:nvSpPr>
          <p:cNvPr id="10" name="10-table-cell-bg">
            <a:extLst xmlns:a="http://schemas.openxmlformats.org/drawingml/2006/main">
              <a:ext uri="{FF2B5EF4-FFF2-40B4-BE49-F238E27FC236}">
                <a16:creationId xmlns:a16="http://schemas.microsoft.com/office/drawing/2014/main" id="{0852945B-0ECF-4098-B5AC-D0EB3E53357F}"/>
              </a:ext>
            </a:extLst>
          </p:cNvPr>
          <p:cNvSpPr>
            <a:spLocks xmlns:a="http://schemas.openxmlformats.org/drawingml/2006/main" noGrp="1"/>
          </p:cNvSpPr>
          <p:nvPr/>
        </p:nvSpPr>
        <p:spPr>
          <a:xfrm xmlns:a="http://schemas.openxmlformats.org/drawingml/2006/main">
            <a:off x="3752850" y="2381250"/>
            <a:ext cx="78295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1" name="11-table-cell">
            <a:extLst xmlns:a="http://schemas.openxmlformats.org/drawingml/2006/main">
              <a:ext uri="{FF2B5EF4-FFF2-40B4-BE49-F238E27FC236}">
                <a16:creationId xmlns:a16="http://schemas.microsoft.com/office/drawing/2014/main" id="{82EB08C4-3DE8-4E3B-AAA0-D1ECE0528432}"/>
              </a:ext>
            </a:extLst>
          </p:cNvPr>
          <p:cNvSpPr>
            <a:spLocks xmlns:a="http://schemas.openxmlformats.org/drawingml/2006/main" noGrp="1"/>
          </p:cNvSpPr>
          <p:nvPr/>
        </p:nvSpPr>
        <p:spPr>
          <a:xfrm xmlns:a="http://schemas.openxmlformats.org/drawingml/2006/main">
            <a:off x="3886200" y="2447925"/>
            <a:ext cx="7562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completed or safely queued</a:t>
            </a:r>
          </a:p>
        </p:txBody>
      </p:sp>
      <p:sp>
        <p:nvSpPr>
          <p:cNvPr id="12" name="12-table-cell-bg">
            <a:extLst xmlns:a="http://schemas.openxmlformats.org/drawingml/2006/main">
              <a:ext uri="{FF2B5EF4-FFF2-40B4-BE49-F238E27FC236}">
                <a16:creationId xmlns:a16="http://schemas.microsoft.com/office/drawing/2014/main" id="{B0E3A072-5CD5-4D0B-AA0D-D9745FC2688D}"/>
              </a:ext>
            </a:extLst>
          </p:cNvPr>
          <p:cNvSpPr>
            <a:spLocks xmlns:a="http://schemas.openxmlformats.org/drawingml/2006/main" noGrp="1"/>
          </p:cNvSpPr>
          <p:nvPr/>
        </p:nvSpPr>
        <p:spPr>
          <a:xfrm xmlns:a="http://schemas.openxmlformats.org/drawingml/2006/main">
            <a:off x="609600" y="2952750"/>
            <a:ext cx="3143250" cy="5715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13" name="13-table-cell">
            <a:extLst xmlns:a="http://schemas.openxmlformats.org/drawingml/2006/main">
              <a:ext uri="{FF2B5EF4-FFF2-40B4-BE49-F238E27FC236}">
                <a16:creationId xmlns:a16="http://schemas.microsoft.com/office/drawing/2014/main" id="{6A90DDA6-286B-44D7-9FF5-7E555C8D532D}"/>
              </a:ext>
            </a:extLst>
          </p:cNvPr>
          <p:cNvSpPr>
            <a:spLocks xmlns:a="http://schemas.openxmlformats.org/drawingml/2006/main" noGrp="1"/>
          </p:cNvSpPr>
          <p:nvPr/>
        </p:nvSpPr>
        <p:spPr>
          <a:xfrm xmlns:a="http://schemas.openxmlformats.org/drawingml/2006/main">
            <a:off x="742950" y="30194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duplicate</a:t>
            </a:r>
          </a:p>
        </p:txBody>
      </p:sp>
      <p:sp>
        <p:nvSpPr>
          <p:cNvPr id="14" name="14-table-cell-bg">
            <a:extLst xmlns:a="http://schemas.openxmlformats.org/drawingml/2006/main">
              <a:ext uri="{FF2B5EF4-FFF2-40B4-BE49-F238E27FC236}">
                <a16:creationId xmlns:a16="http://schemas.microsoft.com/office/drawing/2014/main" id="{35003F57-A5B3-47B1-ACA6-DBC0E894C1F7}"/>
              </a:ext>
            </a:extLst>
          </p:cNvPr>
          <p:cNvSpPr>
            <a:spLocks xmlns:a="http://schemas.openxmlformats.org/drawingml/2006/main" noGrp="1"/>
          </p:cNvSpPr>
          <p:nvPr/>
        </p:nvSpPr>
        <p:spPr>
          <a:xfrm xmlns:a="http://schemas.openxmlformats.org/drawingml/2006/main">
            <a:off x="3752850" y="2952750"/>
            <a:ext cx="7829550" cy="5715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15" name="15-table-cell">
            <a:extLst xmlns:a="http://schemas.openxmlformats.org/drawingml/2006/main">
              <a:ext uri="{FF2B5EF4-FFF2-40B4-BE49-F238E27FC236}">
                <a16:creationId xmlns:a16="http://schemas.microsoft.com/office/drawing/2014/main" id="{6CAA940D-EB06-476A-8047-2314C5C5CABF}"/>
              </a:ext>
            </a:extLst>
          </p:cNvPr>
          <p:cNvSpPr>
            <a:spLocks xmlns:a="http://schemas.openxmlformats.org/drawingml/2006/main" noGrp="1"/>
          </p:cNvSpPr>
          <p:nvPr/>
        </p:nvSpPr>
        <p:spPr>
          <a:xfrm xmlns:a="http://schemas.openxmlformats.org/drawingml/2006/main">
            <a:off x="3886200" y="3019425"/>
            <a:ext cx="7562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no second irreversible action</a:t>
            </a:r>
          </a:p>
        </p:txBody>
      </p:sp>
      <p:sp>
        <p:nvSpPr>
          <p:cNvPr id="16" name="16-table-cell-bg">
            <a:extLst xmlns:a="http://schemas.openxmlformats.org/drawingml/2006/main">
              <a:ext uri="{FF2B5EF4-FFF2-40B4-BE49-F238E27FC236}">
                <a16:creationId xmlns:a16="http://schemas.microsoft.com/office/drawing/2014/main" id="{E0461300-7F36-4341-AE84-F5B6A93EA2EA}"/>
              </a:ext>
            </a:extLst>
          </p:cNvPr>
          <p:cNvSpPr>
            <a:spLocks xmlns:a="http://schemas.openxmlformats.org/drawingml/2006/main" noGrp="1"/>
          </p:cNvSpPr>
          <p:nvPr/>
        </p:nvSpPr>
        <p:spPr>
          <a:xfrm xmlns:a="http://schemas.openxmlformats.org/drawingml/2006/main">
            <a:off x="609600" y="3524250"/>
            <a:ext cx="3143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7" name="17-table-cell">
            <a:extLst xmlns:a="http://schemas.openxmlformats.org/drawingml/2006/main">
              <a:ext uri="{FF2B5EF4-FFF2-40B4-BE49-F238E27FC236}">
                <a16:creationId xmlns:a16="http://schemas.microsoft.com/office/drawing/2014/main" id="{0886E45B-F1E7-4497-AA1E-A33539ABBAAF}"/>
              </a:ext>
            </a:extLst>
          </p:cNvPr>
          <p:cNvSpPr>
            <a:spLocks xmlns:a="http://schemas.openxmlformats.org/drawingml/2006/main" noGrp="1"/>
          </p:cNvSpPr>
          <p:nvPr/>
        </p:nvSpPr>
        <p:spPr>
          <a:xfrm xmlns:a="http://schemas.openxmlformats.org/drawingml/2006/main">
            <a:off x="742950" y="35909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malformed</a:t>
            </a:r>
          </a:p>
        </p:txBody>
      </p:sp>
      <p:sp>
        <p:nvSpPr>
          <p:cNvPr id="18" name="18-table-cell-bg">
            <a:extLst xmlns:a="http://schemas.openxmlformats.org/drawingml/2006/main">
              <a:ext uri="{FF2B5EF4-FFF2-40B4-BE49-F238E27FC236}">
                <a16:creationId xmlns:a16="http://schemas.microsoft.com/office/drawing/2014/main" id="{CBD1A29F-6812-4ECE-B8D4-A4EE25A9338F}"/>
              </a:ext>
            </a:extLst>
          </p:cNvPr>
          <p:cNvSpPr>
            <a:spLocks xmlns:a="http://schemas.openxmlformats.org/drawingml/2006/main" noGrp="1"/>
          </p:cNvSpPr>
          <p:nvPr/>
        </p:nvSpPr>
        <p:spPr>
          <a:xfrm xmlns:a="http://schemas.openxmlformats.org/drawingml/2006/main">
            <a:off x="3752850" y="3524250"/>
            <a:ext cx="78295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9" name="19-table-cell">
            <a:extLst xmlns:a="http://schemas.openxmlformats.org/drawingml/2006/main">
              <a:ext uri="{FF2B5EF4-FFF2-40B4-BE49-F238E27FC236}">
                <a16:creationId xmlns:a16="http://schemas.microsoft.com/office/drawing/2014/main" id="{650886D7-04F5-443E-9E1E-0913B81B7153}"/>
              </a:ext>
            </a:extLst>
          </p:cNvPr>
          <p:cNvSpPr>
            <a:spLocks xmlns:a="http://schemas.openxmlformats.org/drawingml/2006/main" noGrp="1"/>
          </p:cNvSpPr>
          <p:nvPr/>
        </p:nvSpPr>
        <p:spPr>
          <a:xfrm xmlns:a="http://schemas.openxmlformats.org/drawingml/2006/main">
            <a:off x="3886200" y="3590925"/>
            <a:ext cx="7562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quarantined with reason</a:t>
            </a:r>
          </a:p>
        </p:txBody>
      </p:sp>
      <p:sp>
        <p:nvSpPr>
          <p:cNvPr id="20" name="20-table-cell-bg">
            <a:extLst xmlns:a="http://schemas.openxmlformats.org/drawingml/2006/main">
              <a:ext uri="{FF2B5EF4-FFF2-40B4-BE49-F238E27FC236}">
                <a16:creationId xmlns:a16="http://schemas.microsoft.com/office/drawing/2014/main" id="{22301040-FD72-4726-8230-5DF7FD8D3EA2}"/>
              </a:ext>
            </a:extLst>
          </p:cNvPr>
          <p:cNvSpPr>
            <a:spLocks xmlns:a="http://schemas.openxmlformats.org/drawingml/2006/main" noGrp="1"/>
          </p:cNvSpPr>
          <p:nvPr/>
        </p:nvSpPr>
        <p:spPr>
          <a:xfrm xmlns:a="http://schemas.openxmlformats.org/drawingml/2006/main">
            <a:off x="609600" y="4095750"/>
            <a:ext cx="3143250" cy="5715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21" name="21-table-cell">
            <a:extLst xmlns:a="http://schemas.openxmlformats.org/drawingml/2006/main">
              <a:ext uri="{FF2B5EF4-FFF2-40B4-BE49-F238E27FC236}">
                <a16:creationId xmlns:a16="http://schemas.microsoft.com/office/drawing/2014/main" id="{39484E0A-EC75-442A-B477-49437F1BB25B}"/>
              </a:ext>
            </a:extLst>
          </p:cNvPr>
          <p:cNvSpPr>
            <a:spLocks xmlns:a="http://schemas.openxmlformats.org/drawingml/2006/main" noGrp="1"/>
          </p:cNvSpPr>
          <p:nvPr/>
        </p:nvSpPr>
        <p:spPr>
          <a:xfrm xmlns:a="http://schemas.openxmlformats.org/drawingml/2006/main">
            <a:off x="742950" y="41624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timeout</a:t>
            </a:r>
          </a:p>
        </p:txBody>
      </p:sp>
      <p:sp>
        <p:nvSpPr>
          <p:cNvPr id="22" name="22-table-cell-bg">
            <a:extLst xmlns:a="http://schemas.openxmlformats.org/drawingml/2006/main">
              <a:ext uri="{FF2B5EF4-FFF2-40B4-BE49-F238E27FC236}">
                <a16:creationId xmlns:a16="http://schemas.microsoft.com/office/drawing/2014/main" id="{1CF48F4B-F9FD-4220-A166-B0D737476F0B}"/>
              </a:ext>
            </a:extLst>
          </p:cNvPr>
          <p:cNvSpPr>
            <a:spLocks xmlns:a="http://schemas.openxmlformats.org/drawingml/2006/main" noGrp="1"/>
          </p:cNvSpPr>
          <p:nvPr/>
        </p:nvSpPr>
        <p:spPr>
          <a:xfrm xmlns:a="http://schemas.openxmlformats.org/drawingml/2006/main">
            <a:off x="3752850" y="4095750"/>
            <a:ext cx="7829550" cy="5715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23" name="23-table-cell">
            <a:extLst xmlns:a="http://schemas.openxmlformats.org/drawingml/2006/main">
              <a:ext uri="{FF2B5EF4-FFF2-40B4-BE49-F238E27FC236}">
                <a16:creationId xmlns:a16="http://schemas.microsoft.com/office/drawing/2014/main" id="{B456E806-9F4F-484F-8B00-5FEA64B8D6E2}"/>
              </a:ext>
            </a:extLst>
          </p:cNvPr>
          <p:cNvSpPr>
            <a:spLocks xmlns:a="http://schemas.openxmlformats.org/drawingml/2006/main" noGrp="1"/>
          </p:cNvSpPr>
          <p:nvPr/>
        </p:nvSpPr>
        <p:spPr>
          <a:xfrm xmlns:a="http://schemas.openxmlformats.org/drawingml/2006/main">
            <a:off x="3886200" y="4162425"/>
            <a:ext cx="7562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retrying/incomplete, then resolved or manual</a:t>
            </a:r>
          </a:p>
        </p:txBody>
      </p:sp>
      <p:sp>
        <p:nvSpPr>
          <p:cNvPr id="24" name="24-table-cell-bg">
            <a:extLst xmlns:a="http://schemas.openxmlformats.org/drawingml/2006/main">
              <a:ext uri="{FF2B5EF4-FFF2-40B4-BE49-F238E27FC236}">
                <a16:creationId xmlns:a16="http://schemas.microsoft.com/office/drawing/2014/main" id="{05DC7D52-118B-4F02-8923-C4334C4CF4AA}"/>
              </a:ext>
            </a:extLst>
          </p:cNvPr>
          <p:cNvSpPr>
            <a:spLocks xmlns:a="http://schemas.openxmlformats.org/drawingml/2006/main" noGrp="1"/>
          </p:cNvSpPr>
          <p:nvPr/>
        </p:nvSpPr>
        <p:spPr>
          <a:xfrm xmlns:a="http://schemas.openxmlformats.org/drawingml/2006/main">
            <a:off x="609600" y="4667250"/>
            <a:ext cx="31432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25" name="25-table-cell">
            <a:extLst xmlns:a="http://schemas.openxmlformats.org/drawingml/2006/main">
              <a:ext uri="{FF2B5EF4-FFF2-40B4-BE49-F238E27FC236}">
                <a16:creationId xmlns:a16="http://schemas.microsoft.com/office/drawing/2014/main" id="{3A864F27-79B1-407C-95A4-D2B537D497C5}"/>
              </a:ext>
            </a:extLst>
          </p:cNvPr>
          <p:cNvSpPr>
            <a:spLocks xmlns:a="http://schemas.openxmlformats.org/drawingml/2006/main" noGrp="1"/>
          </p:cNvSpPr>
          <p:nvPr/>
        </p:nvSpPr>
        <p:spPr>
          <a:xfrm xmlns:a="http://schemas.openxmlformats.org/drawingml/2006/main">
            <a:off x="742950" y="4733925"/>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approval</a:t>
            </a:r>
          </a:p>
        </p:txBody>
      </p:sp>
      <p:sp>
        <p:nvSpPr>
          <p:cNvPr id="26" name="26-table-cell-bg">
            <a:extLst xmlns:a="http://schemas.openxmlformats.org/drawingml/2006/main">
              <a:ext uri="{FF2B5EF4-FFF2-40B4-BE49-F238E27FC236}">
                <a16:creationId xmlns:a16="http://schemas.microsoft.com/office/drawing/2014/main" id="{CC8A434F-40A3-4E6B-B2C2-69D9463BAE69}"/>
              </a:ext>
            </a:extLst>
          </p:cNvPr>
          <p:cNvSpPr>
            <a:spLocks xmlns:a="http://schemas.openxmlformats.org/drawingml/2006/main" noGrp="1"/>
          </p:cNvSpPr>
          <p:nvPr/>
        </p:nvSpPr>
        <p:spPr>
          <a:xfrm xmlns:a="http://schemas.openxmlformats.org/drawingml/2006/main">
            <a:off x="3752850" y="4667250"/>
            <a:ext cx="78295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27" name="27-table-cell">
            <a:extLst xmlns:a="http://schemas.openxmlformats.org/drawingml/2006/main">
              <a:ext uri="{FF2B5EF4-FFF2-40B4-BE49-F238E27FC236}">
                <a16:creationId xmlns:a16="http://schemas.microsoft.com/office/drawing/2014/main" id="{EAA2D63F-0A13-424C-B78F-11B9CA39F473}"/>
              </a:ext>
            </a:extLst>
          </p:cNvPr>
          <p:cNvSpPr>
            <a:spLocks xmlns:a="http://schemas.openxmlformats.org/drawingml/2006/main" noGrp="1"/>
          </p:cNvSpPr>
          <p:nvPr/>
        </p:nvSpPr>
        <p:spPr>
          <a:xfrm xmlns:a="http://schemas.openxmlformats.org/drawingml/2006/main">
            <a:off x="3886200" y="4733925"/>
            <a:ext cx="7562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i="0">
                <a:solidFill>
                  <a:srgbClr val="1F1A14"/>
                </a:solidFill>
                <a:latin typeface="Geist"/>
                <a:ea typeface="Geist"/>
                <a:cs typeface="Geist"/>
              </a:defRPr>
            </a:pPr>
            <a:r>
              <a:rPr sz="1575" b="0" i="0">
                <a:solidFill>
                  <a:srgbClr val="1F1A14"/>
                </a:solidFill>
                <a:latin typeface="Geist"/>
                <a:ea typeface="Geist"/>
                <a:cs typeface="Geist"/>
              </a:rPr>
              <a:t>pending; no action yet</a:t>
            </a:r>
          </a:p>
        </p:txBody>
      </p:sp>
      <p:sp>
        <p:nvSpPr>
          <p:cNvPr id="28" name="28-footer-rule">
            <a:extLst xmlns:a="http://schemas.openxmlformats.org/drawingml/2006/main">
              <a:ext uri="{FF2B5EF4-FFF2-40B4-BE49-F238E27FC236}">
                <a16:creationId xmlns:a16="http://schemas.microsoft.com/office/drawing/2014/main" id="{056B77D6-ABBA-4A53-8AE9-391EDC7AA59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9" name="29-footer-left">
            <a:extLst xmlns:a="http://schemas.openxmlformats.org/drawingml/2006/main">
              <a:ext uri="{FF2B5EF4-FFF2-40B4-BE49-F238E27FC236}">
                <a16:creationId xmlns:a16="http://schemas.microsoft.com/office/drawing/2014/main" id="{0598D78A-F0C5-4C41-B7C7-7BCC5EAF4313}"/>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00:30-00:35</a:t>
            </a:r>
          </a:p>
        </p:txBody>
      </p:sp>
      <p:sp>
        <p:nvSpPr>
          <p:cNvPr id="30" name="30-footer-right">
            <a:extLst xmlns:a="http://schemas.openxmlformats.org/drawingml/2006/main">
              <a:ext uri="{FF2B5EF4-FFF2-40B4-BE49-F238E27FC236}">
                <a16:creationId xmlns:a16="http://schemas.microsoft.com/office/drawing/2014/main" id="{48FBC767-63B1-4496-BF7D-41730CF2253E}"/>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10 / 27</a:t>
            </a:r>
          </a:p>
        </p:txBody>
      </p:sp>
    </p:spTree>
    <p:extLst>
      <p:ext uri="{BB962C8B-B14F-4D97-AF65-F5344CB8AC3E}">
        <p14:creationId xmlns:p14="http://schemas.microsoft.com/office/powerpoint/2010/main" val="207974923"/>
      </p:ext>
    </p:extLst>
  </p:cSld>
</p:sld>
</file>

<file path=ppt/slides/slide11.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0" name="01-kicker">
            <a:extLst xmlns:a="http://schemas.openxmlformats.org/drawingml/2006/main">
              <a:ext uri="{FF2B5EF4-FFF2-40B4-BE49-F238E27FC236}">
                <a16:creationId xmlns:a16="http://schemas.microsoft.com/office/drawing/2014/main" id="{18B0F817-B1B9-4CDA-ABC5-12D3CEB4A73F}"/>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S5.1 · FORMATIVE · VERSIONED</a:t>
            </a:r>
          </a:p>
        </p:txBody>
      </p:sp>
      <p:sp>
        <p:nvSpPr>
          <p:cNvPr id="2" name="02-title">
            <a:extLst xmlns:a="http://schemas.openxmlformats.org/drawingml/2006/main">
              <a:ext uri="{FF2B5EF4-FFF2-40B4-BE49-F238E27FC236}">
                <a16:creationId xmlns:a16="http://schemas.microsoft.com/office/drawing/2014/main" id="{D274B007-E27E-4A4D-8F58-C12B15F1D62A}"/>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Gate 1</a:t>
            </a:r>
          </a:p>
        </p:txBody>
      </p:sp>
      <p:sp>
        <p:nvSpPr>
          <p:cNvPr id="3" name="03-title-rule">
            <a:extLst xmlns:a="http://schemas.openxmlformats.org/drawingml/2006/main">
              <a:ext uri="{FF2B5EF4-FFF2-40B4-BE49-F238E27FC236}">
                <a16:creationId xmlns:a16="http://schemas.microsoft.com/office/drawing/2014/main" id="{D841E188-DE0D-4011-81B9-D27329748F75}"/>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gate-one-claim">
            <a:extLst xmlns:a="http://schemas.openxmlformats.org/drawingml/2006/main">
              <a:ext uri="{FF2B5EF4-FFF2-40B4-BE49-F238E27FC236}">
                <a16:creationId xmlns:a16="http://schemas.microsoft.com/office/drawing/2014/main" id="{E58B4461-E188-44C9-A375-B7839D654715}"/>
              </a:ext>
            </a:extLst>
          </p:cNvPr>
          <p:cNvSpPr>
            <a:spLocks xmlns:a="http://schemas.openxmlformats.org/drawingml/2006/main" noGrp="1"/>
          </p:cNvSpPr>
          <p:nvPr/>
        </p:nvSpPr>
        <p:spPr>
          <a:xfrm xmlns:a="http://schemas.openxmlformats.org/drawingml/2006/main">
            <a:off x="1143000" y="2495550"/>
            <a:ext cx="990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i="0">
                <a:solidFill>
                  <a:srgbClr val="1F1A14"/>
                </a:solidFill>
                <a:latin typeface="Fraunces 9pt"/>
                <a:ea typeface="Fraunces 9pt"/>
                <a:cs typeface="Fraunces 9pt"/>
              </a:defRPr>
            </a:pPr>
            <a:r>
              <a:rPr sz="3600" b="1" i="0">
                <a:solidFill>
                  <a:srgbClr val="1F1A14"/>
                </a:solidFill>
                <a:latin typeface="Fraunces 9pt"/>
                <a:ea typeface="Fraunces 9pt"/>
                <a:cs typeface="Fraunces 9pt"/>
              </a:rPr>
              <a:t>Submit the problem frame + initial flowchart.</a:t>
            </a:r>
          </a:p>
        </p:txBody>
      </p:sp>
      <p:sp>
        <p:nvSpPr>
          <p:cNvPr id="5" name="05-gate-one-timer-bg">
            <a:extLst xmlns:a="http://schemas.openxmlformats.org/drawingml/2006/main">
              <a:ext uri="{FF2B5EF4-FFF2-40B4-BE49-F238E27FC236}">
                <a16:creationId xmlns:a16="http://schemas.microsoft.com/office/drawing/2014/main" id="{8C9FE680-2689-49BD-BEB6-935B3E2ADAB7}"/>
              </a:ext>
            </a:extLst>
          </p:cNvPr>
          <p:cNvSpPr>
            <a:spLocks xmlns:a="http://schemas.openxmlformats.org/drawingml/2006/main" noGrp="1"/>
          </p:cNvSpPr>
          <p:nvPr/>
        </p:nvSpPr>
        <p:spPr>
          <a:xfrm xmlns:a="http://schemas.openxmlformats.org/drawingml/2006/main">
            <a:off x="4381500" y="4229100"/>
            <a:ext cx="3429000" cy="895350"/>
          </a:xfrm>
          <a:prstGeom xmlns:a="http://schemas.openxmlformats.org/drawingml/2006/main" prst="rect">
            <a:avLst/>
          </a:prstGeom>
          <a:solidFill xmlns:a="http://schemas.openxmlformats.org/drawingml/2006/main">
            <a:srgbClr val="F0D478"/>
          </a:solidFill>
          <a:ln xmlns:a="http://schemas.openxmlformats.org/drawingml/2006/main" w="0">
            <a:noFill/>
            <a:prstDash val="solid"/>
          </a:ln>
        </p:spPr>
      </p:sp>
      <p:sp>
        <p:nvSpPr>
          <p:cNvPr id="6" name="06-gate-one-timer">
            <a:extLst xmlns:a="http://schemas.openxmlformats.org/drawingml/2006/main">
              <a:ext uri="{FF2B5EF4-FFF2-40B4-BE49-F238E27FC236}">
                <a16:creationId xmlns:a16="http://schemas.microsoft.com/office/drawing/2014/main" id="{27B68DD0-0977-4B55-99B0-CD1691B6D1B8}"/>
              </a:ext>
            </a:extLst>
          </p:cNvPr>
          <p:cNvSpPr>
            <a:spLocks xmlns:a="http://schemas.openxmlformats.org/drawingml/2006/main" noGrp="1"/>
          </p:cNvSpPr>
          <p:nvPr/>
        </p:nvSpPr>
        <p:spPr>
          <a:xfrm xmlns:a="http://schemas.openxmlformats.org/drawingml/2006/main">
            <a:off x="4591050" y="4381500"/>
            <a:ext cx="3009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75" b="1" i="0">
                <a:solidFill>
                  <a:srgbClr val="1E3A35"/>
                </a:solidFill>
                <a:latin typeface="Geist Mono"/>
                <a:ea typeface="Geist Mono"/>
                <a:cs typeface="Geist Mono"/>
              </a:defRPr>
            </a:pPr>
            <a:r>
              <a:rPr sz="3375" b="1" i="0">
                <a:solidFill>
                  <a:srgbClr val="1E3A35"/>
                </a:solidFill>
                <a:latin typeface="Geist Mono"/>
                <a:ea typeface="Geist Mono"/>
                <a:cs typeface="Geist Mono"/>
              </a:rPr>
              <a:t>02:00</a:t>
            </a:r>
          </a:p>
        </p:txBody>
      </p:sp>
      <p:sp>
        <p:nvSpPr>
          <p:cNvPr id="7" name="07-footer-rule">
            <a:extLst xmlns:a="http://schemas.openxmlformats.org/drawingml/2006/main">
              <a:ext uri="{FF2B5EF4-FFF2-40B4-BE49-F238E27FC236}">
                <a16:creationId xmlns:a16="http://schemas.microsoft.com/office/drawing/2014/main" id="{1C2DCB94-BCF7-437B-9467-3B8B2027948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8" name="08-footer-left">
            <a:extLst xmlns:a="http://schemas.openxmlformats.org/drawingml/2006/main">
              <a:ext uri="{FF2B5EF4-FFF2-40B4-BE49-F238E27FC236}">
                <a16:creationId xmlns:a16="http://schemas.microsoft.com/office/drawing/2014/main" id="{48C47040-CDE8-459B-A1C7-7D248238CEF7}"/>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00:35-00:37</a:t>
            </a:r>
          </a:p>
        </p:txBody>
      </p:sp>
      <p:sp>
        <p:nvSpPr>
          <p:cNvPr id="9" name="09-footer-right">
            <a:extLst xmlns:a="http://schemas.openxmlformats.org/drawingml/2006/main">
              <a:ext uri="{FF2B5EF4-FFF2-40B4-BE49-F238E27FC236}">
                <a16:creationId xmlns:a16="http://schemas.microsoft.com/office/drawing/2014/main" id="{4C1E058A-D0E3-4C2D-B91C-CB02AA218874}"/>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11 / 27</a:t>
            </a:r>
          </a:p>
        </p:txBody>
      </p:sp>
    </p:spTree>
    <p:extLst>
      <p:ext uri="{BB962C8B-B14F-4D97-AF65-F5344CB8AC3E}">
        <p14:creationId xmlns:p14="http://schemas.microsoft.com/office/powerpoint/2010/main" val="389032724"/>
      </p:ext>
    </p:extLst>
  </p:cSld>
</p:sld>
</file>

<file path=ppt/slides/slide12.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5" name="01-kicker">
            <a:extLst xmlns:a="http://schemas.openxmlformats.org/drawingml/2006/main">
              <a:ext uri="{FF2B5EF4-FFF2-40B4-BE49-F238E27FC236}">
                <a16:creationId xmlns:a16="http://schemas.microsoft.com/office/drawing/2014/main" id="{E2E91E46-140F-4B80-B9BB-E8B4B457D415}"/>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THE MODEL ADVISES · YOU OWN THE DESIGN</a:t>
            </a:r>
          </a:p>
        </p:txBody>
      </p:sp>
      <p:sp>
        <p:nvSpPr>
          <p:cNvPr id="2" name="02-title">
            <a:extLst xmlns:a="http://schemas.openxmlformats.org/drawingml/2006/main">
              <a:ext uri="{FF2B5EF4-FFF2-40B4-BE49-F238E27FC236}">
                <a16:creationId xmlns:a16="http://schemas.microsoft.com/office/drawing/2014/main" id="{DB57A46C-645A-4D07-8F82-97ACC98D44D0}"/>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Read feedback like an operator</a:t>
            </a:r>
          </a:p>
        </p:txBody>
      </p:sp>
      <p:sp>
        <p:nvSpPr>
          <p:cNvPr id="3" name="03-title-rule">
            <a:extLst xmlns:a="http://schemas.openxmlformats.org/drawingml/2006/main">
              <a:ext uri="{FF2B5EF4-FFF2-40B4-BE49-F238E27FC236}">
                <a16:creationId xmlns:a16="http://schemas.microsoft.com/office/drawing/2014/main" id="{1A3B3D25-8ABD-4061-8018-DE29D00C86DD}"/>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bullet-marker">
            <a:extLst xmlns:a="http://schemas.openxmlformats.org/drawingml/2006/main">
              <a:ext uri="{FF2B5EF4-FFF2-40B4-BE49-F238E27FC236}">
                <a16:creationId xmlns:a16="http://schemas.microsoft.com/office/drawing/2014/main" id="{32303617-DC55-4E7F-B8F5-14BCB7023BC6}"/>
              </a:ext>
            </a:extLst>
          </p:cNvPr>
          <p:cNvSpPr>
            <a:spLocks xmlns:a="http://schemas.openxmlformats.org/drawingml/2006/main" noGrp="1"/>
          </p:cNvSpPr>
          <p:nvPr/>
        </p:nvSpPr>
        <p:spPr>
          <a:xfrm xmlns:a="http://schemas.openxmlformats.org/drawingml/2006/main">
            <a:off x="1143000" y="2019300"/>
            <a:ext cx="457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01</a:t>
            </a:r>
          </a:p>
        </p:txBody>
      </p:sp>
      <p:sp>
        <p:nvSpPr>
          <p:cNvPr id="5" name="05-bullet-copy">
            <a:extLst xmlns:a="http://schemas.openxmlformats.org/drawingml/2006/main">
              <a:ext uri="{FF2B5EF4-FFF2-40B4-BE49-F238E27FC236}">
                <a16:creationId xmlns:a16="http://schemas.microsoft.com/office/drawing/2014/main" id="{02C52560-A37B-4894-861A-E04A6935A683}"/>
              </a:ext>
            </a:extLst>
          </p:cNvPr>
          <p:cNvSpPr>
            <a:spLocks xmlns:a="http://schemas.openxmlformats.org/drawingml/2006/main" noGrp="1"/>
          </p:cNvSpPr>
          <p:nvPr/>
        </p:nvSpPr>
        <p:spPr>
          <a:xfrm xmlns:a="http://schemas.openxmlformats.org/drawingml/2006/main">
            <a:off x="1695450" y="2019300"/>
            <a:ext cx="916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i="0">
                <a:solidFill>
                  <a:srgbClr val="1F1A14"/>
                </a:solidFill>
                <a:latin typeface="Geist"/>
                <a:ea typeface="Geist"/>
                <a:cs typeface="Geist"/>
              </a:defRPr>
            </a:pPr>
            <a:r>
              <a:rPr sz="2325" b="0" i="0">
                <a:solidFill>
                  <a:srgbClr val="1F1A14"/>
                </a:solidFill>
                <a:latin typeface="Geist"/>
                <a:ea typeface="Geist"/>
                <a:cs typeface="Geist"/>
              </a:rPr>
              <a:t>Find the cited node.</a:t>
            </a:r>
          </a:p>
        </p:txBody>
      </p:sp>
      <p:sp>
        <p:nvSpPr>
          <p:cNvPr id="6" name="06-bullet-marker">
            <a:extLst xmlns:a="http://schemas.openxmlformats.org/drawingml/2006/main">
              <a:ext uri="{FF2B5EF4-FFF2-40B4-BE49-F238E27FC236}">
                <a16:creationId xmlns:a16="http://schemas.microsoft.com/office/drawing/2014/main" id="{2BDC1869-A775-40D7-B568-75E9CD220ECB}"/>
              </a:ext>
            </a:extLst>
          </p:cNvPr>
          <p:cNvSpPr>
            <a:spLocks xmlns:a="http://schemas.openxmlformats.org/drawingml/2006/main" noGrp="1"/>
          </p:cNvSpPr>
          <p:nvPr/>
        </p:nvSpPr>
        <p:spPr>
          <a:xfrm xmlns:a="http://schemas.openxmlformats.org/drawingml/2006/main">
            <a:off x="1143000" y="2800350"/>
            <a:ext cx="457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02</a:t>
            </a:r>
          </a:p>
        </p:txBody>
      </p:sp>
      <p:sp>
        <p:nvSpPr>
          <p:cNvPr id="7" name="07-bullet-copy">
            <a:extLst xmlns:a="http://schemas.openxmlformats.org/drawingml/2006/main">
              <a:ext uri="{FF2B5EF4-FFF2-40B4-BE49-F238E27FC236}">
                <a16:creationId xmlns:a16="http://schemas.microsoft.com/office/drawing/2014/main" id="{1D07D3F1-1BD5-4485-BA46-1EC7957C096A}"/>
              </a:ext>
            </a:extLst>
          </p:cNvPr>
          <p:cNvSpPr>
            <a:spLocks xmlns:a="http://schemas.openxmlformats.org/drawingml/2006/main" noGrp="1"/>
          </p:cNvSpPr>
          <p:nvPr/>
        </p:nvSpPr>
        <p:spPr>
          <a:xfrm xmlns:a="http://schemas.openxmlformats.org/drawingml/2006/main">
            <a:off x="1695450" y="2800350"/>
            <a:ext cx="916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i="0">
                <a:solidFill>
                  <a:srgbClr val="1F1A14"/>
                </a:solidFill>
                <a:latin typeface="Geist"/>
                <a:ea typeface="Geist"/>
                <a:cs typeface="Geist"/>
              </a:defRPr>
            </a:pPr>
            <a:r>
              <a:rPr sz="2325" b="0" i="0">
                <a:solidFill>
                  <a:srgbClr val="1F1A14"/>
                </a:solidFill>
                <a:latin typeface="Geist"/>
                <a:ea typeface="Geist"/>
                <a:cs typeface="Geist"/>
              </a:rPr>
              <a:t>Decide whether the risk is real.</a:t>
            </a:r>
          </a:p>
        </p:txBody>
      </p:sp>
      <p:sp>
        <p:nvSpPr>
          <p:cNvPr id="8" name="08-bullet-marker">
            <a:extLst xmlns:a="http://schemas.openxmlformats.org/drawingml/2006/main">
              <a:ext uri="{FF2B5EF4-FFF2-40B4-BE49-F238E27FC236}">
                <a16:creationId xmlns:a16="http://schemas.microsoft.com/office/drawing/2014/main" id="{1404738D-DACC-4880-A449-7F626D4C202B}"/>
              </a:ext>
            </a:extLst>
          </p:cNvPr>
          <p:cNvSpPr>
            <a:spLocks xmlns:a="http://schemas.openxmlformats.org/drawingml/2006/main" noGrp="1"/>
          </p:cNvSpPr>
          <p:nvPr/>
        </p:nvSpPr>
        <p:spPr>
          <a:xfrm xmlns:a="http://schemas.openxmlformats.org/drawingml/2006/main">
            <a:off x="1143000" y="3581400"/>
            <a:ext cx="457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03</a:t>
            </a:r>
          </a:p>
        </p:txBody>
      </p:sp>
      <p:sp>
        <p:nvSpPr>
          <p:cNvPr id="9" name="09-bullet-copy">
            <a:extLst xmlns:a="http://schemas.openxmlformats.org/drawingml/2006/main">
              <a:ext uri="{FF2B5EF4-FFF2-40B4-BE49-F238E27FC236}">
                <a16:creationId xmlns:a16="http://schemas.microsoft.com/office/drawing/2014/main" id="{17C64D40-E584-46EC-9082-BB987A722ED1}"/>
              </a:ext>
            </a:extLst>
          </p:cNvPr>
          <p:cNvSpPr>
            <a:spLocks xmlns:a="http://schemas.openxmlformats.org/drawingml/2006/main" noGrp="1"/>
          </p:cNvSpPr>
          <p:nvPr/>
        </p:nvSpPr>
        <p:spPr>
          <a:xfrm xmlns:a="http://schemas.openxmlformats.org/drawingml/2006/main">
            <a:off x="1695450" y="3581400"/>
            <a:ext cx="916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i="0">
                <a:solidFill>
                  <a:srgbClr val="1F1A14"/>
                </a:solidFill>
                <a:latin typeface="Geist"/>
                <a:ea typeface="Geist"/>
                <a:cs typeface="Geist"/>
              </a:defRPr>
            </a:pPr>
            <a:r>
              <a:rPr sz="2325" b="0" i="0">
                <a:solidFill>
                  <a:srgbClr val="1F1A14"/>
                </a:solidFill>
                <a:latin typeface="Geist"/>
                <a:ea typeface="Geist"/>
                <a:cs typeface="Geist"/>
              </a:rPr>
              <a:t>Accept, adapt, or reject.</a:t>
            </a:r>
          </a:p>
        </p:txBody>
      </p:sp>
      <p:sp>
        <p:nvSpPr>
          <p:cNvPr id="10" name="10-bullet-marker">
            <a:extLst xmlns:a="http://schemas.openxmlformats.org/drawingml/2006/main">
              <a:ext uri="{FF2B5EF4-FFF2-40B4-BE49-F238E27FC236}">
                <a16:creationId xmlns:a16="http://schemas.microsoft.com/office/drawing/2014/main" id="{C945CCA9-C4DA-42D7-BD5E-0BB88CC5AED3}"/>
              </a:ext>
            </a:extLst>
          </p:cNvPr>
          <p:cNvSpPr>
            <a:spLocks xmlns:a="http://schemas.openxmlformats.org/drawingml/2006/main" noGrp="1"/>
          </p:cNvSpPr>
          <p:nvPr/>
        </p:nvSpPr>
        <p:spPr>
          <a:xfrm xmlns:a="http://schemas.openxmlformats.org/drawingml/2006/main">
            <a:off x="1143000" y="4362450"/>
            <a:ext cx="457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04</a:t>
            </a:r>
          </a:p>
        </p:txBody>
      </p:sp>
      <p:sp>
        <p:nvSpPr>
          <p:cNvPr id="11" name="11-bullet-copy">
            <a:extLst xmlns:a="http://schemas.openxmlformats.org/drawingml/2006/main">
              <a:ext uri="{FF2B5EF4-FFF2-40B4-BE49-F238E27FC236}">
                <a16:creationId xmlns:a16="http://schemas.microsoft.com/office/drawing/2014/main" id="{950C2032-9D0B-41FA-9DD4-DE2EA621B04D}"/>
              </a:ext>
            </a:extLst>
          </p:cNvPr>
          <p:cNvSpPr>
            <a:spLocks xmlns:a="http://schemas.openxmlformats.org/drawingml/2006/main" noGrp="1"/>
          </p:cNvSpPr>
          <p:nvPr/>
        </p:nvSpPr>
        <p:spPr>
          <a:xfrm xmlns:a="http://schemas.openxmlformats.org/drawingml/2006/main">
            <a:off x="1695450" y="4362450"/>
            <a:ext cx="916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0" i="0">
                <a:solidFill>
                  <a:srgbClr val="1F1A14"/>
                </a:solidFill>
                <a:latin typeface="Geist"/>
                <a:ea typeface="Geist"/>
                <a:cs typeface="Geist"/>
              </a:defRPr>
            </a:pPr>
            <a:r>
              <a:rPr sz="2325" b="0" i="0">
                <a:solidFill>
                  <a:srgbClr val="1F1A14"/>
                </a:solidFill>
                <a:latin typeface="Geist"/>
                <a:ea typeface="Geist"/>
                <a:cs typeface="Geist"/>
              </a:rPr>
              <a:t>Record why.</a:t>
            </a:r>
          </a:p>
        </p:txBody>
      </p:sp>
      <p:sp>
        <p:nvSpPr>
          <p:cNvPr id="12" name="12-footer-rule">
            <a:extLst xmlns:a="http://schemas.openxmlformats.org/drawingml/2006/main">
              <a:ext uri="{FF2B5EF4-FFF2-40B4-BE49-F238E27FC236}">
                <a16:creationId xmlns:a16="http://schemas.microsoft.com/office/drawing/2014/main" id="{B639B5C0-3163-4462-A303-CC959FD9724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3" name="13-footer-left">
            <a:extLst xmlns:a="http://schemas.openxmlformats.org/drawingml/2006/main">
              <a:ext uri="{FF2B5EF4-FFF2-40B4-BE49-F238E27FC236}">
                <a16:creationId xmlns:a16="http://schemas.microsoft.com/office/drawing/2014/main" id="{BCCC874A-CE59-435E-9E04-1CA2711B0858}"/>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00:37-00:42</a:t>
            </a:r>
          </a:p>
        </p:txBody>
      </p:sp>
      <p:sp>
        <p:nvSpPr>
          <p:cNvPr id="14" name="14-footer-right">
            <a:extLst xmlns:a="http://schemas.openxmlformats.org/drawingml/2006/main">
              <a:ext uri="{FF2B5EF4-FFF2-40B4-BE49-F238E27FC236}">
                <a16:creationId xmlns:a16="http://schemas.microsoft.com/office/drawing/2014/main" id="{31C50EDC-238F-41ED-999A-47B87F52E2BA}"/>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12 / 27</a:t>
            </a:r>
          </a:p>
        </p:txBody>
      </p:sp>
    </p:spTree>
    <p:extLst>
      <p:ext uri="{BB962C8B-B14F-4D97-AF65-F5344CB8AC3E}">
        <p14:creationId xmlns:p14="http://schemas.microsoft.com/office/powerpoint/2010/main" val="688916580"/>
      </p:ext>
    </p:extLst>
  </p:cSld>
</p:sld>
</file>

<file path=ppt/slides/slide13.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9" name="01-kicker">
            <a:extLst xmlns:a="http://schemas.openxmlformats.org/drawingml/2006/main">
              <a:ext uri="{FF2B5EF4-FFF2-40B4-BE49-F238E27FC236}">
                <a16:creationId xmlns:a16="http://schemas.microsoft.com/office/drawing/2014/main" id="{2347F5CE-7A44-4AFC-B961-DDF48102617C}"/>
              </a:ext>
            </a:extLst>
          </p:cNvPr>
          <p:cNvSpPr>
            <a:spLocks xmlns:a="http://schemas.openxmlformats.org/drawingml/2006/main" noGrp="1"/>
          </p:cNvSpPr>
          <p:nvPr/>
        </p:nvSpPr>
        <p:spPr>
          <a:xfrm xmlns:a="http://schemas.openxmlformats.org/drawingml/2006/main">
            <a:off x="609600" y="5143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REPAIR THE SMALLEST DANGEROUS GAP</a:t>
            </a:r>
          </a:p>
        </p:txBody>
      </p:sp>
      <p:sp>
        <p:nvSpPr>
          <p:cNvPr id="2" name="02-timer">
            <a:extLst xmlns:a="http://schemas.openxmlformats.org/drawingml/2006/main">
              <a:ext uri="{FF2B5EF4-FFF2-40B4-BE49-F238E27FC236}">
                <a16:creationId xmlns:a16="http://schemas.microsoft.com/office/drawing/2014/main" id="{3565F9A4-E042-4E0F-9E77-53B321EB472F}"/>
              </a:ext>
            </a:extLst>
          </p:cNvPr>
          <p:cNvSpPr>
            <a:spLocks xmlns:a="http://schemas.openxmlformats.org/drawingml/2006/main" noGrp="1"/>
          </p:cNvSpPr>
          <p:nvPr/>
        </p:nvSpPr>
        <p:spPr>
          <a:xfrm xmlns:a="http://schemas.openxmlformats.org/drawingml/2006/main">
            <a:off x="609600" y="1619250"/>
            <a:ext cx="10972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0" b="1" i="0">
                <a:solidFill>
                  <a:srgbClr val="F5F0E8"/>
                </a:solidFill>
                <a:latin typeface="Geist Mono"/>
                <a:ea typeface="Geist Mono"/>
                <a:cs typeface="Geist Mono"/>
              </a:defRPr>
            </a:pPr>
            <a:r>
              <a:rPr sz="11250" b="1" i="0">
                <a:solidFill>
                  <a:srgbClr val="F5F0E8"/>
                </a:solidFill>
                <a:latin typeface="Geist Mono"/>
                <a:ea typeface="Geist Mono"/>
                <a:cs typeface="Geist Mono"/>
              </a:rPr>
              <a:t>05:00</a:t>
            </a:r>
          </a:p>
        </p:txBody>
      </p:sp>
      <p:sp>
        <p:nvSpPr>
          <p:cNvPr id="3" name="03-timer-track">
            <a:extLst xmlns:a="http://schemas.openxmlformats.org/drawingml/2006/main">
              <a:ext uri="{FF2B5EF4-FFF2-40B4-BE49-F238E27FC236}">
                <a16:creationId xmlns:a16="http://schemas.microsoft.com/office/drawing/2014/main" id="{25752551-1FB3-4ED3-A284-F7A928F7FBB3}"/>
              </a:ext>
            </a:extLst>
          </p:cNvPr>
          <p:cNvSpPr>
            <a:spLocks xmlns:a="http://schemas.openxmlformats.org/drawingml/2006/main" noGrp="1"/>
          </p:cNvSpPr>
          <p:nvPr/>
        </p:nvSpPr>
        <p:spPr>
          <a:xfrm xmlns:a="http://schemas.openxmlformats.org/drawingml/2006/main">
            <a:off x="609600" y="4476750"/>
            <a:ext cx="10972800" cy="76200"/>
          </a:xfrm>
          <a:prstGeom xmlns:a="http://schemas.openxmlformats.org/drawingml/2006/main" prst="rect">
            <a:avLst/>
          </a:prstGeom>
          <a:solidFill xmlns:a="http://schemas.openxmlformats.org/drawingml/2006/main">
            <a:srgbClr val="F0D478"/>
          </a:solidFill>
          <a:ln xmlns:a="http://schemas.openxmlformats.org/drawingml/2006/main" w="0">
            <a:noFill/>
            <a:prstDash val="solid"/>
          </a:ln>
        </p:spPr>
      </p:sp>
      <p:sp>
        <p:nvSpPr>
          <p:cNvPr id="4" name="04-timer-progress">
            <a:extLst xmlns:a="http://schemas.openxmlformats.org/drawingml/2006/main">
              <a:ext uri="{FF2B5EF4-FFF2-40B4-BE49-F238E27FC236}">
                <a16:creationId xmlns:a16="http://schemas.microsoft.com/office/drawing/2014/main" id="{145B471A-1BA4-498B-8392-49DE73049B72}"/>
              </a:ext>
            </a:extLst>
          </p:cNvPr>
          <p:cNvSpPr>
            <a:spLocks xmlns:a="http://schemas.openxmlformats.org/drawingml/2006/main" noGrp="1"/>
          </p:cNvSpPr>
          <p:nvPr/>
        </p:nvSpPr>
        <p:spPr>
          <a:xfrm xmlns:a="http://schemas.openxmlformats.org/drawingml/2006/main">
            <a:off x="609600" y="4476750"/>
            <a:ext cx="2381250" cy="76200"/>
          </a:xfrm>
          <a:prstGeom xmlns:a="http://schemas.openxmlformats.org/drawingml/2006/main" prst="rect">
            <a:avLst/>
          </a:prstGeom>
          <a:solidFill xmlns:a="http://schemas.openxmlformats.org/drawingml/2006/main">
            <a:srgbClr val="C4581A"/>
          </a:solidFill>
          <a:ln xmlns:a="http://schemas.openxmlformats.org/drawingml/2006/main" w="0">
            <a:noFill/>
            <a:prstDash val="solid"/>
          </a:ln>
        </p:spPr>
      </p:sp>
      <p:sp>
        <p:nvSpPr>
          <p:cNvPr id="5" name="05-timer-footer">
            <a:extLst xmlns:a="http://schemas.openxmlformats.org/drawingml/2006/main">
              <a:ext uri="{FF2B5EF4-FFF2-40B4-BE49-F238E27FC236}">
                <a16:creationId xmlns:a16="http://schemas.microsoft.com/office/drawing/2014/main" id="{916BDDE8-97C1-4FEE-94DA-C512BFC60B96}"/>
              </a:ext>
            </a:extLst>
          </p:cNvPr>
          <p:cNvSpPr>
            <a:spLocks xmlns:a="http://schemas.openxmlformats.org/drawingml/2006/main" noGrp="1"/>
          </p:cNvSpPr>
          <p:nvPr/>
        </p:nvSpPr>
        <p:spPr>
          <a:xfrm xmlns:a="http://schemas.openxmlformats.org/drawingml/2006/main">
            <a:off x="1333500" y="4953000"/>
            <a:ext cx="9525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0" i="0">
                <a:solidFill>
                  <a:srgbClr val="C7D3CE"/>
                </a:solidFill>
                <a:latin typeface="Geist"/>
                <a:ea typeface="Geist"/>
                <a:cs typeface="Geist"/>
              </a:defRPr>
            </a:pPr>
            <a:r>
              <a:rPr sz="1800" b="0" i="0">
                <a:solidFill>
                  <a:srgbClr val="C7D3CE"/>
                </a:solidFill>
                <a:latin typeface="Geist"/>
                <a:ea typeface="Geist"/>
                <a:cs typeface="Geist"/>
              </a:rPr>
              <a:t>What could create money, message a human, or corrupt a record twice?</a:t>
            </a:r>
          </a:p>
        </p:txBody>
      </p:sp>
      <p:sp>
        <p:nvSpPr>
          <p:cNvPr id="6" name="06-footer-rule">
            <a:extLst xmlns:a="http://schemas.openxmlformats.org/drawingml/2006/main">
              <a:ext uri="{FF2B5EF4-FFF2-40B4-BE49-F238E27FC236}">
                <a16:creationId xmlns:a16="http://schemas.microsoft.com/office/drawing/2014/main" id="{BF6676E3-20C5-4DF5-B383-19472E4DEF7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7" name="07-footer-left">
            <a:extLst xmlns:a="http://schemas.openxmlformats.org/drawingml/2006/main">
              <a:ext uri="{FF2B5EF4-FFF2-40B4-BE49-F238E27FC236}">
                <a16:creationId xmlns:a16="http://schemas.microsoft.com/office/drawing/2014/main" id="{91AE2920-FBAB-44E5-B14D-DF1EC147A45A}"/>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00:42-00:47</a:t>
            </a:r>
          </a:p>
        </p:txBody>
      </p:sp>
      <p:sp>
        <p:nvSpPr>
          <p:cNvPr id="8" name="08-footer-right">
            <a:extLst xmlns:a="http://schemas.openxmlformats.org/drawingml/2006/main">
              <a:ext uri="{FF2B5EF4-FFF2-40B4-BE49-F238E27FC236}">
                <a16:creationId xmlns:a16="http://schemas.microsoft.com/office/drawing/2014/main" id="{4D93038B-C1BB-4CB0-917E-9D73FAC3345B}"/>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13 / 27</a:t>
            </a:r>
          </a:p>
        </p:txBody>
      </p:sp>
    </p:spTree>
    <p:extLst>
      <p:ext uri="{BB962C8B-B14F-4D97-AF65-F5344CB8AC3E}">
        <p14:creationId xmlns:p14="http://schemas.microsoft.com/office/powerpoint/2010/main" val="2062498696"/>
      </p:ext>
    </p:extLst>
  </p:cSld>
</p:sld>
</file>

<file path=ppt/slides/slide14.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6" name="01-kicker">
            <a:extLst xmlns:a="http://schemas.openxmlformats.org/drawingml/2006/main">
              <a:ext uri="{FF2B5EF4-FFF2-40B4-BE49-F238E27FC236}">
                <a16:creationId xmlns:a16="http://schemas.microsoft.com/office/drawing/2014/main" id="{28DD7B31-37AA-4324-8016-7153BC024D1E}"/>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ADVICE · DECISION · EVIDENCE</a:t>
            </a:r>
          </a:p>
        </p:txBody>
      </p:sp>
      <p:sp>
        <p:nvSpPr>
          <p:cNvPr id="2" name="02-title">
            <a:extLst xmlns:a="http://schemas.openxmlformats.org/drawingml/2006/main">
              <a:ext uri="{FF2B5EF4-FFF2-40B4-BE49-F238E27FC236}">
                <a16:creationId xmlns:a16="http://schemas.microsoft.com/office/drawing/2014/main" id="{86794571-0CC0-4486-AE7B-2AA865F9B60B}"/>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Change log</a:t>
            </a:r>
          </a:p>
        </p:txBody>
      </p:sp>
      <p:sp>
        <p:nvSpPr>
          <p:cNvPr id="3" name="03-title-rule">
            <a:extLst xmlns:a="http://schemas.openxmlformats.org/drawingml/2006/main">
              <a:ext uri="{FF2B5EF4-FFF2-40B4-BE49-F238E27FC236}">
                <a16:creationId xmlns:a16="http://schemas.microsoft.com/office/drawing/2014/main" id="{2B55102A-F53B-45F5-A3BF-BD63E8CCB841}"/>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table-head-bg">
            <a:extLst xmlns:a="http://schemas.openxmlformats.org/drawingml/2006/main">
              <a:ext uri="{FF2B5EF4-FFF2-40B4-BE49-F238E27FC236}">
                <a16:creationId xmlns:a16="http://schemas.microsoft.com/office/drawing/2014/main" id="{F68BE096-4CB2-4820-841E-F280BBD11E28}"/>
              </a:ext>
            </a:extLst>
          </p:cNvPr>
          <p:cNvSpPr>
            <a:spLocks xmlns:a="http://schemas.openxmlformats.org/drawingml/2006/main" noGrp="1"/>
          </p:cNvSpPr>
          <p:nvPr/>
        </p:nvSpPr>
        <p:spPr>
          <a:xfrm xmlns:a="http://schemas.openxmlformats.org/drawingml/2006/main">
            <a:off x="609600" y="2171700"/>
            <a:ext cx="4000500" cy="9906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5" name="05-table-head">
            <a:extLst xmlns:a="http://schemas.openxmlformats.org/drawingml/2006/main">
              <a:ext uri="{FF2B5EF4-FFF2-40B4-BE49-F238E27FC236}">
                <a16:creationId xmlns:a16="http://schemas.microsoft.com/office/drawing/2014/main" id="{554921CE-2F1D-451D-8919-CA381F6BF4BF}"/>
              </a:ext>
            </a:extLst>
          </p:cNvPr>
          <p:cNvSpPr>
            <a:spLocks xmlns:a="http://schemas.openxmlformats.org/drawingml/2006/main" noGrp="1"/>
          </p:cNvSpPr>
          <p:nvPr/>
        </p:nvSpPr>
        <p:spPr>
          <a:xfrm xmlns:a="http://schemas.openxmlformats.org/drawingml/2006/main">
            <a:off x="742950" y="2247900"/>
            <a:ext cx="3733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ADVICE</a:t>
            </a:r>
          </a:p>
        </p:txBody>
      </p:sp>
      <p:sp>
        <p:nvSpPr>
          <p:cNvPr id="6" name="06-table-head-bg">
            <a:extLst xmlns:a="http://schemas.openxmlformats.org/drawingml/2006/main">
              <a:ext uri="{FF2B5EF4-FFF2-40B4-BE49-F238E27FC236}">
                <a16:creationId xmlns:a16="http://schemas.microsoft.com/office/drawing/2014/main" id="{53ACBF9F-68D6-450E-9949-120676AE5BBA}"/>
              </a:ext>
            </a:extLst>
          </p:cNvPr>
          <p:cNvSpPr>
            <a:spLocks xmlns:a="http://schemas.openxmlformats.org/drawingml/2006/main" noGrp="1"/>
          </p:cNvSpPr>
          <p:nvPr/>
        </p:nvSpPr>
        <p:spPr>
          <a:xfrm xmlns:a="http://schemas.openxmlformats.org/drawingml/2006/main">
            <a:off x="4610100" y="2171700"/>
            <a:ext cx="2476500" cy="9906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7" name="07-table-head">
            <a:extLst xmlns:a="http://schemas.openxmlformats.org/drawingml/2006/main">
              <a:ext uri="{FF2B5EF4-FFF2-40B4-BE49-F238E27FC236}">
                <a16:creationId xmlns:a16="http://schemas.microsoft.com/office/drawing/2014/main" id="{24BFC939-D825-4506-9415-13176D24D147}"/>
              </a:ext>
            </a:extLst>
          </p:cNvPr>
          <p:cNvSpPr>
            <a:spLocks xmlns:a="http://schemas.openxmlformats.org/drawingml/2006/main" noGrp="1"/>
          </p:cNvSpPr>
          <p:nvPr/>
        </p:nvSpPr>
        <p:spPr>
          <a:xfrm xmlns:a="http://schemas.openxmlformats.org/drawingml/2006/main">
            <a:off x="4743450" y="2247900"/>
            <a:ext cx="2209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DECISION</a:t>
            </a:r>
          </a:p>
        </p:txBody>
      </p:sp>
      <p:sp>
        <p:nvSpPr>
          <p:cNvPr id="8" name="08-table-head-bg">
            <a:extLst xmlns:a="http://schemas.openxmlformats.org/drawingml/2006/main">
              <a:ext uri="{FF2B5EF4-FFF2-40B4-BE49-F238E27FC236}">
                <a16:creationId xmlns:a16="http://schemas.microsoft.com/office/drawing/2014/main" id="{0B20D91A-6B37-4210-936A-091A9FB40459}"/>
              </a:ext>
            </a:extLst>
          </p:cNvPr>
          <p:cNvSpPr>
            <a:spLocks xmlns:a="http://schemas.openxmlformats.org/drawingml/2006/main" noGrp="1"/>
          </p:cNvSpPr>
          <p:nvPr/>
        </p:nvSpPr>
        <p:spPr>
          <a:xfrm xmlns:a="http://schemas.openxmlformats.org/drawingml/2006/main">
            <a:off x="7086600" y="2171700"/>
            <a:ext cx="4495800" cy="9906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9" name="09-table-head">
            <a:extLst xmlns:a="http://schemas.openxmlformats.org/drawingml/2006/main">
              <a:ext uri="{FF2B5EF4-FFF2-40B4-BE49-F238E27FC236}">
                <a16:creationId xmlns:a16="http://schemas.microsoft.com/office/drawing/2014/main" id="{FCED7479-017E-4199-8C6D-3B769BADBED1}"/>
              </a:ext>
            </a:extLst>
          </p:cNvPr>
          <p:cNvSpPr>
            <a:spLocks xmlns:a="http://schemas.openxmlformats.org/drawingml/2006/main" noGrp="1"/>
          </p:cNvSpPr>
          <p:nvPr/>
        </p:nvSpPr>
        <p:spPr>
          <a:xfrm xmlns:a="http://schemas.openxmlformats.org/drawingml/2006/main">
            <a:off x="7219950" y="2247900"/>
            <a:ext cx="42291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EVIDENCE</a:t>
            </a:r>
          </a:p>
        </p:txBody>
      </p:sp>
      <p:sp>
        <p:nvSpPr>
          <p:cNvPr id="10" name="10-table-cell-bg">
            <a:extLst xmlns:a="http://schemas.openxmlformats.org/drawingml/2006/main">
              <a:ext uri="{FF2B5EF4-FFF2-40B4-BE49-F238E27FC236}">
                <a16:creationId xmlns:a16="http://schemas.microsoft.com/office/drawing/2014/main" id="{8F7DD660-D86C-4940-9C59-8E5B99329D77}"/>
              </a:ext>
            </a:extLst>
          </p:cNvPr>
          <p:cNvSpPr>
            <a:spLocks xmlns:a="http://schemas.openxmlformats.org/drawingml/2006/main" noGrp="1"/>
          </p:cNvSpPr>
          <p:nvPr/>
        </p:nvSpPr>
        <p:spPr>
          <a:xfrm xmlns:a="http://schemas.openxmlformats.org/drawingml/2006/main">
            <a:off x="609600" y="3162300"/>
            <a:ext cx="4000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1" name="11-table-cell">
            <a:extLst xmlns:a="http://schemas.openxmlformats.org/drawingml/2006/main">
              <a:ext uri="{FF2B5EF4-FFF2-40B4-BE49-F238E27FC236}">
                <a16:creationId xmlns:a16="http://schemas.microsoft.com/office/drawing/2014/main" id="{754D8E80-5333-4F4C-9395-9793279FAE91}"/>
              </a:ext>
            </a:extLst>
          </p:cNvPr>
          <p:cNvSpPr>
            <a:spLocks xmlns:a="http://schemas.openxmlformats.org/drawingml/2006/main" noGrp="1"/>
          </p:cNvSpPr>
          <p:nvPr/>
        </p:nvSpPr>
        <p:spPr>
          <a:xfrm xmlns:a="http://schemas.openxmlformats.org/drawingml/2006/main">
            <a:off x="742950" y="3228975"/>
            <a:ext cx="373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1F1A14"/>
                </a:solidFill>
                <a:latin typeface="Geist"/>
                <a:ea typeface="Geist"/>
                <a:cs typeface="Geist"/>
              </a:defRPr>
            </a:pPr>
            <a:r>
              <a:rPr sz="1800" b="0" i="0">
                <a:solidFill>
                  <a:srgbClr val="1F1A14"/>
                </a:solidFill>
                <a:latin typeface="Geist"/>
                <a:ea typeface="Geist"/>
                <a:cs typeface="Geist"/>
              </a:rPr>
              <a:t>Add duplicate state</a:t>
            </a:r>
          </a:p>
        </p:txBody>
      </p:sp>
      <p:sp>
        <p:nvSpPr>
          <p:cNvPr id="12" name="12-table-cell-bg">
            <a:extLst xmlns:a="http://schemas.openxmlformats.org/drawingml/2006/main">
              <a:ext uri="{FF2B5EF4-FFF2-40B4-BE49-F238E27FC236}">
                <a16:creationId xmlns:a16="http://schemas.microsoft.com/office/drawing/2014/main" id="{002BF6CE-C263-4D95-89AD-EB030C79CB79}"/>
              </a:ext>
            </a:extLst>
          </p:cNvPr>
          <p:cNvSpPr>
            <a:spLocks xmlns:a="http://schemas.openxmlformats.org/drawingml/2006/main" noGrp="1"/>
          </p:cNvSpPr>
          <p:nvPr/>
        </p:nvSpPr>
        <p:spPr>
          <a:xfrm xmlns:a="http://schemas.openxmlformats.org/drawingml/2006/main">
            <a:off x="4610100" y="3162300"/>
            <a:ext cx="2476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3" name="13-table-cell">
            <a:extLst xmlns:a="http://schemas.openxmlformats.org/drawingml/2006/main">
              <a:ext uri="{FF2B5EF4-FFF2-40B4-BE49-F238E27FC236}">
                <a16:creationId xmlns:a16="http://schemas.microsoft.com/office/drawing/2014/main" id="{71F431C2-139B-40C0-9F0B-DDCF3E9D944D}"/>
              </a:ext>
            </a:extLst>
          </p:cNvPr>
          <p:cNvSpPr>
            <a:spLocks xmlns:a="http://schemas.openxmlformats.org/drawingml/2006/main" noGrp="1"/>
          </p:cNvSpPr>
          <p:nvPr/>
        </p:nvSpPr>
        <p:spPr>
          <a:xfrm xmlns:a="http://schemas.openxmlformats.org/drawingml/2006/main">
            <a:off x="4743450" y="3228975"/>
            <a:ext cx="2209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1F1A14"/>
                </a:solidFill>
                <a:latin typeface="Geist"/>
                <a:ea typeface="Geist"/>
                <a:cs typeface="Geist"/>
              </a:defRPr>
            </a:pPr>
            <a:r>
              <a:rPr sz="1800" b="0" i="0">
                <a:solidFill>
                  <a:srgbClr val="1F1A14"/>
                </a:solidFill>
                <a:latin typeface="Geist"/>
                <a:ea typeface="Geist"/>
                <a:cs typeface="Geist"/>
              </a:rPr>
              <a:t>Accepted</a:t>
            </a:r>
          </a:p>
        </p:txBody>
      </p:sp>
      <p:sp>
        <p:nvSpPr>
          <p:cNvPr id="14" name="14-table-cell-bg">
            <a:extLst xmlns:a="http://schemas.openxmlformats.org/drawingml/2006/main">
              <a:ext uri="{FF2B5EF4-FFF2-40B4-BE49-F238E27FC236}">
                <a16:creationId xmlns:a16="http://schemas.microsoft.com/office/drawing/2014/main" id="{89418D06-9673-492C-B138-88462B7F5ADC}"/>
              </a:ext>
            </a:extLst>
          </p:cNvPr>
          <p:cNvSpPr>
            <a:spLocks xmlns:a="http://schemas.openxmlformats.org/drawingml/2006/main" noGrp="1"/>
          </p:cNvSpPr>
          <p:nvPr/>
        </p:nvSpPr>
        <p:spPr>
          <a:xfrm xmlns:a="http://schemas.openxmlformats.org/drawingml/2006/main">
            <a:off x="7086600" y="3162300"/>
            <a:ext cx="44958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5" name="15-table-cell">
            <a:extLst xmlns:a="http://schemas.openxmlformats.org/drawingml/2006/main">
              <a:ext uri="{FF2B5EF4-FFF2-40B4-BE49-F238E27FC236}">
                <a16:creationId xmlns:a16="http://schemas.microsoft.com/office/drawing/2014/main" id="{E4A18EBC-4966-4317-9483-43E2D94B7193}"/>
              </a:ext>
            </a:extLst>
          </p:cNvPr>
          <p:cNvSpPr>
            <a:spLocks xmlns:a="http://schemas.openxmlformats.org/drawingml/2006/main" noGrp="1"/>
          </p:cNvSpPr>
          <p:nvPr/>
        </p:nvSpPr>
        <p:spPr>
          <a:xfrm xmlns:a="http://schemas.openxmlformats.org/drawingml/2006/main">
            <a:off x="7219950" y="3228975"/>
            <a:ext cx="4229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1F1A14"/>
                </a:solidFill>
                <a:latin typeface="Geist"/>
                <a:ea typeface="Geist"/>
                <a:cs typeface="Geist"/>
              </a:defRPr>
            </a:pPr>
            <a:r>
              <a:rPr sz="1800" b="0" i="0">
                <a:solidFill>
                  <a:srgbClr val="1F1A14"/>
                </a:solidFill>
                <a:latin typeface="Geist"/>
                <a:ea typeface="Geist"/>
                <a:cs typeface="Geist"/>
              </a:rPr>
              <a:t>before queue/write</a:t>
            </a:r>
          </a:p>
        </p:txBody>
      </p:sp>
      <p:sp>
        <p:nvSpPr>
          <p:cNvPr id="16" name="16-table-cell-bg">
            <a:extLst xmlns:a="http://schemas.openxmlformats.org/drawingml/2006/main">
              <a:ext uri="{FF2B5EF4-FFF2-40B4-BE49-F238E27FC236}">
                <a16:creationId xmlns:a16="http://schemas.microsoft.com/office/drawing/2014/main" id="{E3292624-A8FA-450B-A53F-18CD77B046D5}"/>
              </a:ext>
            </a:extLst>
          </p:cNvPr>
          <p:cNvSpPr>
            <a:spLocks xmlns:a="http://schemas.openxmlformats.org/drawingml/2006/main" noGrp="1"/>
          </p:cNvSpPr>
          <p:nvPr/>
        </p:nvSpPr>
        <p:spPr>
          <a:xfrm xmlns:a="http://schemas.openxmlformats.org/drawingml/2006/main">
            <a:off x="609600" y="4152900"/>
            <a:ext cx="4000500" cy="9906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17" name="17-table-cell">
            <a:extLst xmlns:a="http://schemas.openxmlformats.org/drawingml/2006/main">
              <a:ext uri="{FF2B5EF4-FFF2-40B4-BE49-F238E27FC236}">
                <a16:creationId xmlns:a16="http://schemas.microsoft.com/office/drawing/2014/main" id="{3305E416-95A3-4464-A977-F02E9D4F22E1}"/>
              </a:ext>
            </a:extLst>
          </p:cNvPr>
          <p:cNvSpPr>
            <a:spLocks xmlns:a="http://schemas.openxmlformats.org/drawingml/2006/main" noGrp="1"/>
          </p:cNvSpPr>
          <p:nvPr/>
        </p:nvSpPr>
        <p:spPr>
          <a:xfrm xmlns:a="http://schemas.openxmlformats.org/drawingml/2006/main">
            <a:off x="742950" y="4219575"/>
            <a:ext cx="3733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1F1A14"/>
                </a:solidFill>
                <a:latin typeface="Geist"/>
                <a:ea typeface="Geist"/>
                <a:cs typeface="Geist"/>
              </a:defRPr>
            </a:pPr>
            <a:r>
              <a:rPr sz="1800" b="0" i="0">
                <a:solidFill>
                  <a:srgbClr val="1F1A14"/>
                </a:solidFill>
                <a:latin typeface="Geist"/>
                <a:ea typeface="Geist"/>
                <a:cs typeface="Geist"/>
              </a:rPr>
              <a:t>Retry malformed data</a:t>
            </a:r>
          </a:p>
        </p:txBody>
      </p:sp>
      <p:sp>
        <p:nvSpPr>
          <p:cNvPr id="18" name="18-table-cell-bg">
            <a:extLst xmlns:a="http://schemas.openxmlformats.org/drawingml/2006/main">
              <a:ext uri="{FF2B5EF4-FFF2-40B4-BE49-F238E27FC236}">
                <a16:creationId xmlns:a16="http://schemas.microsoft.com/office/drawing/2014/main" id="{1A20A8C2-730A-4B0A-8757-3C92F53FD54C}"/>
              </a:ext>
            </a:extLst>
          </p:cNvPr>
          <p:cNvSpPr>
            <a:spLocks xmlns:a="http://schemas.openxmlformats.org/drawingml/2006/main" noGrp="1"/>
          </p:cNvSpPr>
          <p:nvPr/>
        </p:nvSpPr>
        <p:spPr>
          <a:xfrm xmlns:a="http://schemas.openxmlformats.org/drawingml/2006/main">
            <a:off x="4610100" y="4152900"/>
            <a:ext cx="2476500" cy="9906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19" name="19-table-cell">
            <a:extLst xmlns:a="http://schemas.openxmlformats.org/drawingml/2006/main">
              <a:ext uri="{FF2B5EF4-FFF2-40B4-BE49-F238E27FC236}">
                <a16:creationId xmlns:a16="http://schemas.microsoft.com/office/drawing/2014/main" id="{0668A1E6-D8EB-41BE-B7CB-BBD8F25E48E0}"/>
              </a:ext>
            </a:extLst>
          </p:cNvPr>
          <p:cNvSpPr>
            <a:spLocks xmlns:a="http://schemas.openxmlformats.org/drawingml/2006/main" noGrp="1"/>
          </p:cNvSpPr>
          <p:nvPr/>
        </p:nvSpPr>
        <p:spPr>
          <a:xfrm xmlns:a="http://schemas.openxmlformats.org/drawingml/2006/main">
            <a:off x="4743450" y="4219575"/>
            <a:ext cx="2209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1F1A14"/>
                </a:solidFill>
                <a:latin typeface="Geist"/>
                <a:ea typeface="Geist"/>
                <a:cs typeface="Geist"/>
              </a:defRPr>
            </a:pPr>
            <a:r>
              <a:rPr sz="1800" b="0" i="0">
                <a:solidFill>
                  <a:srgbClr val="1F1A14"/>
                </a:solidFill>
                <a:latin typeface="Geist"/>
                <a:ea typeface="Geist"/>
                <a:cs typeface="Geist"/>
              </a:rPr>
              <a:t>Rejected</a:t>
            </a:r>
          </a:p>
        </p:txBody>
      </p:sp>
      <p:sp>
        <p:nvSpPr>
          <p:cNvPr id="20" name="20-table-cell-bg">
            <a:extLst xmlns:a="http://schemas.openxmlformats.org/drawingml/2006/main">
              <a:ext uri="{FF2B5EF4-FFF2-40B4-BE49-F238E27FC236}">
                <a16:creationId xmlns:a16="http://schemas.microsoft.com/office/drawing/2014/main" id="{4D6A42E9-385D-459C-8842-FC14AF29F76B}"/>
              </a:ext>
            </a:extLst>
          </p:cNvPr>
          <p:cNvSpPr>
            <a:spLocks xmlns:a="http://schemas.openxmlformats.org/drawingml/2006/main" noGrp="1"/>
          </p:cNvSpPr>
          <p:nvPr/>
        </p:nvSpPr>
        <p:spPr>
          <a:xfrm xmlns:a="http://schemas.openxmlformats.org/drawingml/2006/main">
            <a:off x="7086600" y="4152900"/>
            <a:ext cx="4495800" cy="990600"/>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21" name="21-table-cell">
            <a:extLst xmlns:a="http://schemas.openxmlformats.org/drawingml/2006/main">
              <a:ext uri="{FF2B5EF4-FFF2-40B4-BE49-F238E27FC236}">
                <a16:creationId xmlns:a16="http://schemas.microsoft.com/office/drawing/2014/main" id="{4A017286-0807-42D8-9AE6-711785DC07ED}"/>
              </a:ext>
            </a:extLst>
          </p:cNvPr>
          <p:cNvSpPr>
            <a:spLocks xmlns:a="http://schemas.openxmlformats.org/drawingml/2006/main" noGrp="1"/>
          </p:cNvSpPr>
          <p:nvPr/>
        </p:nvSpPr>
        <p:spPr>
          <a:xfrm xmlns:a="http://schemas.openxmlformats.org/drawingml/2006/main">
            <a:off x="7219950" y="4219575"/>
            <a:ext cx="4229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1F1A14"/>
                </a:solidFill>
                <a:latin typeface="Geist"/>
                <a:ea typeface="Geist"/>
                <a:cs typeface="Geist"/>
              </a:defRPr>
            </a:pPr>
            <a:r>
              <a:rPr sz="1800" b="0" i="0">
                <a:solidFill>
                  <a:srgbClr val="1F1A14"/>
                </a:solidFill>
                <a:latin typeface="Geist"/>
                <a:ea typeface="Geist"/>
                <a:cs typeface="Geist"/>
              </a:rPr>
              <a:t>retry cannot repair input</a:t>
            </a:r>
          </a:p>
        </p:txBody>
      </p:sp>
      <p:sp>
        <p:nvSpPr>
          <p:cNvPr id="22" name="22-change-log-rule">
            <a:extLst xmlns:a="http://schemas.openxmlformats.org/drawingml/2006/main">
              <a:ext uri="{FF2B5EF4-FFF2-40B4-BE49-F238E27FC236}">
                <a16:creationId xmlns:a16="http://schemas.microsoft.com/office/drawing/2014/main" id="{C4E02CBA-7FEB-49F9-AD33-7FEC7BADCD31}"/>
              </a:ext>
            </a:extLst>
          </p:cNvPr>
          <p:cNvSpPr>
            <a:spLocks xmlns:a="http://schemas.openxmlformats.org/drawingml/2006/main" noGrp="1"/>
          </p:cNvSpPr>
          <p:nvPr/>
        </p:nvSpPr>
        <p:spPr>
          <a:xfrm xmlns:a="http://schemas.openxmlformats.org/drawingml/2006/main">
            <a:off x="1524000" y="5238750"/>
            <a:ext cx="914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1">
                <a:solidFill>
                  <a:srgbClr val="5C5046"/>
                </a:solidFill>
                <a:latin typeface="Geist"/>
                <a:ea typeface="Geist"/>
                <a:cs typeface="Geist"/>
              </a:defRPr>
            </a:pPr>
            <a:r>
              <a:rPr sz="1725" b="0" i="1">
                <a:solidFill>
                  <a:srgbClr val="5C5046"/>
                </a:solidFill>
                <a:latin typeface="Geist"/>
                <a:ea typeface="Geist"/>
                <a:cs typeface="Geist"/>
              </a:rPr>
              <a:t>Record at least one accepted/adapted and one rejected/not-applicable suggestion.</a:t>
            </a:r>
          </a:p>
        </p:txBody>
      </p:sp>
      <p:sp>
        <p:nvSpPr>
          <p:cNvPr id="23" name="23-footer-rule">
            <a:extLst xmlns:a="http://schemas.openxmlformats.org/drawingml/2006/main">
              <a:ext uri="{FF2B5EF4-FFF2-40B4-BE49-F238E27FC236}">
                <a16:creationId xmlns:a16="http://schemas.microsoft.com/office/drawing/2014/main" id="{981CF4A2-F47C-4BEE-BC75-3C1188F00A9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4" name="24-footer-left">
            <a:extLst xmlns:a="http://schemas.openxmlformats.org/drawingml/2006/main">
              <a:ext uri="{FF2B5EF4-FFF2-40B4-BE49-F238E27FC236}">
                <a16:creationId xmlns:a16="http://schemas.microsoft.com/office/drawing/2014/main" id="{4D4C05D3-CB9D-4F47-94AC-015B9B9104A7}"/>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00:47-00:52</a:t>
            </a:r>
          </a:p>
        </p:txBody>
      </p:sp>
      <p:sp>
        <p:nvSpPr>
          <p:cNvPr id="25" name="25-footer-right">
            <a:extLst xmlns:a="http://schemas.openxmlformats.org/drawingml/2006/main">
              <a:ext uri="{FF2B5EF4-FFF2-40B4-BE49-F238E27FC236}">
                <a16:creationId xmlns:a16="http://schemas.microsoft.com/office/drawing/2014/main" id="{1A4421E5-CB0F-44BE-9B86-25A717F8AFFF}"/>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14 / 27</a:t>
            </a:r>
          </a:p>
        </p:txBody>
      </p:sp>
    </p:spTree>
    <p:extLst>
      <p:ext uri="{BB962C8B-B14F-4D97-AF65-F5344CB8AC3E}">
        <p14:creationId xmlns:p14="http://schemas.microsoft.com/office/powerpoint/2010/main" val="1924965697"/>
      </p:ext>
    </p:extLst>
  </p:cSld>
</p:sld>
</file>

<file path=ppt/slides/slide15.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5" name="01-kicker">
            <a:extLst xmlns:a="http://schemas.openxmlformats.org/drawingml/2006/main">
              <a:ext uri="{FF2B5EF4-FFF2-40B4-BE49-F238E27FC236}">
                <a16:creationId xmlns:a16="http://schemas.microsoft.com/office/drawing/2014/main" id="{95B053F4-1FF2-4178-978B-E61BC6CEDE52}"/>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SCHEDULING STAYS OFF</a:t>
            </a:r>
          </a:p>
        </p:txBody>
      </p:sp>
      <p:sp>
        <p:nvSpPr>
          <p:cNvPr id="2" name="02-title">
            <a:extLst xmlns:a="http://schemas.openxmlformats.org/drawingml/2006/main">
              <a:ext uri="{FF2B5EF4-FFF2-40B4-BE49-F238E27FC236}">
                <a16:creationId xmlns:a16="http://schemas.microsoft.com/office/drawing/2014/main" id="{A5DB8182-C5E1-4256-93AF-AF70A9055A5E}"/>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Build only the spine</a:t>
            </a:r>
          </a:p>
        </p:txBody>
      </p:sp>
      <p:sp>
        <p:nvSpPr>
          <p:cNvPr id="3" name="03-title-rule">
            <a:extLst xmlns:a="http://schemas.openxmlformats.org/drawingml/2006/main">
              <a:ext uri="{FF2B5EF4-FFF2-40B4-BE49-F238E27FC236}">
                <a16:creationId xmlns:a16="http://schemas.microsoft.com/office/drawing/2014/main" id="{283F151A-C86E-45E7-925C-45AA0F69B2A4}"/>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arrow">
            <a:extLst xmlns:a="http://schemas.openxmlformats.org/drawingml/2006/main">
              <a:ext uri="{FF2B5EF4-FFF2-40B4-BE49-F238E27FC236}">
                <a16:creationId xmlns:a16="http://schemas.microsoft.com/office/drawing/2014/main" id="{69715E22-134E-46A4-B842-B19C5B7AE780}"/>
              </a:ext>
            </a:extLst>
          </p:cNvPr>
          <p:cNvSpPr>
            <a:spLocks xmlns:a="http://schemas.openxmlformats.org/drawingml/2006/main" noGrp="1"/>
          </p:cNvSpPr>
          <p:nvPr/>
        </p:nvSpPr>
        <p:spPr>
          <a:xfrm xmlns:a="http://schemas.openxmlformats.org/drawingml/2006/main">
            <a:off x="2381250" y="3048000"/>
            <a:ext cx="38100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5" name="05-node-bg">
            <a:extLst xmlns:a="http://schemas.openxmlformats.org/drawingml/2006/main">
              <a:ext uri="{FF2B5EF4-FFF2-40B4-BE49-F238E27FC236}">
                <a16:creationId xmlns:a16="http://schemas.microsoft.com/office/drawing/2014/main" id="{B04452DF-B385-48CC-9137-1D00E57493B9}"/>
              </a:ext>
            </a:extLst>
          </p:cNvPr>
          <p:cNvSpPr>
            <a:spLocks xmlns:a="http://schemas.openxmlformats.org/drawingml/2006/main" noGrp="1"/>
          </p:cNvSpPr>
          <p:nvPr/>
        </p:nvSpPr>
        <p:spPr>
          <a:xfrm xmlns:a="http://schemas.openxmlformats.org/drawingml/2006/main">
            <a:off x="590550" y="2686050"/>
            <a:ext cx="1790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6" name="06-node-label">
            <a:extLst xmlns:a="http://schemas.openxmlformats.org/drawingml/2006/main">
              <a:ext uri="{FF2B5EF4-FFF2-40B4-BE49-F238E27FC236}">
                <a16:creationId xmlns:a16="http://schemas.microsoft.com/office/drawing/2014/main" id="{047C40DB-E5C8-44C0-A405-4947A2CA59F2}"/>
              </a:ext>
            </a:extLst>
          </p:cNvPr>
          <p:cNvSpPr>
            <a:spLocks xmlns:a="http://schemas.openxmlformats.org/drawingml/2006/main" noGrp="1"/>
          </p:cNvSpPr>
          <p:nvPr/>
        </p:nvSpPr>
        <p:spPr>
          <a:xfrm xmlns:a="http://schemas.openxmlformats.org/drawingml/2006/main">
            <a:off x="704850" y="2762250"/>
            <a:ext cx="156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WEBHOOK</a:t>
            </a:r>
          </a:p>
        </p:txBody>
      </p:sp>
      <p:sp>
        <p:nvSpPr>
          <p:cNvPr id="7" name="07-arrow">
            <a:extLst xmlns:a="http://schemas.openxmlformats.org/drawingml/2006/main">
              <a:ext uri="{FF2B5EF4-FFF2-40B4-BE49-F238E27FC236}">
                <a16:creationId xmlns:a16="http://schemas.microsoft.com/office/drawing/2014/main" id="{CB699EBE-0A55-409F-91FB-A0172AADC33F}"/>
              </a:ext>
            </a:extLst>
          </p:cNvPr>
          <p:cNvSpPr>
            <a:spLocks xmlns:a="http://schemas.openxmlformats.org/drawingml/2006/main" noGrp="1"/>
          </p:cNvSpPr>
          <p:nvPr/>
        </p:nvSpPr>
        <p:spPr>
          <a:xfrm xmlns:a="http://schemas.openxmlformats.org/drawingml/2006/main">
            <a:off x="4248150" y="3048000"/>
            <a:ext cx="38100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8" name="08-node-bg">
            <a:extLst xmlns:a="http://schemas.openxmlformats.org/drawingml/2006/main">
              <a:ext uri="{FF2B5EF4-FFF2-40B4-BE49-F238E27FC236}">
                <a16:creationId xmlns:a16="http://schemas.microsoft.com/office/drawing/2014/main" id="{1926C70A-5AF5-483A-910D-639456F84FEC}"/>
              </a:ext>
            </a:extLst>
          </p:cNvPr>
          <p:cNvSpPr>
            <a:spLocks xmlns:a="http://schemas.openxmlformats.org/drawingml/2006/main" noGrp="1"/>
          </p:cNvSpPr>
          <p:nvPr/>
        </p:nvSpPr>
        <p:spPr>
          <a:xfrm xmlns:a="http://schemas.openxmlformats.org/drawingml/2006/main">
            <a:off x="2457450" y="2686050"/>
            <a:ext cx="1790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9" name="09-node-label">
            <a:extLst xmlns:a="http://schemas.openxmlformats.org/drawingml/2006/main">
              <a:ext uri="{FF2B5EF4-FFF2-40B4-BE49-F238E27FC236}">
                <a16:creationId xmlns:a16="http://schemas.microsoft.com/office/drawing/2014/main" id="{7F96BC46-924F-4D4C-B6C4-45855A647203}"/>
              </a:ext>
            </a:extLst>
          </p:cNvPr>
          <p:cNvSpPr>
            <a:spLocks xmlns:a="http://schemas.openxmlformats.org/drawingml/2006/main" noGrp="1"/>
          </p:cNvSpPr>
          <p:nvPr/>
        </p:nvSpPr>
        <p:spPr>
          <a:xfrm xmlns:a="http://schemas.openxmlformats.org/drawingml/2006/main">
            <a:off x="2571750" y="2762250"/>
            <a:ext cx="156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NORMALIZE</a:t>
            </a:r>
          </a:p>
        </p:txBody>
      </p:sp>
      <p:sp>
        <p:nvSpPr>
          <p:cNvPr id="10" name="10-arrow">
            <a:extLst xmlns:a="http://schemas.openxmlformats.org/drawingml/2006/main">
              <a:ext uri="{FF2B5EF4-FFF2-40B4-BE49-F238E27FC236}">
                <a16:creationId xmlns:a16="http://schemas.microsoft.com/office/drawing/2014/main" id="{4C8A1DE7-68E5-4E4E-B1D7-3520219EFFF3}"/>
              </a:ext>
            </a:extLst>
          </p:cNvPr>
          <p:cNvSpPr>
            <a:spLocks xmlns:a="http://schemas.openxmlformats.org/drawingml/2006/main" noGrp="1"/>
          </p:cNvSpPr>
          <p:nvPr/>
        </p:nvSpPr>
        <p:spPr>
          <a:xfrm xmlns:a="http://schemas.openxmlformats.org/drawingml/2006/main">
            <a:off x="6115050" y="3048000"/>
            <a:ext cx="38100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11" name="11-node-bg">
            <a:extLst xmlns:a="http://schemas.openxmlformats.org/drawingml/2006/main">
              <a:ext uri="{FF2B5EF4-FFF2-40B4-BE49-F238E27FC236}">
                <a16:creationId xmlns:a16="http://schemas.microsoft.com/office/drawing/2014/main" id="{B65B9557-3914-4059-BAA1-EC4365D4CC9C}"/>
              </a:ext>
            </a:extLst>
          </p:cNvPr>
          <p:cNvSpPr>
            <a:spLocks xmlns:a="http://schemas.openxmlformats.org/drawingml/2006/main" noGrp="1"/>
          </p:cNvSpPr>
          <p:nvPr/>
        </p:nvSpPr>
        <p:spPr>
          <a:xfrm xmlns:a="http://schemas.openxmlformats.org/drawingml/2006/main">
            <a:off x="4324350" y="2686050"/>
            <a:ext cx="1790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12" name="12-node-label">
            <a:extLst xmlns:a="http://schemas.openxmlformats.org/drawingml/2006/main">
              <a:ext uri="{FF2B5EF4-FFF2-40B4-BE49-F238E27FC236}">
                <a16:creationId xmlns:a16="http://schemas.microsoft.com/office/drawing/2014/main" id="{3C7CCD46-4A24-4FCE-A217-A050514DCCCE}"/>
              </a:ext>
            </a:extLst>
          </p:cNvPr>
          <p:cNvSpPr>
            <a:spLocks xmlns:a="http://schemas.openxmlformats.org/drawingml/2006/main" noGrp="1"/>
          </p:cNvSpPr>
          <p:nvPr/>
        </p:nvSpPr>
        <p:spPr>
          <a:xfrm xmlns:a="http://schemas.openxmlformats.org/drawingml/2006/main">
            <a:off x="4438650" y="2762250"/>
            <a:ext cx="156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SEARCH KEY</a:t>
            </a:r>
          </a:p>
        </p:txBody>
      </p:sp>
      <p:sp>
        <p:nvSpPr>
          <p:cNvPr id="13" name="13-arrow">
            <a:extLst xmlns:a="http://schemas.openxmlformats.org/drawingml/2006/main">
              <a:ext uri="{FF2B5EF4-FFF2-40B4-BE49-F238E27FC236}">
                <a16:creationId xmlns:a16="http://schemas.microsoft.com/office/drawing/2014/main" id="{CE5EB98E-6448-45AB-9C07-5B78767EEC9F}"/>
              </a:ext>
            </a:extLst>
          </p:cNvPr>
          <p:cNvSpPr>
            <a:spLocks xmlns:a="http://schemas.openxmlformats.org/drawingml/2006/main" noGrp="1"/>
          </p:cNvSpPr>
          <p:nvPr/>
        </p:nvSpPr>
        <p:spPr>
          <a:xfrm xmlns:a="http://schemas.openxmlformats.org/drawingml/2006/main">
            <a:off x="7981950" y="3048000"/>
            <a:ext cx="38100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14" name="14-node-bg">
            <a:extLst xmlns:a="http://schemas.openxmlformats.org/drawingml/2006/main">
              <a:ext uri="{FF2B5EF4-FFF2-40B4-BE49-F238E27FC236}">
                <a16:creationId xmlns:a16="http://schemas.microsoft.com/office/drawing/2014/main" id="{4B85BE74-7706-4743-BDAB-BAD1B2E8D40E}"/>
              </a:ext>
            </a:extLst>
          </p:cNvPr>
          <p:cNvSpPr>
            <a:spLocks xmlns:a="http://schemas.openxmlformats.org/drawingml/2006/main" noGrp="1"/>
          </p:cNvSpPr>
          <p:nvPr/>
        </p:nvSpPr>
        <p:spPr>
          <a:xfrm xmlns:a="http://schemas.openxmlformats.org/drawingml/2006/main">
            <a:off x="6191250" y="2686050"/>
            <a:ext cx="1790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15" name="15-node-label">
            <a:extLst xmlns:a="http://schemas.openxmlformats.org/drawingml/2006/main">
              <a:ext uri="{FF2B5EF4-FFF2-40B4-BE49-F238E27FC236}">
                <a16:creationId xmlns:a16="http://schemas.microsoft.com/office/drawing/2014/main" id="{1B1F3F3C-E8A0-4C5C-B736-E1E594AB0D35}"/>
              </a:ext>
            </a:extLst>
          </p:cNvPr>
          <p:cNvSpPr>
            <a:spLocks xmlns:a="http://schemas.openxmlformats.org/drawingml/2006/main" noGrp="1"/>
          </p:cNvSpPr>
          <p:nvPr/>
        </p:nvSpPr>
        <p:spPr>
          <a:xfrm xmlns:a="http://schemas.openxmlformats.org/drawingml/2006/main">
            <a:off x="6305550" y="2762250"/>
            <a:ext cx="156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1E3A35"/>
                </a:solidFill>
                <a:latin typeface="Geist Mono"/>
                <a:ea typeface="Geist Mono"/>
                <a:cs typeface="Geist Mono"/>
              </a:defRPr>
            </a:pPr>
            <a:r>
              <a:rPr sz="1200" b="1" i="0">
                <a:solidFill>
                  <a:srgbClr val="1E3A35"/>
                </a:solidFill>
                <a:latin typeface="Geist Mono"/>
                <a:ea typeface="Geist Mono"/>
                <a:cs typeface="Geist Mono"/>
              </a:rPr>
              <a:t>ROUTER</a:t>
            </a:r>
          </a:p>
        </p:txBody>
      </p:sp>
      <p:sp>
        <p:nvSpPr>
          <p:cNvPr id="16" name="16-arrow">
            <a:extLst xmlns:a="http://schemas.openxmlformats.org/drawingml/2006/main">
              <a:ext uri="{FF2B5EF4-FFF2-40B4-BE49-F238E27FC236}">
                <a16:creationId xmlns:a16="http://schemas.microsoft.com/office/drawing/2014/main" id="{ABE233A7-8EE1-405F-A34D-629A79DB4E00}"/>
              </a:ext>
            </a:extLst>
          </p:cNvPr>
          <p:cNvSpPr>
            <a:spLocks xmlns:a="http://schemas.openxmlformats.org/drawingml/2006/main" noGrp="1"/>
          </p:cNvSpPr>
          <p:nvPr/>
        </p:nvSpPr>
        <p:spPr>
          <a:xfrm xmlns:a="http://schemas.openxmlformats.org/drawingml/2006/main">
            <a:off x="9848850" y="3048000"/>
            <a:ext cx="381000" cy="13335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17" name="17-node-bg">
            <a:extLst xmlns:a="http://schemas.openxmlformats.org/drawingml/2006/main">
              <a:ext uri="{FF2B5EF4-FFF2-40B4-BE49-F238E27FC236}">
                <a16:creationId xmlns:a16="http://schemas.microsoft.com/office/drawing/2014/main" id="{B26B8134-FA84-4BFD-BA29-9198284F9308}"/>
              </a:ext>
            </a:extLst>
          </p:cNvPr>
          <p:cNvSpPr>
            <a:spLocks xmlns:a="http://schemas.openxmlformats.org/drawingml/2006/main" noGrp="1"/>
          </p:cNvSpPr>
          <p:nvPr/>
        </p:nvSpPr>
        <p:spPr>
          <a:xfrm xmlns:a="http://schemas.openxmlformats.org/drawingml/2006/main">
            <a:off x="8058150" y="2686050"/>
            <a:ext cx="1790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1E3A35"/>
            </a:solidFill>
            <a:prstDash val="solid"/>
          </a:ln>
        </p:spPr>
      </p:sp>
      <p:sp>
        <p:nvSpPr>
          <p:cNvPr id="18" name="18-node-label">
            <a:extLst xmlns:a="http://schemas.openxmlformats.org/drawingml/2006/main">
              <a:ext uri="{FF2B5EF4-FFF2-40B4-BE49-F238E27FC236}">
                <a16:creationId xmlns:a16="http://schemas.microsoft.com/office/drawing/2014/main" id="{4F754B61-D4A2-4F55-BA31-3A516554AC00}"/>
              </a:ext>
            </a:extLst>
          </p:cNvPr>
          <p:cNvSpPr>
            <a:spLocks xmlns:a="http://schemas.openxmlformats.org/drawingml/2006/main" noGrp="1"/>
          </p:cNvSpPr>
          <p:nvPr/>
        </p:nvSpPr>
        <p:spPr>
          <a:xfrm xmlns:a="http://schemas.openxmlformats.org/drawingml/2006/main">
            <a:off x="8172450" y="2762250"/>
            <a:ext cx="156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i="0">
                <a:solidFill>
                  <a:srgbClr val="1E3A35"/>
                </a:solidFill>
                <a:latin typeface="Geist Mono"/>
                <a:ea typeface="Geist Mono"/>
                <a:cs typeface="Geist Mono"/>
              </a:defRPr>
            </a:pPr>
            <a:r>
              <a:rPr sz="1050" b="1" i="0">
                <a:solidFill>
                  <a:srgbClr val="1E3A35"/>
                </a:solidFill>
                <a:latin typeface="Geist Mono"/>
                <a:ea typeface="Geist Mono"/>
                <a:cs typeface="Geist Mono"/>
              </a:rPr>
              <a:t>QUEUE / DRAFT</a:t>
            </a:r>
          </a:p>
        </p:txBody>
      </p:sp>
      <p:sp>
        <p:nvSpPr>
          <p:cNvPr id="19" name="19-node-bg">
            <a:extLst xmlns:a="http://schemas.openxmlformats.org/drawingml/2006/main">
              <a:ext uri="{FF2B5EF4-FFF2-40B4-BE49-F238E27FC236}">
                <a16:creationId xmlns:a16="http://schemas.microsoft.com/office/drawing/2014/main" id="{47258F4F-9E97-4BF1-A8C9-95C09D2E6EFE}"/>
              </a:ext>
            </a:extLst>
          </p:cNvPr>
          <p:cNvSpPr>
            <a:spLocks xmlns:a="http://schemas.openxmlformats.org/drawingml/2006/main" noGrp="1"/>
          </p:cNvSpPr>
          <p:nvPr/>
        </p:nvSpPr>
        <p:spPr>
          <a:xfrm xmlns:a="http://schemas.openxmlformats.org/drawingml/2006/main">
            <a:off x="9925050" y="2686050"/>
            <a:ext cx="1790700" cy="876300"/>
          </a:xfrm>
          <a:prstGeom xmlns:a="http://schemas.openxmlformats.org/drawingml/2006/main" prst="rect">
            <a:avLst/>
          </a:prstGeom>
          <a:solidFill xmlns:a="http://schemas.openxmlformats.org/drawingml/2006/main">
            <a:srgbClr val="FAEEE7"/>
          </a:solidFill>
          <a:ln xmlns:a="http://schemas.openxmlformats.org/drawingml/2006/main" w="14288">
            <a:solidFill>
              <a:srgbClr val="C4581A"/>
            </a:solidFill>
            <a:prstDash val="solid"/>
          </a:ln>
        </p:spPr>
      </p:sp>
      <p:sp>
        <p:nvSpPr>
          <p:cNvPr id="20" name="20-node-label">
            <a:extLst xmlns:a="http://schemas.openxmlformats.org/drawingml/2006/main">
              <a:ext uri="{FF2B5EF4-FFF2-40B4-BE49-F238E27FC236}">
                <a16:creationId xmlns:a16="http://schemas.microsoft.com/office/drawing/2014/main" id="{D93D025D-2A55-47C9-90D4-EF9E1FB42161}"/>
              </a:ext>
            </a:extLst>
          </p:cNvPr>
          <p:cNvSpPr>
            <a:spLocks xmlns:a="http://schemas.openxmlformats.org/drawingml/2006/main" noGrp="1"/>
          </p:cNvSpPr>
          <p:nvPr/>
        </p:nvSpPr>
        <p:spPr>
          <a:xfrm xmlns:a="http://schemas.openxmlformats.org/drawingml/2006/main">
            <a:off x="10039350" y="2762250"/>
            <a:ext cx="156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00" b="1" i="0">
                <a:solidFill>
                  <a:srgbClr val="C4581A"/>
                </a:solidFill>
                <a:latin typeface="Geist Mono"/>
                <a:ea typeface="Geist Mono"/>
                <a:cs typeface="Geist Mono"/>
              </a:defRPr>
            </a:pPr>
            <a:r>
              <a:rPr sz="1200" b="1" i="0">
                <a:solidFill>
                  <a:srgbClr val="C4581A"/>
                </a:solidFill>
                <a:latin typeface="Geist Mono"/>
                <a:ea typeface="Geist Mono"/>
                <a:cs typeface="Geist Mono"/>
              </a:rPr>
              <a:t>AUDIT</a:t>
            </a:r>
          </a:p>
        </p:txBody>
      </p:sp>
      <p:sp>
        <p:nvSpPr>
          <p:cNvPr id="21" name="21-spine-note">
            <a:extLst xmlns:a="http://schemas.openxmlformats.org/drawingml/2006/main">
              <a:ext uri="{FF2B5EF4-FFF2-40B4-BE49-F238E27FC236}">
                <a16:creationId xmlns:a16="http://schemas.microsoft.com/office/drawing/2014/main" id="{F146BCA2-4F6D-4D42-BEBF-D9926B710772}"/>
              </a:ext>
            </a:extLst>
          </p:cNvPr>
          <p:cNvSpPr>
            <a:spLocks xmlns:a="http://schemas.openxmlformats.org/drawingml/2006/main" noGrp="1"/>
          </p:cNvSpPr>
          <p:nvPr/>
        </p:nvSpPr>
        <p:spPr>
          <a:xfrm xmlns:a="http://schemas.openxmlformats.org/drawingml/2006/main">
            <a:off x="2095500" y="4400550"/>
            <a:ext cx="800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i="1">
                <a:solidFill>
                  <a:srgbClr val="1F1A14"/>
                </a:solidFill>
                <a:latin typeface="Fraunces 9pt"/>
                <a:ea typeface="Fraunces 9pt"/>
                <a:cs typeface="Fraunces 9pt"/>
              </a:defRPr>
            </a:pPr>
            <a:r>
              <a:rPr sz="2550" b="0" i="1">
                <a:solidFill>
                  <a:srgbClr val="1F1A14"/>
                </a:solidFill>
                <a:latin typeface="Fraunces 9pt"/>
                <a:ea typeface="Fraunces 9pt"/>
                <a:cs typeface="Fraunces 9pt"/>
              </a:rPr>
              <a:t>Classroom substitutes, not production architecture.</a:t>
            </a:r>
          </a:p>
        </p:txBody>
      </p:sp>
      <p:sp>
        <p:nvSpPr>
          <p:cNvPr id="22" name="22-footer-rule">
            <a:extLst xmlns:a="http://schemas.openxmlformats.org/drawingml/2006/main">
              <a:ext uri="{FF2B5EF4-FFF2-40B4-BE49-F238E27FC236}">
                <a16:creationId xmlns:a16="http://schemas.microsoft.com/office/drawing/2014/main" id="{998658BD-75B1-41CF-98C8-B51EFF8570C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3" name="23-footer-left">
            <a:extLst xmlns:a="http://schemas.openxmlformats.org/drawingml/2006/main">
              <a:ext uri="{FF2B5EF4-FFF2-40B4-BE49-F238E27FC236}">
                <a16:creationId xmlns:a16="http://schemas.microsoft.com/office/drawing/2014/main" id="{0B54A4A5-3233-4C6A-8518-DC74642D93E6}"/>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00:52-00:54</a:t>
            </a:r>
          </a:p>
        </p:txBody>
      </p:sp>
      <p:sp>
        <p:nvSpPr>
          <p:cNvPr id="24" name="24-footer-right">
            <a:extLst xmlns:a="http://schemas.openxmlformats.org/drawingml/2006/main">
              <a:ext uri="{FF2B5EF4-FFF2-40B4-BE49-F238E27FC236}">
                <a16:creationId xmlns:a16="http://schemas.microsoft.com/office/drawing/2014/main" id="{DFA2778F-CBCB-4E7C-AC36-8341F4C03CA1}"/>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15 / 27</a:t>
            </a:r>
          </a:p>
        </p:txBody>
      </p:sp>
    </p:spTree>
    <p:extLst>
      <p:ext uri="{BB962C8B-B14F-4D97-AF65-F5344CB8AC3E}">
        <p14:creationId xmlns:p14="http://schemas.microsoft.com/office/powerpoint/2010/main" val="982772069"/>
      </p:ext>
    </p:extLst>
  </p:cSld>
</p:sld>
</file>

<file path=ppt/slides/slide16.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0" name="01-kicker">
            <a:extLst xmlns:a="http://schemas.openxmlformats.org/drawingml/2006/main">
              <a:ext uri="{FF2B5EF4-FFF2-40B4-BE49-F238E27FC236}">
                <a16:creationId xmlns:a16="http://schemas.microsoft.com/office/drawing/2014/main" id="{24A583C6-4898-4CCE-B771-E0C141D75445}"/>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TRACE THE BUSINESS STATE</a:t>
            </a:r>
          </a:p>
        </p:txBody>
      </p:sp>
      <p:sp>
        <p:nvSpPr>
          <p:cNvPr id="2" name="02-title">
            <a:extLst xmlns:a="http://schemas.openxmlformats.org/drawingml/2006/main">
              <a:ext uri="{FF2B5EF4-FFF2-40B4-BE49-F238E27FC236}">
                <a16:creationId xmlns:a16="http://schemas.microsoft.com/office/drawing/2014/main" id="{F499EFDC-494A-4980-B050-7986BCFC489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F1A14"/>
                </a:solidFill>
                <a:latin typeface="Fraunces 9pt"/>
                <a:ea typeface="Fraunces 9pt"/>
                <a:cs typeface="Fraunces 9pt"/>
              </a:defRPr>
            </a:pPr>
            <a:r>
              <a:rPr sz="3600" b="1" i="0">
                <a:solidFill>
                  <a:srgbClr val="1F1A14"/>
                </a:solidFill>
                <a:latin typeface="Fraunces 9pt"/>
                <a:ea typeface="Fraunces 9pt"/>
                <a:cs typeface="Fraunces 9pt"/>
              </a:rPr>
              <a:t>Normal is the first test, not the last</a:t>
            </a:r>
          </a:p>
        </p:txBody>
      </p:sp>
      <p:sp>
        <p:nvSpPr>
          <p:cNvPr id="3" name="03-title-rule">
            <a:extLst xmlns:a="http://schemas.openxmlformats.org/drawingml/2006/main">
              <a:ext uri="{FF2B5EF4-FFF2-40B4-BE49-F238E27FC236}">
                <a16:creationId xmlns:a16="http://schemas.microsoft.com/office/drawing/2014/main" id="{DE04026B-D3D6-4AD8-933D-2DCF1FF48107}"/>
              </a:ext>
            </a:extLst>
          </p:cNvPr>
          <p:cNvSpPr>
            <a:spLocks xmlns:a="http://schemas.openxmlformats.org/drawingml/2006/main" noGrp="1"/>
          </p:cNvSpPr>
          <p:nvPr/>
        </p:nvSpPr>
        <p:spPr>
          <a:xfrm xmlns:a="http://schemas.openxmlformats.org/drawingml/2006/main">
            <a:off x="609600" y="18478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trace-card-bg">
            <a:extLst xmlns:a="http://schemas.openxmlformats.org/drawingml/2006/main">
              <a:ext uri="{FF2B5EF4-FFF2-40B4-BE49-F238E27FC236}">
                <a16:creationId xmlns:a16="http://schemas.microsoft.com/office/drawing/2014/main" id="{CAD131F5-03CE-42F8-AD17-90E975F14C13}"/>
              </a:ext>
            </a:extLst>
          </p:cNvPr>
          <p:cNvSpPr>
            <a:spLocks xmlns:a="http://schemas.openxmlformats.org/drawingml/2006/main" noGrp="1"/>
          </p:cNvSpPr>
          <p:nvPr/>
        </p:nvSpPr>
        <p:spPr>
          <a:xfrm xmlns:a="http://schemas.openxmlformats.org/drawingml/2006/main">
            <a:off x="1562100" y="2400300"/>
            <a:ext cx="9067800" cy="24003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5" name="05-trace-card">
            <a:extLst xmlns:a="http://schemas.openxmlformats.org/drawingml/2006/main">
              <a:ext uri="{FF2B5EF4-FFF2-40B4-BE49-F238E27FC236}">
                <a16:creationId xmlns:a16="http://schemas.microsoft.com/office/drawing/2014/main" id="{B7AE44A7-FD25-4329-A7D3-04B797073C27}"/>
              </a:ext>
            </a:extLst>
          </p:cNvPr>
          <p:cNvSpPr>
            <a:spLocks xmlns:a="http://schemas.openxmlformats.org/drawingml/2006/main" noGrp="1"/>
          </p:cNvSpPr>
          <p:nvPr/>
        </p:nvSpPr>
        <p:spPr>
          <a:xfrm xmlns:a="http://schemas.openxmlformats.org/drawingml/2006/main">
            <a:off x="2133600" y="2838450"/>
            <a:ext cx="79248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i="0">
                <a:solidFill>
                  <a:srgbClr val="F5F0E8"/>
                </a:solidFill>
                <a:latin typeface="Geist Mono"/>
                <a:ea typeface="Geist Mono"/>
                <a:cs typeface="Geist Mono"/>
              </a:defRPr>
            </a:pPr>
            <a:r>
              <a:rPr sz="2325" b="1" i="0">
                <a:solidFill>
                  <a:srgbClr val="F5F0E8"/>
                </a:solidFill>
                <a:latin typeface="Geist Mono"/>
                <a:ea typeface="Geist Mono"/>
                <a:cs typeface="Geist Mono"/>
              </a:rPr>
              <a:t>trace_id: trc_s5_normal_001</a:t>
            </a:r>
          </a:p>
          <a:p xmlns:a="http://schemas.openxmlformats.org/drawingml/2006/main">
            <a:pPr algn="l">
              <a:defRPr sz="2325" b="1" i="0">
                <a:solidFill>
                  <a:srgbClr val="F5F0E8"/>
                </a:solidFill>
                <a:latin typeface="Geist Mono"/>
                <a:ea typeface="Geist Mono"/>
                <a:cs typeface="Geist Mono"/>
              </a:defRPr>
            </a:pPr>
            <a:r>
              <a:rPr sz="2325" b="1" i="0">
                <a:solidFill>
                  <a:srgbClr val="F5F0E8"/>
                </a:solidFill>
                <a:latin typeface="Geist Mono"/>
                <a:ea typeface="Geist Mono"/>
                <a:cs typeface="Geist Mono"/>
              </a:rPr>
              <a:t>route: warm · final state: drafted</a:t>
            </a:r>
          </a:p>
          <a:p xmlns:a="http://schemas.openxmlformats.org/drawingml/2006/main">
            <a:pPr algn="l">
              <a:defRPr sz="2325" b="1" i="0">
                <a:solidFill>
                  <a:srgbClr val="F5F0E8"/>
                </a:solidFill>
                <a:latin typeface="Geist Mono"/>
                <a:ea typeface="Geist Mono"/>
                <a:cs typeface="Geist Mono"/>
              </a:defRPr>
            </a:pPr>
            <a:r>
              <a:rPr sz="2325" b="1" i="0">
                <a:solidFill>
                  <a:srgbClr val="F5F0E8"/>
                </a:solidFill>
                <a:latin typeface="Geist Mono"/>
                <a:ea typeface="Geist Mono"/>
                <a:cs typeface="Geist Mono"/>
              </a:rPr>
              <a:t>outbound sends: 0</a:t>
            </a:r>
          </a:p>
        </p:txBody>
      </p:sp>
      <p:sp>
        <p:nvSpPr>
          <p:cNvPr id="6" name="06-trace-note">
            <a:extLst xmlns:a="http://schemas.openxmlformats.org/drawingml/2006/main">
              <a:ext uri="{FF2B5EF4-FFF2-40B4-BE49-F238E27FC236}">
                <a16:creationId xmlns:a16="http://schemas.microsoft.com/office/drawing/2014/main" id="{372FBAFE-48D1-4234-B505-A31A9D816B35}"/>
              </a:ext>
            </a:extLst>
          </p:cNvPr>
          <p:cNvSpPr>
            <a:spLocks xmlns:a="http://schemas.openxmlformats.org/drawingml/2006/main" noGrp="1"/>
          </p:cNvSpPr>
          <p:nvPr/>
        </p:nvSpPr>
        <p:spPr>
          <a:xfrm xmlns:a="http://schemas.openxmlformats.org/drawingml/2006/main">
            <a:off x="1714500" y="52578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i="1">
                <a:solidFill>
                  <a:srgbClr val="5C5046"/>
                </a:solidFill>
                <a:latin typeface="Geist"/>
                <a:ea typeface="Geist"/>
                <a:cs typeface="Geist"/>
              </a:defRPr>
            </a:pPr>
            <a:r>
              <a:rPr sz="1800" b="0" i="1">
                <a:solidFill>
                  <a:srgbClr val="5C5046"/>
                </a:solidFill>
                <a:latin typeface="Geist"/>
                <a:ea typeface="Geist"/>
                <a:cs typeface="Geist"/>
              </a:rPr>
              <a:t>Show the audit row and draft / queue artifact - not green bubbles alone.</a:t>
            </a:r>
          </a:p>
        </p:txBody>
      </p:sp>
      <p:sp>
        <p:nvSpPr>
          <p:cNvPr id="7" name="07-footer-rule">
            <a:extLst xmlns:a="http://schemas.openxmlformats.org/drawingml/2006/main">
              <a:ext uri="{FF2B5EF4-FFF2-40B4-BE49-F238E27FC236}">
                <a16:creationId xmlns:a16="http://schemas.microsoft.com/office/drawing/2014/main" id="{B80F985C-E4C7-4424-8F18-9A20A8E53E83}"/>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8" name="08-footer-left">
            <a:extLst xmlns:a="http://schemas.openxmlformats.org/drawingml/2006/main">
              <a:ext uri="{FF2B5EF4-FFF2-40B4-BE49-F238E27FC236}">
                <a16:creationId xmlns:a16="http://schemas.microsoft.com/office/drawing/2014/main" id="{674C944F-9501-4CFF-8890-D41B41F91413}"/>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00:54-01:02</a:t>
            </a:r>
          </a:p>
        </p:txBody>
      </p:sp>
      <p:sp>
        <p:nvSpPr>
          <p:cNvPr id="9" name="09-footer-right">
            <a:extLst xmlns:a="http://schemas.openxmlformats.org/drawingml/2006/main">
              <a:ext uri="{FF2B5EF4-FFF2-40B4-BE49-F238E27FC236}">
                <a16:creationId xmlns:a16="http://schemas.microsoft.com/office/drawing/2014/main" id="{4B687517-AB6D-4954-AB44-288997F06C02}"/>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16 / 27</a:t>
            </a:r>
          </a:p>
        </p:txBody>
      </p:sp>
    </p:spTree>
    <p:extLst>
      <p:ext uri="{BB962C8B-B14F-4D97-AF65-F5344CB8AC3E}">
        <p14:creationId xmlns:p14="http://schemas.microsoft.com/office/powerpoint/2010/main" val="1765553729"/>
      </p:ext>
    </p:extLst>
  </p:cSld>
</p:sld>
</file>

<file path=ppt/slides/slide17.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17" name="01-kicker">
            <a:extLst xmlns:a="http://schemas.openxmlformats.org/drawingml/2006/main">
              <a:ext uri="{FF2B5EF4-FFF2-40B4-BE49-F238E27FC236}">
                <a16:creationId xmlns:a16="http://schemas.microsoft.com/office/drawing/2014/main" id="{7ABA2AB7-8FB4-4C67-BC6D-A21008ECF2BD}"/>
              </a:ext>
            </a:extLst>
          </p:cNvPr>
          <p:cNvSpPr>
            <a:spLocks xmlns:a="http://schemas.openxmlformats.org/drawingml/2006/main" noGrp="1"/>
          </p:cNvSpPr>
          <p:nvPr/>
        </p:nvSpPr>
        <p:spPr>
          <a:xfrm xmlns:a="http://schemas.openxmlformats.org/drawingml/2006/main">
            <a:off x="609600" y="49530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CHECKPOINT A · CONTRACT</a:t>
            </a:r>
          </a:p>
        </p:txBody>
      </p:sp>
      <p:sp>
        <p:nvSpPr>
          <p:cNvPr id="2" name="02-checkpoint-timer">
            <a:extLst xmlns:a="http://schemas.openxmlformats.org/drawingml/2006/main">
              <a:ext uri="{FF2B5EF4-FFF2-40B4-BE49-F238E27FC236}">
                <a16:creationId xmlns:a16="http://schemas.microsoft.com/office/drawing/2014/main" id="{89FA702C-623E-4E8B-B11D-568A24CFF980}"/>
              </a:ext>
            </a:extLst>
          </p:cNvPr>
          <p:cNvSpPr>
            <a:spLocks xmlns:a="http://schemas.openxmlformats.org/drawingml/2006/main" noGrp="1"/>
          </p:cNvSpPr>
          <p:nvPr/>
        </p:nvSpPr>
        <p:spPr>
          <a:xfrm xmlns:a="http://schemas.openxmlformats.org/drawingml/2006/main">
            <a:off x="609600" y="1733550"/>
            <a:ext cx="45720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850" b="1" i="0">
                <a:solidFill>
                  <a:srgbClr val="F5F0E8"/>
                </a:solidFill>
                <a:latin typeface="Geist Mono"/>
                <a:ea typeface="Geist Mono"/>
                <a:cs typeface="Geist Mono"/>
              </a:defRPr>
            </a:pPr>
            <a:r>
              <a:rPr sz="8850" b="1" i="0">
                <a:solidFill>
                  <a:srgbClr val="F5F0E8"/>
                </a:solidFill>
                <a:latin typeface="Geist Mono"/>
                <a:ea typeface="Geist Mono"/>
                <a:cs typeface="Geist Mono"/>
              </a:rPr>
              <a:t>08:00</a:t>
            </a:r>
          </a:p>
        </p:txBody>
      </p:sp>
      <p:sp>
        <p:nvSpPr>
          <p:cNvPr id="3" name="03-checkpoint-divider">
            <a:extLst xmlns:a="http://schemas.openxmlformats.org/drawingml/2006/main">
              <a:ext uri="{FF2B5EF4-FFF2-40B4-BE49-F238E27FC236}">
                <a16:creationId xmlns:a16="http://schemas.microsoft.com/office/drawing/2014/main" id="{5621E230-4396-4896-B6D7-88CB42271157}"/>
              </a:ext>
            </a:extLst>
          </p:cNvPr>
          <p:cNvSpPr>
            <a:spLocks xmlns:a="http://schemas.openxmlformats.org/drawingml/2006/main" noGrp="1"/>
          </p:cNvSpPr>
          <p:nvPr/>
        </p:nvSpPr>
        <p:spPr>
          <a:xfrm xmlns:a="http://schemas.openxmlformats.org/drawingml/2006/main">
            <a:off x="5486400" y="1371600"/>
            <a:ext cx="0" cy="0"/>
          </a:xfrm>
          <a:prstGeom xmlns:a="http://schemas.openxmlformats.org/drawingml/2006/main" prst="line">
            <a:avLst/>
          </a:prstGeom>
          <a:noFill xmlns:a="http://schemas.openxmlformats.org/drawingml/2006/main"/>
          <a:ln xmlns:a="http://schemas.openxmlformats.org/drawingml/2006/main" w="19050">
            <a:solidFill>
              <a:srgbClr val="46635D"/>
            </a:solidFill>
            <a:prstDash val="solid"/>
          </a:ln>
        </p:spPr>
      </p:sp>
      <p:sp>
        <p:nvSpPr>
          <p:cNvPr id="4" name="04-bullet-marker">
            <a:extLst xmlns:a="http://schemas.openxmlformats.org/drawingml/2006/main">
              <a:ext uri="{FF2B5EF4-FFF2-40B4-BE49-F238E27FC236}">
                <a16:creationId xmlns:a16="http://schemas.microsoft.com/office/drawing/2014/main" id="{D8345784-B3C1-40A7-A824-A631DBD9CCF7}"/>
              </a:ext>
            </a:extLst>
          </p:cNvPr>
          <p:cNvSpPr>
            <a:spLocks xmlns:a="http://schemas.openxmlformats.org/drawingml/2006/main" noGrp="1"/>
          </p:cNvSpPr>
          <p:nvPr/>
        </p:nvSpPr>
        <p:spPr>
          <a:xfrm xmlns:a="http://schemas.openxmlformats.org/drawingml/2006/main">
            <a:off x="5924550" y="15049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5" name="05-bullet-copy">
            <a:extLst xmlns:a="http://schemas.openxmlformats.org/drawingml/2006/main">
              <a:ext uri="{FF2B5EF4-FFF2-40B4-BE49-F238E27FC236}">
                <a16:creationId xmlns:a16="http://schemas.microsoft.com/office/drawing/2014/main" id="{FC5844FE-AF13-4184-A8A7-8848BE23AC65}"/>
              </a:ext>
            </a:extLst>
          </p:cNvPr>
          <p:cNvSpPr>
            <a:spLocks xmlns:a="http://schemas.openxmlformats.org/drawingml/2006/main" noGrp="1"/>
          </p:cNvSpPr>
          <p:nvPr/>
        </p:nvSpPr>
        <p:spPr>
          <a:xfrm xmlns:a="http://schemas.openxmlformats.org/drawingml/2006/main">
            <a:off x="6477000" y="15049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trigger accepts fixture</a:t>
            </a:r>
          </a:p>
        </p:txBody>
      </p:sp>
      <p:sp>
        <p:nvSpPr>
          <p:cNvPr id="6" name="06-bullet-marker">
            <a:extLst xmlns:a="http://schemas.openxmlformats.org/drawingml/2006/main">
              <a:ext uri="{FF2B5EF4-FFF2-40B4-BE49-F238E27FC236}">
                <a16:creationId xmlns:a16="http://schemas.microsoft.com/office/drawing/2014/main" id="{79019A5B-A292-4B92-B31D-027F49371B36}"/>
              </a:ext>
            </a:extLst>
          </p:cNvPr>
          <p:cNvSpPr>
            <a:spLocks xmlns:a="http://schemas.openxmlformats.org/drawingml/2006/main" noGrp="1"/>
          </p:cNvSpPr>
          <p:nvPr/>
        </p:nvSpPr>
        <p:spPr>
          <a:xfrm xmlns:a="http://schemas.openxmlformats.org/drawingml/2006/main">
            <a:off x="5924550" y="23050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7" name="07-bullet-copy">
            <a:extLst xmlns:a="http://schemas.openxmlformats.org/drawingml/2006/main">
              <a:ext uri="{FF2B5EF4-FFF2-40B4-BE49-F238E27FC236}">
                <a16:creationId xmlns:a16="http://schemas.microsoft.com/office/drawing/2014/main" id="{605CFC31-AC15-4F9B-BF3F-1710FD6A207C}"/>
              </a:ext>
            </a:extLst>
          </p:cNvPr>
          <p:cNvSpPr>
            <a:spLocks xmlns:a="http://schemas.openxmlformats.org/drawingml/2006/main" noGrp="1"/>
          </p:cNvSpPr>
          <p:nvPr/>
        </p:nvSpPr>
        <p:spPr>
          <a:xfrm xmlns:a="http://schemas.openxmlformats.org/drawingml/2006/main">
            <a:off x="6477000" y="23050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required fields mapped</a:t>
            </a:r>
          </a:p>
        </p:txBody>
      </p:sp>
      <p:sp>
        <p:nvSpPr>
          <p:cNvPr id="8" name="08-bullet-marker">
            <a:extLst xmlns:a="http://schemas.openxmlformats.org/drawingml/2006/main">
              <a:ext uri="{FF2B5EF4-FFF2-40B4-BE49-F238E27FC236}">
                <a16:creationId xmlns:a16="http://schemas.microsoft.com/office/drawing/2014/main" id="{1CE731E6-F2D2-4956-88C4-B2852BCD0052}"/>
              </a:ext>
            </a:extLst>
          </p:cNvPr>
          <p:cNvSpPr>
            <a:spLocks xmlns:a="http://schemas.openxmlformats.org/drawingml/2006/main" noGrp="1"/>
          </p:cNvSpPr>
          <p:nvPr/>
        </p:nvSpPr>
        <p:spPr>
          <a:xfrm xmlns:a="http://schemas.openxmlformats.org/drawingml/2006/main">
            <a:off x="5924550" y="31051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9" name="09-bullet-copy">
            <a:extLst xmlns:a="http://schemas.openxmlformats.org/drawingml/2006/main">
              <a:ext uri="{FF2B5EF4-FFF2-40B4-BE49-F238E27FC236}">
                <a16:creationId xmlns:a16="http://schemas.microsoft.com/office/drawing/2014/main" id="{53C7E46F-2731-40BB-9FF1-1A4D3717975B}"/>
              </a:ext>
            </a:extLst>
          </p:cNvPr>
          <p:cNvSpPr>
            <a:spLocks xmlns:a="http://schemas.openxmlformats.org/drawingml/2006/main" noGrp="1"/>
          </p:cNvSpPr>
          <p:nvPr/>
        </p:nvSpPr>
        <p:spPr>
          <a:xfrm xmlns:a="http://schemas.openxmlformats.org/drawingml/2006/main">
            <a:off x="6477000" y="31051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trace_id retained</a:t>
            </a:r>
          </a:p>
        </p:txBody>
      </p:sp>
      <p:sp>
        <p:nvSpPr>
          <p:cNvPr id="10" name="10-bullet-marker">
            <a:extLst xmlns:a="http://schemas.openxmlformats.org/drawingml/2006/main">
              <a:ext uri="{FF2B5EF4-FFF2-40B4-BE49-F238E27FC236}">
                <a16:creationId xmlns:a16="http://schemas.microsoft.com/office/drawing/2014/main" id="{637D0A49-C908-48ED-9CDB-E48BD84E4797}"/>
              </a:ext>
            </a:extLst>
          </p:cNvPr>
          <p:cNvSpPr>
            <a:spLocks xmlns:a="http://schemas.openxmlformats.org/drawingml/2006/main" noGrp="1"/>
          </p:cNvSpPr>
          <p:nvPr/>
        </p:nvSpPr>
        <p:spPr>
          <a:xfrm xmlns:a="http://schemas.openxmlformats.org/drawingml/2006/main">
            <a:off x="5924550" y="39052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11" name="11-bullet-copy">
            <a:extLst xmlns:a="http://schemas.openxmlformats.org/drawingml/2006/main">
              <a:ext uri="{FF2B5EF4-FFF2-40B4-BE49-F238E27FC236}">
                <a16:creationId xmlns:a16="http://schemas.microsoft.com/office/drawing/2014/main" id="{59C4109E-F4F6-4AD0-8726-E845A96F0C12}"/>
              </a:ext>
            </a:extLst>
          </p:cNvPr>
          <p:cNvSpPr>
            <a:spLocks xmlns:a="http://schemas.openxmlformats.org/drawingml/2006/main" noGrp="1"/>
          </p:cNvSpPr>
          <p:nvPr/>
        </p:nvSpPr>
        <p:spPr>
          <a:xfrm xmlns:a="http://schemas.openxmlformats.org/drawingml/2006/main">
            <a:off x="6477000" y="39052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scheduling off</a:t>
            </a:r>
          </a:p>
        </p:txBody>
      </p:sp>
      <p:sp>
        <p:nvSpPr>
          <p:cNvPr id="12" name="12-checkpoint-track">
            <a:extLst xmlns:a="http://schemas.openxmlformats.org/drawingml/2006/main">
              <a:ext uri="{FF2B5EF4-FFF2-40B4-BE49-F238E27FC236}">
                <a16:creationId xmlns:a16="http://schemas.microsoft.com/office/drawing/2014/main" id="{D6BEEB8F-DCCF-4E5D-98DB-64EECF2A302D}"/>
              </a:ext>
            </a:extLst>
          </p:cNvPr>
          <p:cNvSpPr>
            <a:spLocks xmlns:a="http://schemas.openxmlformats.org/drawingml/2006/main" noGrp="1"/>
          </p:cNvSpPr>
          <p:nvPr/>
        </p:nvSpPr>
        <p:spPr>
          <a:xfrm xmlns:a="http://schemas.openxmlformats.org/drawingml/2006/main">
            <a:off x="609600" y="4838700"/>
            <a:ext cx="10648950" cy="76200"/>
          </a:xfrm>
          <a:prstGeom xmlns:a="http://schemas.openxmlformats.org/drawingml/2006/main" prst="rect">
            <a:avLst/>
          </a:prstGeom>
          <a:solidFill xmlns:a="http://schemas.openxmlformats.org/drawingml/2006/main">
            <a:srgbClr val="F0D478"/>
          </a:solidFill>
          <a:ln xmlns:a="http://schemas.openxmlformats.org/drawingml/2006/main" w="0">
            <a:noFill/>
            <a:prstDash val="solid"/>
          </a:ln>
        </p:spPr>
      </p:sp>
      <p:sp>
        <p:nvSpPr>
          <p:cNvPr id="13" name="13-checkpoint-progress">
            <a:extLst xmlns:a="http://schemas.openxmlformats.org/drawingml/2006/main">
              <a:ext uri="{FF2B5EF4-FFF2-40B4-BE49-F238E27FC236}">
                <a16:creationId xmlns:a16="http://schemas.microsoft.com/office/drawing/2014/main" id="{DD0D69AA-9CB8-4A03-981D-43E02ADA430B}"/>
              </a:ext>
            </a:extLst>
          </p:cNvPr>
          <p:cNvSpPr>
            <a:spLocks xmlns:a="http://schemas.openxmlformats.org/drawingml/2006/main" noGrp="1"/>
          </p:cNvSpPr>
          <p:nvPr/>
        </p:nvSpPr>
        <p:spPr>
          <a:xfrm xmlns:a="http://schemas.openxmlformats.org/drawingml/2006/main">
            <a:off x="609600" y="4838700"/>
            <a:ext cx="2762250" cy="76200"/>
          </a:xfrm>
          <a:prstGeom xmlns:a="http://schemas.openxmlformats.org/drawingml/2006/main" prst="rect">
            <a:avLst/>
          </a:prstGeom>
          <a:solidFill xmlns:a="http://schemas.openxmlformats.org/drawingml/2006/main">
            <a:srgbClr val="C4581A"/>
          </a:solidFill>
          <a:ln xmlns:a="http://schemas.openxmlformats.org/drawingml/2006/main" w="0">
            <a:noFill/>
            <a:prstDash val="solid"/>
          </a:ln>
        </p:spPr>
      </p:sp>
      <p:sp>
        <p:nvSpPr>
          <p:cNvPr id="14" name="14-footer-rule">
            <a:extLst xmlns:a="http://schemas.openxmlformats.org/drawingml/2006/main">
              <a:ext uri="{FF2B5EF4-FFF2-40B4-BE49-F238E27FC236}">
                <a16:creationId xmlns:a16="http://schemas.microsoft.com/office/drawing/2014/main" id="{5B59D2D0-D6BA-4A2B-8CAA-93116AE1F827}"/>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15" name="15-footer-left">
            <a:extLst xmlns:a="http://schemas.openxmlformats.org/drawingml/2006/main">
              <a:ext uri="{FF2B5EF4-FFF2-40B4-BE49-F238E27FC236}">
                <a16:creationId xmlns:a16="http://schemas.microsoft.com/office/drawing/2014/main" id="{48050220-BCD5-4964-A255-1A329F001059}"/>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01:02-01:10</a:t>
            </a:r>
          </a:p>
        </p:txBody>
      </p:sp>
      <p:sp>
        <p:nvSpPr>
          <p:cNvPr id="16" name="16-footer-right">
            <a:extLst xmlns:a="http://schemas.openxmlformats.org/drawingml/2006/main">
              <a:ext uri="{FF2B5EF4-FFF2-40B4-BE49-F238E27FC236}">
                <a16:creationId xmlns:a16="http://schemas.microsoft.com/office/drawing/2014/main" id="{EC8CD9A1-5A98-4991-AA00-AF1AA0F8C4E5}"/>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17 / 27</a:t>
            </a:r>
          </a:p>
        </p:txBody>
      </p:sp>
    </p:spTree>
    <p:extLst>
      <p:ext uri="{BB962C8B-B14F-4D97-AF65-F5344CB8AC3E}">
        <p14:creationId xmlns:p14="http://schemas.microsoft.com/office/powerpoint/2010/main" val="1931863872"/>
      </p:ext>
    </p:extLst>
  </p:cSld>
</p:sld>
</file>

<file path=ppt/slides/slide18.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17" name="01-kicker">
            <a:extLst xmlns:a="http://schemas.openxmlformats.org/drawingml/2006/main">
              <a:ext uri="{FF2B5EF4-FFF2-40B4-BE49-F238E27FC236}">
                <a16:creationId xmlns:a16="http://schemas.microsoft.com/office/drawing/2014/main" id="{A70DB112-D547-46E2-962B-68E216EABE9C}"/>
              </a:ext>
            </a:extLst>
          </p:cNvPr>
          <p:cNvSpPr>
            <a:spLocks xmlns:a="http://schemas.openxmlformats.org/drawingml/2006/main" noGrp="1"/>
          </p:cNvSpPr>
          <p:nvPr/>
        </p:nvSpPr>
        <p:spPr>
          <a:xfrm xmlns:a="http://schemas.openxmlformats.org/drawingml/2006/main">
            <a:off x="609600" y="49530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CHECKPOINT B · CONTROL</a:t>
            </a:r>
          </a:p>
        </p:txBody>
      </p:sp>
      <p:sp>
        <p:nvSpPr>
          <p:cNvPr id="2" name="02-checkpoint-timer">
            <a:extLst xmlns:a="http://schemas.openxmlformats.org/drawingml/2006/main">
              <a:ext uri="{FF2B5EF4-FFF2-40B4-BE49-F238E27FC236}">
                <a16:creationId xmlns:a16="http://schemas.microsoft.com/office/drawing/2014/main" id="{D06A2ACF-20D6-46F9-83EE-940BB93FF436}"/>
              </a:ext>
            </a:extLst>
          </p:cNvPr>
          <p:cNvSpPr>
            <a:spLocks xmlns:a="http://schemas.openxmlformats.org/drawingml/2006/main" noGrp="1"/>
          </p:cNvSpPr>
          <p:nvPr/>
        </p:nvSpPr>
        <p:spPr>
          <a:xfrm xmlns:a="http://schemas.openxmlformats.org/drawingml/2006/main">
            <a:off x="609600" y="1733550"/>
            <a:ext cx="45720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850" b="1" i="0">
                <a:solidFill>
                  <a:srgbClr val="F5F0E8"/>
                </a:solidFill>
                <a:latin typeface="Geist Mono"/>
                <a:ea typeface="Geist Mono"/>
                <a:cs typeface="Geist Mono"/>
              </a:defRPr>
            </a:pPr>
            <a:r>
              <a:rPr sz="8850" b="1" i="0">
                <a:solidFill>
                  <a:srgbClr val="F5F0E8"/>
                </a:solidFill>
                <a:latin typeface="Geist Mono"/>
                <a:ea typeface="Geist Mono"/>
                <a:cs typeface="Geist Mono"/>
              </a:rPr>
              <a:t>08:00</a:t>
            </a:r>
          </a:p>
        </p:txBody>
      </p:sp>
      <p:sp>
        <p:nvSpPr>
          <p:cNvPr id="3" name="03-checkpoint-divider">
            <a:extLst xmlns:a="http://schemas.openxmlformats.org/drawingml/2006/main">
              <a:ext uri="{FF2B5EF4-FFF2-40B4-BE49-F238E27FC236}">
                <a16:creationId xmlns:a16="http://schemas.microsoft.com/office/drawing/2014/main" id="{CE8758DF-0DB3-4E5A-838F-61F407799D3F}"/>
              </a:ext>
            </a:extLst>
          </p:cNvPr>
          <p:cNvSpPr>
            <a:spLocks xmlns:a="http://schemas.openxmlformats.org/drawingml/2006/main" noGrp="1"/>
          </p:cNvSpPr>
          <p:nvPr/>
        </p:nvSpPr>
        <p:spPr>
          <a:xfrm xmlns:a="http://schemas.openxmlformats.org/drawingml/2006/main">
            <a:off x="5486400" y="1371600"/>
            <a:ext cx="0" cy="0"/>
          </a:xfrm>
          <a:prstGeom xmlns:a="http://schemas.openxmlformats.org/drawingml/2006/main" prst="line">
            <a:avLst/>
          </a:prstGeom>
          <a:noFill xmlns:a="http://schemas.openxmlformats.org/drawingml/2006/main"/>
          <a:ln xmlns:a="http://schemas.openxmlformats.org/drawingml/2006/main" w="19050">
            <a:solidFill>
              <a:srgbClr val="46635D"/>
            </a:solidFill>
            <a:prstDash val="solid"/>
          </a:ln>
        </p:spPr>
      </p:sp>
      <p:sp>
        <p:nvSpPr>
          <p:cNvPr id="4" name="04-bullet-marker">
            <a:extLst xmlns:a="http://schemas.openxmlformats.org/drawingml/2006/main">
              <a:ext uri="{FF2B5EF4-FFF2-40B4-BE49-F238E27FC236}">
                <a16:creationId xmlns:a16="http://schemas.microsoft.com/office/drawing/2014/main" id="{0B53219E-DE34-4067-BA04-1A3E1FBF73FE}"/>
              </a:ext>
            </a:extLst>
          </p:cNvPr>
          <p:cNvSpPr>
            <a:spLocks xmlns:a="http://schemas.openxmlformats.org/drawingml/2006/main" noGrp="1"/>
          </p:cNvSpPr>
          <p:nvPr/>
        </p:nvSpPr>
        <p:spPr>
          <a:xfrm xmlns:a="http://schemas.openxmlformats.org/drawingml/2006/main">
            <a:off x="5924550" y="15049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5" name="05-bullet-copy">
            <a:extLst xmlns:a="http://schemas.openxmlformats.org/drawingml/2006/main">
              <a:ext uri="{FF2B5EF4-FFF2-40B4-BE49-F238E27FC236}">
                <a16:creationId xmlns:a16="http://schemas.microsoft.com/office/drawing/2014/main" id="{A9AB709A-8269-4948-9C66-27F89BA45939}"/>
              </a:ext>
            </a:extLst>
          </p:cNvPr>
          <p:cNvSpPr>
            <a:spLocks xmlns:a="http://schemas.openxmlformats.org/drawingml/2006/main" noGrp="1"/>
          </p:cNvSpPr>
          <p:nvPr/>
        </p:nvSpPr>
        <p:spPr>
          <a:xfrm xmlns:a="http://schemas.openxmlformats.org/drawingml/2006/main">
            <a:off x="6477000" y="15049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idempotency key computed</a:t>
            </a:r>
          </a:p>
        </p:txBody>
      </p:sp>
      <p:sp>
        <p:nvSpPr>
          <p:cNvPr id="6" name="06-bullet-marker">
            <a:extLst xmlns:a="http://schemas.openxmlformats.org/drawingml/2006/main">
              <a:ext uri="{FF2B5EF4-FFF2-40B4-BE49-F238E27FC236}">
                <a16:creationId xmlns:a16="http://schemas.microsoft.com/office/drawing/2014/main" id="{F32A7EAC-63BC-4513-8080-BA29DE377D52}"/>
              </a:ext>
            </a:extLst>
          </p:cNvPr>
          <p:cNvSpPr>
            <a:spLocks xmlns:a="http://schemas.openxmlformats.org/drawingml/2006/main" noGrp="1"/>
          </p:cNvSpPr>
          <p:nvPr/>
        </p:nvSpPr>
        <p:spPr>
          <a:xfrm xmlns:a="http://schemas.openxmlformats.org/drawingml/2006/main">
            <a:off x="5924550" y="23050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7" name="07-bullet-copy">
            <a:extLst xmlns:a="http://schemas.openxmlformats.org/drawingml/2006/main">
              <a:ext uri="{FF2B5EF4-FFF2-40B4-BE49-F238E27FC236}">
                <a16:creationId xmlns:a16="http://schemas.microsoft.com/office/drawing/2014/main" id="{E07C3180-3AE3-401B-9262-A2DF7F52E762}"/>
              </a:ext>
            </a:extLst>
          </p:cNvPr>
          <p:cNvSpPr>
            <a:spLocks xmlns:a="http://schemas.openxmlformats.org/drawingml/2006/main" noGrp="1"/>
          </p:cNvSpPr>
          <p:nvPr/>
        </p:nvSpPr>
        <p:spPr>
          <a:xfrm xmlns:a="http://schemas.openxmlformats.org/drawingml/2006/main">
            <a:off x="6477000" y="23050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existing key searched before write/action</a:t>
            </a:r>
          </a:p>
        </p:txBody>
      </p:sp>
      <p:sp>
        <p:nvSpPr>
          <p:cNvPr id="8" name="08-bullet-marker">
            <a:extLst xmlns:a="http://schemas.openxmlformats.org/drawingml/2006/main">
              <a:ext uri="{FF2B5EF4-FFF2-40B4-BE49-F238E27FC236}">
                <a16:creationId xmlns:a16="http://schemas.microsoft.com/office/drawing/2014/main" id="{BA4CCB28-55F7-4EAC-B195-B596DFAABF6E}"/>
              </a:ext>
            </a:extLst>
          </p:cNvPr>
          <p:cNvSpPr>
            <a:spLocks xmlns:a="http://schemas.openxmlformats.org/drawingml/2006/main" noGrp="1"/>
          </p:cNvSpPr>
          <p:nvPr/>
        </p:nvSpPr>
        <p:spPr>
          <a:xfrm xmlns:a="http://schemas.openxmlformats.org/drawingml/2006/main">
            <a:off x="5924550" y="31051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9" name="09-bullet-copy">
            <a:extLst xmlns:a="http://schemas.openxmlformats.org/drawingml/2006/main">
              <a:ext uri="{FF2B5EF4-FFF2-40B4-BE49-F238E27FC236}">
                <a16:creationId xmlns:a16="http://schemas.microsoft.com/office/drawing/2014/main" id="{B833F811-0E5F-4409-9ECF-4B4399CCB5A3}"/>
              </a:ext>
            </a:extLst>
          </p:cNvPr>
          <p:cNvSpPr>
            <a:spLocks xmlns:a="http://schemas.openxmlformats.org/drawingml/2006/main" noGrp="1"/>
          </p:cNvSpPr>
          <p:nvPr/>
        </p:nvSpPr>
        <p:spPr>
          <a:xfrm xmlns:a="http://schemas.openxmlformats.org/drawingml/2006/main">
            <a:off x="6477000" y="31051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fallback route exists</a:t>
            </a:r>
          </a:p>
        </p:txBody>
      </p:sp>
      <p:sp>
        <p:nvSpPr>
          <p:cNvPr id="10" name="10-bullet-marker">
            <a:extLst xmlns:a="http://schemas.openxmlformats.org/drawingml/2006/main">
              <a:ext uri="{FF2B5EF4-FFF2-40B4-BE49-F238E27FC236}">
                <a16:creationId xmlns:a16="http://schemas.microsoft.com/office/drawing/2014/main" id="{AC1FE33B-31D4-4B4E-8468-154D1A8D127D}"/>
              </a:ext>
            </a:extLst>
          </p:cNvPr>
          <p:cNvSpPr>
            <a:spLocks xmlns:a="http://schemas.openxmlformats.org/drawingml/2006/main" noGrp="1"/>
          </p:cNvSpPr>
          <p:nvPr/>
        </p:nvSpPr>
        <p:spPr>
          <a:xfrm xmlns:a="http://schemas.openxmlformats.org/drawingml/2006/main">
            <a:off x="5924550" y="39052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11" name="11-bullet-copy">
            <a:extLst xmlns:a="http://schemas.openxmlformats.org/drawingml/2006/main">
              <a:ext uri="{FF2B5EF4-FFF2-40B4-BE49-F238E27FC236}">
                <a16:creationId xmlns:a16="http://schemas.microsoft.com/office/drawing/2014/main" id="{7A2B6DF7-CEB2-4482-8DF0-29AA0543E2FD}"/>
              </a:ext>
            </a:extLst>
          </p:cNvPr>
          <p:cNvSpPr>
            <a:spLocks xmlns:a="http://schemas.openxmlformats.org/drawingml/2006/main" noGrp="1"/>
          </p:cNvSpPr>
          <p:nvPr/>
        </p:nvSpPr>
        <p:spPr>
          <a:xfrm xmlns:a="http://schemas.openxmlformats.org/drawingml/2006/main">
            <a:off x="6477000" y="39052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owner named</a:t>
            </a:r>
          </a:p>
        </p:txBody>
      </p:sp>
      <p:sp>
        <p:nvSpPr>
          <p:cNvPr id="12" name="12-checkpoint-track">
            <a:extLst xmlns:a="http://schemas.openxmlformats.org/drawingml/2006/main">
              <a:ext uri="{FF2B5EF4-FFF2-40B4-BE49-F238E27FC236}">
                <a16:creationId xmlns:a16="http://schemas.microsoft.com/office/drawing/2014/main" id="{C5D339EA-28C7-4D48-9290-BD6DEA98D994}"/>
              </a:ext>
            </a:extLst>
          </p:cNvPr>
          <p:cNvSpPr>
            <a:spLocks xmlns:a="http://schemas.openxmlformats.org/drawingml/2006/main" noGrp="1"/>
          </p:cNvSpPr>
          <p:nvPr/>
        </p:nvSpPr>
        <p:spPr>
          <a:xfrm xmlns:a="http://schemas.openxmlformats.org/drawingml/2006/main">
            <a:off x="609600" y="4838700"/>
            <a:ext cx="10648950" cy="76200"/>
          </a:xfrm>
          <a:prstGeom xmlns:a="http://schemas.openxmlformats.org/drawingml/2006/main" prst="rect">
            <a:avLst/>
          </a:prstGeom>
          <a:solidFill xmlns:a="http://schemas.openxmlformats.org/drawingml/2006/main">
            <a:srgbClr val="F0D478"/>
          </a:solidFill>
          <a:ln xmlns:a="http://schemas.openxmlformats.org/drawingml/2006/main" w="0">
            <a:noFill/>
            <a:prstDash val="solid"/>
          </a:ln>
        </p:spPr>
      </p:sp>
      <p:sp>
        <p:nvSpPr>
          <p:cNvPr id="13" name="13-checkpoint-progress">
            <a:extLst xmlns:a="http://schemas.openxmlformats.org/drawingml/2006/main">
              <a:ext uri="{FF2B5EF4-FFF2-40B4-BE49-F238E27FC236}">
                <a16:creationId xmlns:a16="http://schemas.microsoft.com/office/drawing/2014/main" id="{16F14C1E-7797-4B3B-986A-23D99F6D0FE3}"/>
              </a:ext>
            </a:extLst>
          </p:cNvPr>
          <p:cNvSpPr>
            <a:spLocks xmlns:a="http://schemas.openxmlformats.org/drawingml/2006/main" noGrp="1"/>
          </p:cNvSpPr>
          <p:nvPr/>
        </p:nvSpPr>
        <p:spPr>
          <a:xfrm xmlns:a="http://schemas.openxmlformats.org/drawingml/2006/main">
            <a:off x="609600" y="4838700"/>
            <a:ext cx="2762250" cy="76200"/>
          </a:xfrm>
          <a:prstGeom xmlns:a="http://schemas.openxmlformats.org/drawingml/2006/main" prst="rect">
            <a:avLst/>
          </a:prstGeom>
          <a:solidFill xmlns:a="http://schemas.openxmlformats.org/drawingml/2006/main">
            <a:srgbClr val="C4581A"/>
          </a:solidFill>
          <a:ln xmlns:a="http://schemas.openxmlformats.org/drawingml/2006/main" w="0">
            <a:noFill/>
            <a:prstDash val="solid"/>
          </a:ln>
        </p:spPr>
      </p:sp>
      <p:sp>
        <p:nvSpPr>
          <p:cNvPr id="14" name="14-footer-rule">
            <a:extLst xmlns:a="http://schemas.openxmlformats.org/drawingml/2006/main">
              <a:ext uri="{FF2B5EF4-FFF2-40B4-BE49-F238E27FC236}">
                <a16:creationId xmlns:a16="http://schemas.microsoft.com/office/drawing/2014/main" id="{3B1BA99B-D433-41AD-9F38-9DFC7F468C8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15" name="15-footer-left">
            <a:extLst xmlns:a="http://schemas.openxmlformats.org/drawingml/2006/main">
              <a:ext uri="{FF2B5EF4-FFF2-40B4-BE49-F238E27FC236}">
                <a16:creationId xmlns:a16="http://schemas.microsoft.com/office/drawing/2014/main" id="{57196969-394B-43A5-9797-7432ECD8A68F}"/>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01:10-01:18</a:t>
            </a:r>
          </a:p>
        </p:txBody>
      </p:sp>
      <p:sp>
        <p:nvSpPr>
          <p:cNvPr id="16" name="16-footer-right">
            <a:extLst xmlns:a="http://schemas.openxmlformats.org/drawingml/2006/main">
              <a:ext uri="{FF2B5EF4-FFF2-40B4-BE49-F238E27FC236}">
                <a16:creationId xmlns:a16="http://schemas.microsoft.com/office/drawing/2014/main" id="{4DD7B8B4-293B-4B84-8B67-81ED956509AE}"/>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18 / 27</a:t>
            </a:r>
          </a:p>
        </p:txBody>
      </p:sp>
    </p:spTree>
    <p:extLst>
      <p:ext uri="{BB962C8B-B14F-4D97-AF65-F5344CB8AC3E}">
        <p14:creationId xmlns:p14="http://schemas.microsoft.com/office/powerpoint/2010/main" val="1856269288"/>
      </p:ext>
    </p:extLst>
  </p:cSld>
</p:sld>
</file>

<file path=ppt/slides/slide19.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17" name="01-kicker">
            <a:extLst xmlns:a="http://schemas.openxmlformats.org/drawingml/2006/main">
              <a:ext uri="{FF2B5EF4-FFF2-40B4-BE49-F238E27FC236}">
                <a16:creationId xmlns:a16="http://schemas.microsoft.com/office/drawing/2014/main" id="{CB1301D4-2763-4E4B-BCD0-525E396202A9}"/>
              </a:ext>
            </a:extLst>
          </p:cNvPr>
          <p:cNvSpPr>
            <a:spLocks xmlns:a="http://schemas.openxmlformats.org/drawingml/2006/main" noGrp="1"/>
          </p:cNvSpPr>
          <p:nvPr/>
        </p:nvSpPr>
        <p:spPr>
          <a:xfrm xmlns:a="http://schemas.openxmlformats.org/drawingml/2006/main">
            <a:off x="609600" y="49530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CHECKPOINT C · EVIDENCE</a:t>
            </a:r>
          </a:p>
        </p:txBody>
      </p:sp>
      <p:sp>
        <p:nvSpPr>
          <p:cNvPr id="2" name="02-checkpoint-timer">
            <a:extLst xmlns:a="http://schemas.openxmlformats.org/drawingml/2006/main">
              <a:ext uri="{FF2B5EF4-FFF2-40B4-BE49-F238E27FC236}">
                <a16:creationId xmlns:a16="http://schemas.microsoft.com/office/drawing/2014/main" id="{809ABE64-6D3E-4ED6-B03B-FD680053C9A7}"/>
              </a:ext>
            </a:extLst>
          </p:cNvPr>
          <p:cNvSpPr>
            <a:spLocks xmlns:a="http://schemas.openxmlformats.org/drawingml/2006/main" noGrp="1"/>
          </p:cNvSpPr>
          <p:nvPr/>
        </p:nvSpPr>
        <p:spPr>
          <a:xfrm xmlns:a="http://schemas.openxmlformats.org/drawingml/2006/main">
            <a:off x="609600" y="1733550"/>
            <a:ext cx="457200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850" b="1" i="0">
                <a:solidFill>
                  <a:srgbClr val="F5F0E8"/>
                </a:solidFill>
                <a:latin typeface="Geist Mono"/>
                <a:ea typeface="Geist Mono"/>
                <a:cs typeface="Geist Mono"/>
              </a:defRPr>
            </a:pPr>
            <a:r>
              <a:rPr sz="8850" b="1" i="0">
                <a:solidFill>
                  <a:srgbClr val="F5F0E8"/>
                </a:solidFill>
                <a:latin typeface="Geist Mono"/>
                <a:ea typeface="Geist Mono"/>
                <a:cs typeface="Geist Mono"/>
              </a:rPr>
              <a:t>09:00</a:t>
            </a:r>
          </a:p>
        </p:txBody>
      </p:sp>
      <p:sp>
        <p:nvSpPr>
          <p:cNvPr id="3" name="03-checkpoint-divider">
            <a:extLst xmlns:a="http://schemas.openxmlformats.org/drawingml/2006/main">
              <a:ext uri="{FF2B5EF4-FFF2-40B4-BE49-F238E27FC236}">
                <a16:creationId xmlns:a16="http://schemas.microsoft.com/office/drawing/2014/main" id="{B7900A40-5728-46CA-A565-134876200417}"/>
              </a:ext>
            </a:extLst>
          </p:cNvPr>
          <p:cNvSpPr>
            <a:spLocks xmlns:a="http://schemas.openxmlformats.org/drawingml/2006/main" noGrp="1"/>
          </p:cNvSpPr>
          <p:nvPr/>
        </p:nvSpPr>
        <p:spPr>
          <a:xfrm xmlns:a="http://schemas.openxmlformats.org/drawingml/2006/main">
            <a:off x="5486400" y="1371600"/>
            <a:ext cx="0" cy="0"/>
          </a:xfrm>
          <a:prstGeom xmlns:a="http://schemas.openxmlformats.org/drawingml/2006/main" prst="line">
            <a:avLst/>
          </a:prstGeom>
          <a:noFill xmlns:a="http://schemas.openxmlformats.org/drawingml/2006/main"/>
          <a:ln xmlns:a="http://schemas.openxmlformats.org/drawingml/2006/main" w="19050">
            <a:solidFill>
              <a:srgbClr val="46635D"/>
            </a:solidFill>
            <a:prstDash val="solid"/>
          </a:ln>
        </p:spPr>
      </p:sp>
      <p:sp>
        <p:nvSpPr>
          <p:cNvPr id="4" name="04-bullet-marker">
            <a:extLst xmlns:a="http://schemas.openxmlformats.org/drawingml/2006/main">
              <a:ext uri="{FF2B5EF4-FFF2-40B4-BE49-F238E27FC236}">
                <a16:creationId xmlns:a16="http://schemas.microsoft.com/office/drawing/2014/main" id="{5FA35AFD-A826-47F9-82B1-253B51499769}"/>
              </a:ext>
            </a:extLst>
          </p:cNvPr>
          <p:cNvSpPr>
            <a:spLocks xmlns:a="http://schemas.openxmlformats.org/drawingml/2006/main" noGrp="1"/>
          </p:cNvSpPr>
          <p:nvPr/>
        </p:nvSpPr>
        <p:spPr>
          <a:xfrm xmlns:a="http://schemas.openxmlformats.org/drawingml/2006/main">
            <a:off x="5924550" y="15049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5" name="05-bullet-copy">
            <a:extLst xmlns:a="http://schemas.openxmlformats.org/drawingml/2006/main">
              <a:ext uri="{FF2B5EF4-FFF2-40B4-BE49-F238E27FC236}">
                <a16:creationId xmlns:a16="http://schemas.microsoft.com/office/drawing/2014/main" id="{30876D8F-DC0E-4748-BAA8-77C188931F15}"/>
              </a:ext>
            </a:extLst>
          </p:cNvPr>
          <p:cNvSpPr>
            <a:spLocks xmlns:a="http://schemas.openxmlformats.org/drawingml/2006/main" noGrp="1"/>
          </p:cNvSpPr>
          <p:nvPr/>
        </p:nvSpPr>
        <p:spPr>
          <a:xfrm xmlns:a="http://schemas.openxmlformats.org/drawingml/2006/main">
            <a:off x="6477000" y="15049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normal case passes</a:t>
            </a:r>
          </a:p>
        </p:txBody>
      </p:sp>
      <p:sp>
        <p:nvSpPr>
          <p:cNvPr id="6" name="06-bullet-marker">
            <a:extLst xmlns:a="http://schemas.openxmlformats.org/drawingml/2006/main">
              <a:ext uri="{FF2B5EF4-FFF2-40B4-BE49-F238E27FC236}">
                <a16:creationId xmlns:a16="http://schemas.microsoft.com/office/drawing/2014/main" id="{E3443BE6-8938-4032-817C-CCEFDA423B26}"/>
              </a:ext>
            </a:extLst>
          </p:cNvPr>
          <p:cNvSpPr>
            <a:spLocks xmlns:a="http://schemas.openxmlformats.org/drawingml/2006/main" noGrp="1"/>
          </p:cNvSpPr>
          <p:nvPr/>
        </p:nvSpPr>
        <p:spPr>
          <a:xfrm xmlns:a="http://schemas.openxmlformats.org/drawingml/2006/main">
            <a:off x="5924550" y="23050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7" name="07-bullet-copy">
            <a:extLst xmlns:a="http://schemas.openxmlformats.org/drawingml/2006/main">
              <a:ext uri="{FF2B5EF4-FFF2-40B4-BE49-F238E27FC236}">
                <a16:creationId xmlns:a16="http://schemas.microsoft.com/office/drawing/2014/main" id="{54DBAA28-95AB-469C-8286-A6C5B3058B5F}"/>
              </a:ext>
            </a:extLst>
          </p:cNvPr>
          <p:cNvSpPr>
            <a:spLocks xmlns:a="http://schemas.openxmlformats.org/drawingml/2006/main" noGrp="1"/>
          </p:cNvSpPr>
          <p:nvPr/>
        </p:nvSpPr>
        <p:spPr>
          <a:xfrm xmlns:a="http://schemas.openxmlformats.org/drawingml/2006/main">
            <a:off x="6477000" y="23050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audit row/output created</a:t>
            </a:r>
          </a:p>
        </p:txBody>
      </p:sp>
      <p:sp>
        <p:nvSpPr>
          <p:cNvPr id="8" name="08-bullet-marker">
            <a:extLst xmlns:a="http://schemas.openxmlformats.org/drawingml/2006/main">
              <a:ext uri="{FF2B5EF4-FFF2-40B4-BE49-F238E27FC236}">
                <a16:creationId xmlns:a16="http://schemas.microsoft.com/office/drawing/2014/main" id="{F5C0AC09-B4E5-4217-AF4E-738D202BCC28}"/>
              </a:ext>
            </a:extLst>
          </p:cNvPr>
          <p:cNvSpPr>
            <a:spLocks xmlns:a="http://schemas.openxmlformats.org/drawingml/2006/main" noGrp="1"/>
          </p:cNvSpPr>
          <p:nvPr/>
        </p:nvSpPr>
        <p:spPr>
          <a:xfrm xmlns:a="http://schemas.openxmlformats.org/drawingml/2006/main">
            <a:off x="5924550" y="31051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9" name="09-bullet-copy">
            <a:extLst xmlns:a="http://schemas.openxmlformats.org/drawingml/2006/main">
              <a:ext uri="{FF2B5EF4-FFF2-40B4-BE49-F238E27FC236}">
                <a16:creationId xmlns:a16="http://schemas.microsoft.com/office/drawing/2014/main" id="{CC492082-6B71-485D-AD6F-86C51C1E6276}"/>
              </a:ext>
            </a:extLst>
          </p:cNvPr>
          <p:cNvSpPr>
            <a:spLocks xmlns:a="http://schemas.openxmlformats.org/drawingml/2006/main" noGrp="1"/>
          </p:cNvSpPr>
          <p:nvPr/>
        </p:nvSpPr>
        <p:spPr>
          <a:xfrm xmlns:a="http://schemas.openxmlformats.org/drawingml/2006/main">
            <a:off x="6477000" y="31051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run trace visible</a:t>
            </a:r>
          </a:p>
        </p:txBody>
      </p:sp>
      <p:sp>
        <p:nvSpPr>
          <p:cNvPr id="10" name="10-bullet-marker">
            <a:extLst xmlns:a="http://schemas.openxmlformats.org/drawingml/2006/main">
              <a:ext uri="{FF2B5EF4-FFF2-40B4-BE49-F238E27FC236}">
                <a16:creationId xmlns:a16="http://schemas.microsoft.com/office/drawing/2014/main" id="{84CE4BBB-1826-4B9C-BA4C-BBA5B5BC9E08}"/>
              </a:ext>
            </a:extLst>
          </p:cNvPr>
          <p:cNvSpPr>
            <a:spLocks xmlns:a="http://schemas.openxmlformats.org/drawingml/2006/main" noGrp="1"/>
          </p:cNvSpPr>
          <p:nvPr/>
        </p:nvSpPr>
        <p:spPr>
          <a:xfrm xmlns:a="http://schemas.openxmlformats.org/drawingml/2006/main">
            <a:off x="5924550" y="3905250"/>
            <a:ext cx="457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i="0">
                <a:solidFill>
                  <a:srgbClr val="F0D478"/>
                </a:solidFill>
                <a:latin typeface="Geist"/>
                <a:ea typeface="Geist"/>
                <a:cs typeface="Geist"/>
              </a:defRPr>
            </a:pPr>
            <a:r>
              <a:rPr sz="1950" b="1" i="0">
                <a:solidFill>
                  <a:srgbClr val="F0D478"/>
                </a:solidFill>
                <a:latin typeface="Geist"/>
                <a:ea typeface="Geist"/>
                <a:cs typeface="Geist"/>
              </a:rPr>
              <a:t>✓</a:t>
            </a:r>
          </a:p>
        </p:txBody>
      </p:sp>
      <p:sp>
        <p:nvSpPr>
          <p:cNvPr id="11" name="11-bullet-copy">
            <a:extLst xmlns:a="http://schemas.openxmlformats.org/drawingml/2006/main">
              <a:ext uri="{FF2B5EF4-FFF2-40B4-BE49-F238E27FC236}">
                <a16:creationId xmlns:a16="http://schemas.microsoft.com/office/drawing/2014/main" id="{55A32991-A62D-471E-B8CF-5CE29FA76B85}"/>
              </a:ext>
            </a:extLst>
          </p:cNvPr>
          <p:cNvSpPr>
            <a:spLocks xmlns:a="http://schemas.openxmlformats.org/drawingml/2006/main" noGrp="1"/>
          </p:cNvSpPr>
          <p:nvPr/>
        </p:nvSpPr>
        <p:spPr>
          <a:xfrm xmlns:a="http://schemas.openxmlformats.org/drawingml/2006/main">
            <a:off x="6477000" y="3905250"/>
            <a:ext cx="4781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i="0">
                <a:solidFill>
                  <a:srgbClr val="F5F0E8"/>
                </a:solidFill>
                <a:latin typeface="Geist"/>
                <a:ea typeface="Geist"/>
                <a:cs typeface="Geist"/>
              </a:defRPr>
            </a:pPr>
            <a:r>
              <a:rPr sz="1800" b="0" i="0">
                <a:solidFill>
                  <a:srgbClr val="F5F0E8"/>
                </a:solidFill>
                <a:latin typeface="Geist"/>
                <a:ea typeface="Geist"/>
                <a:cs typeface="Geist"/>
              </a:rPr>
              <a:t>screenshot not yet taken</a:t>
            </a:r>
          </a:p>
        </p:txBody>
      </p:sp>
      <p:sp>
        <p:nvSpPr>
          <p:cNvPr id="12" name="12-checkpoint-track">
            <a:extLst xmlns:a="http://schemas.openxmlformats.org/drawingml/2006/main">
              <a:ext uri="{FF2B5EF4-FFF2-40B4-BE49-F238E27FC236}">
                <a16:creationId xmlns:a16="http://schemas.microsoft.com/office/drawing/2014/main" id="{6156740E-9C0E-4BFE-AB78-F604ABC496B8}"/>
              </a:ext>
            </a:extLst>
          </p:cNvPr>
          <p:cNvSpPr>
            <a:spLocks xmlns:a="http://schemas.openxmlformats.org/drawingml/2006/main" noGrp="1"/>
          </p:cNvSpPr>
          <p:nvPr/>
        </p:nvSpPr>
        <p:spPr>
          <a:xfrm xmlns:a="http://schemas.openxmlformats.org/drawingml/2006/main">
            <a:off x="609600" y="4838700"/>
            <a:ext cx="10648950" cy="76200"/>
          </a:xfrm>
          <a:prstGeom xmlns:a="http://schemas.openxmlformats.org/drawingml/2006/main" prst="rect">
            <a:avLst/>
          </a:prstGeom>
          <a:solidFill xmlns:a="http://schemas.openxmlformats.org/drawingml/2006/main">
            <a:srgbClr val="F0D478"/>
          </a:solidFill>
          <a:ln xmlns:a="http://schemas.openxmlformats.org/drawingml/2006/main" w="0">
            <a:noFill/>
            <a:prstDash val="solid"/>
          </a:ln>
        </p:spPr>
      </p:sp>
      <p:sp>
        <p:nvSpPr>
          <p:cNvPr id="13" name="13-checkpoint-progress">
            <a:extLst xmlns:a="http://schemas.openxmlformats.org/drawingml/2006/main">
              <a:ext uri="{FF2B5EF4-FFF2-40B4-BE49-F238E27FC236}">
                <a16:creationId xmlns:a16="http://schemas.microsoft.com/office/drawing/2014/main" id="{11FC20DD-D5E9-409D-A2CC-AFB2E80136E5}"/>
              </a:ext>
            </a:extLst>
          </p:cNvPr>
          <p:cNvSpPr>
            <a:spLocks xmlns:a="http://schemas.openxmlformats.org/drawingml/2006/main" noGrp="1"/>
          </p:cNvSpPr>
          <p:nvPr/>
        </p:nvSpPr>
        <p:spPr>
          <a:xfrm xmlns:a="http://schemas.openxmlformats.org/drawingml/2006/main">
            <a:off x="609600" y="4838700"/>
            <a:ext cx="2762250" cy="76200"/>
          </a:xfrm>
          <a:prstGeom xmlns:a="http://schemas.openxmlformats.org/drawingml/2006/main" prst="rect">
            <a:avLst/>
          </a:prstGeom>
          <a:solidFill xmlns:a="http://schemas.openxmlformats.org/drawingml/2006/main">
            <a:srgbClr val="C4581A"/>
          </a:solidFill>
          <a:ln xmlns:a="http://schemas.openxmlformats.org/drawingml/2006/main" w="0">
            <a:noFill/>
            <a:prstDash val="solid"/>
          </a:ln>
        </p:spPr>
      </p:sp>
      <p:sp>
        <p:nvSpPr>
          <p:cNvPr id="14" name="14-footer-rule">
            <a:extLst xmlns:a="http://schemas.openxmlformats.org/drawingml/2006/main">
              <a:ext uri="{FF2B5EF4-FFF2-40B4-BE49-F238E27FC236}">
                <a16:creationId xmlns:a16="http://schemas.microsoft.com/office/drawing/2014/main" id="{75F49B3D-08A8-452A-A220-D0A85AF2EC3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15" name="15-footer-left">
            <a:extLst xmlns:a="http://schemas.openxmlformats.org/drawingml/2006/main">
              <a:ext uri="{FF2B5EF4-FFF2-40B4-BE49-F238E27FC236}">
                <a16:creationId xmlns:a16="http://schemas.microsoft.com/office/drawing/2014/main" id="{5AE96B42-9007-429B-9790-6102BB62D56C}"/>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01:18-01:27</a:t>
            </a:r>
          </a:p>
        </p:txBody>
      </p:sp>
      <p:sp>
        <p:nvSpPr>
          <p:cNvPr id="16" name="16-footer-right">
            <a:extLst xmlns:a="http://schemas.openxmlformats.org/drawingml/2006/main">
              <a:ext uri="{FF2B5EF4-FFF2-40B4-BE49-F238E27FC236}">
                <a16:creationId xmlns:a16="http://schemas.microsoft.com/office/drawing/2014/main" id="{068CD9A0-E289-492D-861F-9C95A1722E11}"/>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19 / 27</a:t>
            </a:r>
          </a:p>
        </p:txBody>
      </p:sp>
    </p:spTree>
    <p:extLst>
      <p:ext uri="{BB962C8B-B14F-4D97-AF65-F5344CB8AC3E}">
        <p14:creationId xmlns:p14="http://schemas.microsoft.com/office/powerpoint/2010/main" val="1389114781"/>
      </p:ext>
    </p:extLst>
  </p:cSld>
</p:sld>
</file>

<file path=ppt/slides/slide20.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7" name="01-kicker">
            <a:extLst xmlns:a="http://schemas.openxmlformats.org/drawingml/2006/main">
              <a:ext uri="{FF2B5EF4-FFF2-40B4-BE49-F238E27FC236}">
                <a16:creationId xmlns:a16="http://schemas.microsoft.com/office/drawing/2014/main" id="{18DDE480-8398-4D85-8833-D20631AA0DF6}"/>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PREDICT · RUN · OBSERVE · REPAIR ONCE</a:t>
            </a:r>
          </a:p>
        </p:txBody>
      </p:sp>
      <p:sp>
        <p:nvSpPr>
          <p:cNvPr id="2" name="02-title">
            <a:extLst xmlns:a="http://schemas.openxmlformats.org/drawingml/2006/main">
              <a:ext uri="{FF2B5EF4-FFF2-40B4-BE49-F238E27FC236}">
                <a16:creationId xmlns:a16="http://schemas.microsoft.com/office/drawing/2014/main" id="{02D78907-1361-46AC-9683-FCC2705D5F72}"/>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The gauntlet</a:t>
            </a:r>
          </a:p>
        </p:txBody>
      </p:sp>
      <p:sp>
        <p:nvSpPr>
          <p:cNvPr id="3" name="03-title-rule">
            <a:extLst xmlns:a="http://schemas.openxmlformats.org/drawingml/2006/main">
              <a:ext uri="{FF2B5EF4-FFF2-40B4-BE49-F238E27FC236}">
                <a16:creationId xmlns:a16="http://schemas.microsoft.com/office/drawing/2014/main" id="{607A889D-DAB8-4456-8643-CFA8EFDD6C75}"/>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gauntlet-sequence">
            <a:extLst xmlns:a="http://schemas.openxmlformats.org/drawingml/2006/main">
              <a:ext uri="{FF2B5EF4-FFF2-40B4-BE49-F238E27FC236}">
                <a16:creationId xmlns:a16="http://schemas.microsoft.com/office/drawing/2014/main" id="{686B7352-470B-42B4-8D50-4ACED1D22384}"/>
              </a:ext>
            </a:extLst>
          </p:cNvPr>
          <p:cNvSpPr>
            <a:spLocks xmlns:a="http://schemas.openxmlformats.org/drawingml/2006/main" noGrp="1"/>
          </p:cNvSpPr>
          <p:nvPr/>
        </p:nvSpPr>
        <p:spPr>
          <a:xfrm xmlns:a="http://schemas.openxmlformats.org/drawingml/2006/main">
            <a:off x="1333500" y="2095500"/>
            <a:ext cx="9525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225" b="1" i="0">
                <a:solidFill>
                  <a:srgbClr val="1F1A14"/>
                </a:solidFill>
                <a:latin typeface="Fraunces 9pt"/>
                <a:ea typeface="Fraunces 9pt"/>
                <a:cs typeface="Fraunces 9pt"/>
              </a:defRPr>
            </a:pPr>
            <a:r>
              <a:rPr sz="3225" b="1" i="0">
                <a:solidFill>
                  <a:srgbClr val="1F1A14"/>
                </a:solidFill>
                <a:latin typeface="Fraunces 9pt"/>
                <a:ea typeface="Fraunces 9pt"/>
                <a:cs typeface="Fraunces 9pt"/>
              </a:rPr>
              <a:t>Predict → Run → Observe → Repair once</a:t>
            </a:r>
          </a:p>
        </p:txBody>
      </p:sp>
      <p:sp>
        <p:nvSpPr>
          <p:cNvPr id="5" name="05-fixture-rule">
            <a:extLst xmlns:a="http://schemas.openxmlformats.org/drawingml/2006/main">
              <a:ext uri="{FF2B5EF4-FFF2-40B4-BE49-F238E27FC236}">
                <a16:creationId xmlns:a16="http://schemas.microsoft.com/office/drawing/2014/main" id="{5E8487F0-8B03-4BAC-95F6-0B69CE07A61B}"/>
              </a:ext>
            </a:extLst>
          </p:cNvPr>
          <p:cNvSpPr>
            <a:spLocks xmlns:a="http://schemas.openxmlformats.org/drawingml/2006/main" noGrp="1"/>
          </p:cNvSpPr>
          <p:nvPr/>
        </p:nvSpPr>
        <p:spPr>
          <a:xfrm xmlns:a="http://schemas.openxmlformats.org/drawingml/2006/main">
            <a:off x="762000" y="3429000"/>
            <a:ext cx="24765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6" name="06-fixture-label">
            <a:extLst xmlns:a="http://schemas.openxmlformats.org/drawingml/2006/main">
              <a:ext uri="{FF2B5EF4-FFF2-40B4-BE49-F238E27FC236}">
                <a16:creationId xmlns:a16="http://schemas.microsoft.com/office/drawing/2014/main" id="{ECCE4D19-7801-4B21-9A23-BC6902440BB7}"/>
              </a:ext>
            </a:extLst>
          </p:cNvPr>
          <p:cNvSpPr>
            <a:spLocks xmlns:a="http://schemas.openxmlformats.org/drawingml/2006/main" noGrp="1"/>
          </p:cNvSpPr>
          <p:nvPr/>
        </p:nvSpPr>
        <p:spPr>
          <a:xfrm xmlns:a="http://schemas.openxmlformats.org/drawingml/2006/main">
            <a:off x="762000" y="365760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i="0">
                <a:solidFill>
                  <a:srgbClr val="1E3A35"/>
                </a:solidFill>
                <a:latin typeface="Geist Mono"/>
                <a:ea typeface="Geist Mono"/>
                <a:cs typeface="Geist Mono"/>
              </a:defRPr>
            </a:pPr>
            <a:r>
              <a:rPr sz="1425" b="1" i="0">
                <a:solidFill>
                  <a:srgbClr val="1E3A35"/>
                </a:solidFill>
                <a:latin typeface="Geist Mono"/>
                <a:ea typeface="Geist Mono"/>
                <a:cs typeface="Geist Mono"/>
              </a:rPr>
              <a:t>DUPLICATE</a:t>
            </a:r>
          </a:p>
        </p:txBody>
      </p:sp>
      <p:sp>
        <p:nvSpPr>
          <p:cNvPr id="7" name="07-fixture-rule">
            <a:extLst xmlns:a="http://schemas.openxmlformats.org/drawingml/2006/main">
              <a:ext uri="{FF2B5EF4-FFF2-40B4-BE49-F238E27FC236}">
                <a16:creationId xmlns:a16="http://schemas.microsoft.com/office/drawing/2014/main" id="{C292753C-0E5B-434A-985C-A48F0EC87182}"/>
              </a:ext>
            </a:extLst>
          </p:cNvPr>
          <p:cNvSpPr>
            <a:spLocks xmlns:a="http://schemas.openxmlformats.org/drawingml/2006/main" noGrp="1"/>
          </p:cNvSpPr>
          <p:nvPr/>
        </p:nvSpPr>
        <p:spPr>
          <a:xfrm xmlns:a="http://schemas.openxmlformats.org/drawingml/2006/main">
            <a:off x="3619500" y="3429000"/>
            <a:ext cx="24765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8" name="08-fixture-label">
            <a:extLst xmlns:a="http://schemas.openxmlformats.org/drawingml/2006/main">
              <a:ext uri="{FF2B5EF4-FFF2-40B4-BE49-F238E27FC236}">
                <a16:creationId xmlns:a16="http://schemas.microsoft.com/office/drawing/2014/main" id="{0D890FEF-77D2-4ECB-9F4F-FC3BEF560A7D}"/>
              </a:ext>
            </a:extLst>
          </p:cNvPr>
          <p:cNvSpPr>
            <a:spLocks xmlns:a="http://schemas.openxmlformats.org/drawingml/2006/main" noGrp="1"/>
          </p:cNvSpPr>
          <p:nvPr/>
        </p:nvSpPr>
        <p:spPr>
          <a:xfrm xmlns:a="http://schemas.openxmlformats.org/drawingml/2006/main">
            <a:off x="3619500" y="365760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i="0">
                <a:solidFill>
                  <a:srgbClr val="1E3A35"/>
                </a:solidFill>
                <a:latin typeface="Geist Mono"/>
                <a:ea typeface="Geist Mono"/>
                <a:cs typeface="Geist Mono"/>
              </a:defRPr>
            </a:pPr>
            <a:r>
              <a:rPr sz="1425" b="1" i="0">
                <a:solidFill>
                  <a:srgbClr val="1E3A35"/>
                </a:solidFill>
                <a:latin typeface="Geist Mono"/>
                <a:ea typeface="Geist Mono"/>
                <a:cs typeface="Geist Mono"/>
              </a:rPr>
              <a:t>MALFORMED</a:t>
            </a:r>
          </a:p>
        </p:txBody>
      </p:sp>
      <p:sp>
        <p:nvSpPr>
          <p:cNvPr id="9" name="09-fixture-rule">
            <a:extLst xmlns:a="http://schemas.openxmlformats.org/drawingml/2006/main">
              <a:ext uri="{FF2B5EF4-FFF2-40B4-BE49-F238E27FC236}">
                <a16:creationId xmlns:a16="http://schemas.microsoft.com/office/drawing/2014/main" id="{A7493DBA-8695-4545-93CC-D2F1CF6D0670}"/>
              </a:ext>
            </a:extLst>
          </p:cNvPr>
          <p:cNvSpPr>
            <a:spLocks xmlns:a="http://schemas.openxmlformats.org/drawingml/2006/main" noGrp="1"/>
          </p:cNvSpPr>
          <p:nvPr/>
        </p:nvSpPr>
        <p:spPr>
          <a:xfrm xmlns:a="http://schemas.openxmlformats.org/drawingml/2006/main">
            <a:off x="6477000" y="3429000"/>
            <a:ext cx="2476500" cy="0"/>
          </a:xfrm>
          <a:prstGeom xmlns:a="http://schemas.openxmlformats.org/drawingml/2006/main" prst="line">
            <a:avLst/>
          </a:prstGeom>
          <a:noFill xmlns:a="http://schemas.openxmlformats.org/drawingml/2006/main"/>
          <a:ln xmlns:a="http://schemas.openxmlformats.org/drawingml/2006/main" w="38100">
            <a:solidFill>
              <a:srgbClr val="1E3A35"/>
            </a:solidFill>
            <a:prstDash val="solid"/>
          </a:ln>
        </p:spPr>
      </p:sp>
      <p:sp>
        <p:nvSpPr>
          <p:cNvPr id="10" name="10-fixture-label">
            <a:extLst xmlns:a="http://schemas.openxmlformats.org/drawingml/2006/main">
              <a:ext uri="{FF2B5EF4-FFF2-40B4-BE49-F238E27FC236}">
                <a16:creationId xmlns:a16="http://schemas.microsoft.com/office/drawing/2014/main" id="{BE47296B-01F8-4C6B-A1C4-CD5B3FD48273}"/>
              </a:ext>
            </a:extLst>
          </p:cNvPr>
          <p:cNvSpPr>
            <a:spLocks xmlns:a="http://schemas.openxmlformats.org/drawingml/2006/main" noGrp="1"/>
          </p:cNvSpPr>
          <p:nvPr/>
        </p:nvSpPr>
        <p:spPr>
          <a:xfrm xmlns:a="http://schemas.openxmlformats.org/drawingml/2006/main">
            <a:off x="6477000" y="365760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i="0">
                <a:solidFill>
                  <a:srgbClr val="1E3A35"/>
                </a:solidFill>
                <a:latin typeface="Geist Mono"/>
                <a:ea typeface="Geist Mono"/>
                <a:cs typeface="Geist Mono"/>
              </a:defRPr>
            </a:pPr>
            <a:r>
              <a:rPr sz="1425" b="1" i="0">
                <a:solidFill>
                  <a:srgbClr val="1E3A35"/>
                </a:solidFill>
                <a:latin typeface="Geist Mono"/>
                <a:ea typeface="Geist Mono"/>
                <a:cs typeface="Geist Mono"/>
              </a:rPr>
              <a:t>TIMEOUT</a:t>
            </a:r>
          </a:p>
        </p:txBody>
      </p:sp>
      <p:sp>
        <p:nvSpPr>
          <p:cNvPr id="11" name="11-fixture-rule">
            <a:extLst xmlns:a="http://schemas.openxmlformats.org/drawingml/2006/main">
              <a:ext uri="{FF2B5EF4-FFF2-40B4-BE49-F238E27FC236}">
                <a16:creationId xmlns:a16="http://schemas.microsoft.com/office/drawing/2014/main" id="{D4D9A364-804A-42E8-A86D-61173A82C213}"/>
              </a:ext>
            </a:extLst>
          </p:cNvPr>
          <p:cNvSpPr>
            <a:spLocks xmlns:a="http://schemas.openxmlformats.org/drawingml/2006/main" noGrp="1"/>
          </p:cNvSpPr>
          <p:nvPr/>
        </p:nvSpPr>
        <p:spPr>
          <a:xfrm xmlns:a="http://schemas.openxmlformats.org/drawingml/2006/main">
            <a:off x="9334500" y="3429000"/>
            <a:ext cx="2476500" cy="0"/>
          </a:xfrm>
          <a:prstGeom xmlns:a="http://schemas.openxmlformats.org/drawingml/2006/main" prst="line">
            <a:avLst/>
          </a:prstGeom>
          <a:noFill xmlns:a="http://schemas.openxmlformats.org/drawingml/2006/main"/>
          <a:ln xmlns:a="http://schemas.openxmlformats.org/drawingml/2006/main" w="38100">
            <a:solidFill>
              <a:srgbClr val="C4581A"/>
            </a:solidFill>
            <a:prstDash val="solid"/>
          </a:ln>
        </p:spPr>
      </p:sp>
      <p:sp>
        <p:nvSpPr>
          <p:cNvPr id="12" name="12-fixture-label">
            <a:extLst xmlns:a="http://schemas.openxmlformats.org/drawingml/2006/main">
              <a:ext uri="{FF2B5EF4-FFF2-40B4-BE49-F238E27FC236}">
                <a16:creationId xmlns:a16="http://schemas.microsoft.com/office/drawing/2014/main" id="{B8FEF6CF-BACC-4620-BD47-6F471BCE075E}"/>
              </a:ext>
            </a:extLst>
          </p:cNvPr>
          <p:cNvSpPr>
            <a:spLocks xmlns:a="http://schemas.openxmlformats.org/drawingml/2006/main" noGrp="1"/>
          </p:cNvSpPr>
          <p:nvPr/>
        </p:nvSpPr>
        <p:spPr>
          <a:xfrm xmlns:a="http://schemas.openxmlformats.org/drawingml/2006/main">
            <a:off x="9334500" y="3657600"/>
            <a:ext cx="247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425" b="1" i="0">
                <a:solidFill>
                  <a:srgbClr val="C4581A"/>
                </a:solidFill>
                <a:latin typeface="Geist Mono"/>
                <a:ea typeface="Geist Mono"/>
                <a:cs typeface="Geist Mono"/>
              </a:defRPr>
            </a:pPr>
            <a:r>
              <a:rPr sz="1425" b="1" i="0">
                <a:solidFill>
                  <a:srgbClr val="C4581A"/>
                </a:solidFill>
                <a:latin typeface="Geist Mono"/>
                <a:ea typeface="Geist Mono"/>
                <a:cs typeface="Geist Mono"/>
              </a:rPr>
              <a:t>APPROVAL</a:t>
            </a:r>
          </a:p>
        </p:txBody>
      </p:sp>
      <p:sp>
        <p:nvSpPr>
          <p:cNvPr id="13" name="13-gauntlet-rule">
            <a:extLst xmlns:a="http://schemas.openxmlformats.org/drawingml/2006/main">
              <a:ext uri="{FF2B5EF4-FFF2-40B4-BE49-F238E27FC236}">
                <a16:creationId xmlns:a16="http://schemas.microsoft.com/office/drawing/2014/main" id="{3C8701C8-ABEB-419F-AB0A-89F5362FD548}"/>
              </a:ext>
            </a:extLst>
          </p:cNvPr>
          <p:cNvSpPr>
            <a:spLocks xmlns:a="http://schemas.openxmlformats.org/drawingml/2006/main" noGrp="1"/>
          </p:cNvSpPr>
          <p:nvPr/>
        </p:nvSpPr>
        <p:spPr>
          <a:xfrm xmlns:a="http://schemas.openxmlformats.org/drawingml/2006/main">
            <a:off x="1809750" y="4876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1">
                <a:solidFill>
                  <a:srgbClr val="5C5046"/>
                </a:solidFill>
                <a:latin typeface="Geist"/>
                <a:ea typeface="Geist"/>
                <a:cs typeface="Geist"/>
              </a:defRPr>
            </a:pPr>
            <a:r>
              <a:rPr sz="1725" b="0" i="1">
                <a:solidFill>
                  <a:srgbClr val="5C5046"/>
                </a:solidFill>
                <a:latin typeface="Geist"/>
                <a:ea typeface="Geist"/>
                <a:cs typeface="Geist"/>
              </a:rPr>
              <a:t>Expected results stay hidden until predictions are submitted.</a:t>
            </a:r>
          </a:p>
        </p:txBody>
      </p:sp>
      <p:sp>
        <p:nvSpPr>
          <p:cNvPr id="14" name="14-footer-rule">
            <a:extLst xmlns:a="http://schemas.openxmlformats.org/drawingml/2006/main">
              <a:ext uri="{FF2B5EF4-FFF2-40B4-BE49-F238E27FC236}">
                <a16:creationId xmlns:a16="http://schemas.microsoft.com/office/drawing/2014/main" id="{19F59BCF-C0E4-486E-955A-B0623AA56C8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5" name="15-footer-left">
            <a:extLst xmlns:a="http://schemas.openxmlformats.org/drawingml/2006/main">
              <a:ext uri="{FF2B5EF4-FFF2-40B4-BE49-F238E27FC236}">
                <a16:creationId xmlns:a16="http://schemas.microsoft.com/office/drawing/2014/main" id="{4C613639-3B12-44F3-B77C-F4F9D6DACE5E}"/>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01:27-01:30</a:t>
            </a:r>
          </a:p>
        </p:txBody>
      </p:sp>
      <p:sp>
        <p:nvSpPr>
          <p:cNvPr id="16" name="16-footer-right">
            <a:extLst xmlns:a="http://schemas.openxmlformats.org/drawingml/2006/main">
              <a:ext uri="{FF2B5EF4-FFF2-40B4-BE49-F238E27FC236}">
                <a16:creationId xmlns:a16="http://schemas.microsoft.com/office/drawing/2014/main" id="{5083835D-F9BB-41AB-A21D-AFA0BF8450FA}"/>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20 / 27</a:t>
            </a:r>
          </a:p>
        </p:txBody>
      </p:sp>
    </p:spTree>
    <p:extLst>
      <p:ext uri="{BB962C8B-B14F-4D97-AF65-F5344CB8AC3E}">
        <p14:creationId xmlns:p14="http://schemas.microsoft.com/office/powerpoint/2010/main" val="732295983"/>
      </p:ext>
    </p:extLst>
  </p:cSld>
</p:sld>
</file>

<file path=ppt/slides/slide21.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9" name="01-kicker">
            <a:extLst xmlns:a="http://schemas.openxmlformats.org/drawingml/2006/main">
              <a:ext uri="{FF2B5EF4-FFF2-40B4-BE49-F238E27FC236}">
                <a16:creationId xmlns:a16="http://schemas.microsoft.com/office/drawing/2014/main" id="{06CA895E-20B6-4228-ABE8-AFD96B2294A1}"/>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11:00 · FOUR FIXTURES</a:t>
            </a:r>
          </a:p>
        </p:txBody>
      </p:sp>
      <p:sp>
        <p:nvSpPr>
          <p:cNvPr id="2" name="02-title">
            <a:extLst xmlns:a="http://schemas.openxmlformats.org/drawingml/2006/main">
              <a:ext uri="{FF2B5EF4-FFF2-40B4-BE49-F238E27FC236}">
                <a16:creationId xmlns:a16="http://schemas.microsoft.com/office/drawing/2014/main" id="{237B7C0D-021F-44D6-BBCD-B46CD25666FB}"/>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Four ways to be wrong</a:t>
            </a:r>
          </a:p>
        </p:txBody>
      </p:sp>
      <p:sp>
        <p:nvSpPr>
          <p:cNvPr id="3" name="03-title-rule">
            <a:extLst xmlns:a="http://schemas.openxmlformats.org/drawingml/2006/main">
              <a:ext uri="{FF2B5EF4-FFF2-40B4-BE49-F238E27FC236}">
                <a16:creationId xmlns:a16="http://schemas.microsoft.com/office/drawing/2014/main" id="{FFCE824F-463A-4873-ACFE-369997BE99C5}"/>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fixture-quadrant">
            <a:extLst xmlns:a="http://schemas.openxmlformats.org/drawingml/2006/main">
              <a:ext uri="{FF2B5EF4-FFF2-40B4-BE49-F238E27FC236}">
                <a16:creationId xmlns:a16="http://schemas.microsoft.com/office/drawing/2014/main" id="{AA53280E-84C0-4F05-A698-5EBCAA53221D}"/>
              </a:ext>
            </a:extLst>
          </p:cNvPr>
          <p:cNvSpPr>
            <a:spLocks xmlns:a="http://schemas.openxmlformats.org/drawingml/2006/main" noGrp="1"/>
          </p:cNvSpPr>
          <p:nvPr/>
        </p:nvSpPr>
        <p:spPr>
          <a:xfrm xmlns:a="http://schemas.openxmlformats.org/drawingml/2006/main">
            <a:off x="609600" y="1924050"/>
            <a:ext cx="5257800" cy="1447800"/>
          </a:xfrm>
          <a:prstGeom xmlns:a="http://schemas.openxmlformats.org/drawingml/2006/main" prst="rect">
            <a:avLst/>
          </a:prstGeom>
          <a:solidFill xmlns:a="http://schemas.openxmlformats.org/drawingml/2006/main">
            <a:srgbClr val="FFFFFF"/>
          </a:solidFill>
          <a:ln xmlns:a="http://schemas.openxmlformats.org/drawingml/2006/main" w="14288">
            <a:solidFill>
              <a:srgbClr val="EDE5D8"/>
            </a:solidFill>
            <a:prstDash val="solid"/>
          </a:ln>
        </p:spPr>
      </p:sp>
      <p:sp>
        <p:nvSpPr>
          <p:cNvPr id="5" name="05-fixture-quadrant-label">
            <a:extLst xmlns:a="http://schemas.openxmlformats.org/drawingml/2006/main">
              <a:ext uri="{FF2B5EF4-FFF2-40B4-BE49-F238E27FC236}">
                <a16:creationId xmlns:a16="http://schemas.microsoft.com/office/drawing/2014/main" id="{10EECD02-489E-48FB-8312-F6931A304F60}"/>
              </a:ext>
            </a:extLst>
          </p:cNvPr>
          <p:cNvSpPr>
            <a:spLocks xmlns:a="http://schemas.openxmlformats.org/drawingml/2006/main" noGrp="1"/>
          </p:cNvSpPr>
          <p:nvPr/>
        </p:nvSpPr>
        <p:spPr>
          <a:xfrm xmlns:a="http://schemas.openxmlformats.org/drawingml/2006/main">
            <a:off x="838200" y="209550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1E3A35"/>
                </a:solidFill>
                <a:latin typeface="Geist Mono"/>
                <a:ea typeface="Geist Mono"/>
                <a:cs typeface="Geist Mono"/>
              </a:defRPr>
            </a:pPr>
            <a:r>
              <a:rPr sz="1125" b="1" i="0">
                <a:solidFill>
                  <a:srgbClr val="1E3A35"/>
                </a:solidFill>
                <a:latin typeface="Geist Mono"/>
                <a:ea typeface="Geist Mono"/>
                <a:cs typeface="Geist Mono"/>
              </a:rPr>
              <a:t>DUPLICATE</a:t>
            </a:r>
          </a:p>
        </p:txBody>
      </p:sp>
      <p:sp>
        <p:nvSpPr>
          <p:cNvPr id="6" name="06-fixture-question">
            <a:extLst xmlns:a="http://schemas.openxmlformats.org/drawingml/2006/main">
              <a:ext uri="{FF2B5EF4-FFF2-40B4-BE49-F238E27FC236}">
                <a16:creationId xmlns:a16="http://schemas.microsoft.com/office/drawing/2014/main" id="{30124E05-1858-400C-B9D9-E6C92EE871A2}"/>
              </a:ext>
            </a:extLst>
          </p:cNvPr>
          <p:cNvSpPr>
            <a:spLocks xmlns:a="http://schemas.openxmlformats.org/drawingml/2006/main" noGrp="1"/>
          </p:cNvSpPr>
          <p:nvPr/>
        </p:nvSpPr>
        <p:spPr>
          <a:xfrm xmlns:a="http://schemas.openxmlformats.org/drawingml/2006/main">
            <a:off x="838200" y="2533650"/>
            <a:ext cx="4800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i="0">
                <a:solidFill>
                  <a:srgbClr val="1F1A14"/>
                </a:solidFill>
                <a:latin typeface="Geist"/>
                <a:ea typeface="Geist"/>
                <a:cs typeface="Geist"/>
              </a:defRPr>
            </a:pPr>
            <a:r>
              <a:rPr sz="1725" b="1" i="0">
                <a:solidFill>
                  <a:srgbClr val="1F1A14"/>
                </a:solidFill>
                <a:latin typeface="Geist"/>
                <a:ea typeface="Geist"/>
                <a:cs typeface="Geist"/>
              </a:rPr>
              <a:t>Was a second action possible?</a:t>
            </a:r>
          </a:p>
        </p:txBody>
      </p:sp>
      <p:sp>
        <p:nvSpPr>
          <p:cNvPr id="7" name="07-fixture-quadrant">
            <a:extLst xmlns:a="http://schemas.openxmlformats.org/drawingml/2006/main">
              <a:ext uri="{FF2B5EF4-FFF2-40B4-BE49-F238E27FC236}">
                <a16:creationId xmlns:a16="http://schemas.microsoft.com/office/drawing/2014/main" id="{41C22496-567B-403E-BE03-6B78F436E4B6}"/>
              </a:ext>
            </a:extLst>
          </p:cNvPr>
          <p:cNvSpPr>
            <a:spLocks xmlns:a="http://schemas.openxmlformats.org/drawingml/2006/main" noGrp="1"/>
          </p:cNvSpPr>
          <p:nvPr/>
        </p:nvSpPr>
        <p:spPr>
          <a:xfrm xmlns:a="http://schemas.openxmlformats.org/drawingml/2006/main">
            <a:off x="6172200" y="1924050"/>
            <a:ext cx="5257800" cy="1447800"/>
          </a:xfrm>
          <a:prstGeom xmlns:a="http://schemas.openxmlformats.org/drawingml/2006/main" prst="rect">
            <a:avLst/>
          </a:prstGeom>
          <a:solidFill xmlns:a="http://schemas.openxmlformats.org/drawingml/2006/main">
            <a:srgbClr val="FFFFFF"/>
          </a:solidFill>
          <a:ln xmlns:a="http://schemas.openxmlformats.org/drawingml/2006/main" w="14288">
            <a:solidFill>
              <a:srgbClr val="EDE5D8"/>
            </a:solidFill>
            <a:prstDash val="solid"/>
          </a:ln>
        </p:spPr>
      </p:sp>
      <p:sp>
        <p:nvSpPr>
          <p:cNvPr id="8" name="08-fixture-quadrant-label">
            <a:extLst xmlns:a="http://schemas.openxmlformats.org/drawingml/2006/main">
              <a:ext uri="{FF2B5EF4-FFF2-40B4-BE49-F238E27FC236}">
                <a16:creationId xmlns:a16="http://schemas.microsoft.com/office/drawing/2014/main" id="{13D35456-79C5-4EE4-B5E0-0CBC15E058AC}"/>
              </a:ext>
            </a:extLst>
          </p:cNvPr>
          <p:cNvSpPr>
            <a:spLocks xmlns:a="http://schemas.openxmlformats.org/drawingml/2006/main" noGrp="1"/>
          </p:cNvSpPr>
          <p:nvPr/>
        </p:nvSpPr>
        <p:spPr>
          <a:xfrm xmlns:a="http://schemas.openxmlformats.org/drawingml/2006/main">
            <a:off x="6400800" y="209550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1E3A35"/>
                </a:solidFill>
                <a:latin typeface="Geist Mono"/>
                <a:ea typeface="Geist Mono"/>
                <a:cs typeface="Geist Mono"/>
              </a:defRPr>
            </a:pPr>
            <a:r>
              <a:rPr sz="1125" b="1" i="0">
                <a:solidFill>
                  <a:srgbClr val="1E3A35"/>
                </a:solidFill>
                <a:latin typeface="Geist Mono"/>
                <a:ea typeface="Geist Mono"/>
                <a:cs typeface="Geist Mono"/>
              </a:rPr>
              <a:t>MALFORMED</a:t>
            </a:r>
          </a:p>
        </p:txBody>
      </p:sp>
      <p:sp>
        <p:nvSpPr>
          <p:cNvPr id="9" name="09-fixture-question">
            <a:extLst xmlns:a="http://schemas.openxmlformats.org/drawingml/2006/main">
              <a:ext uri="{FF2B5EF4-FFF2-40B4-BE49-F238E27FC236}">
                <a16:creationId xmlns:a16="http://schemas.microsoft.com/office/drawing/2014/main" id="{F5DE9E23-2E4B-493C-B858-0D3B65789527}"/>
              </a:ext>
            </a:extLst>
          </p:cNvPr>
          <p:cNvSpPr>
            <a:spLocks xmlns:a="http://schemas.openxmlformats.org/drawingml/2006/main" noGrp="1"/>
          </p:cNvSpPr>
          <p:nvPr/>
        </p:nvSpPr>
        <p:spPr>
          <a:xfrm xmlns:a="http://schemas.openxmlformats.org/drawingml/2006/main">
            <a:off x="6400800" y="2533650"/>
            <a:ext cx="4800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i="0">
                <a:solidFill>
                  <a:srgbClr val="1F1A14"/>
                </a:solidFill>
                <a:latin typeface="Geist"/>
                <a:ea typeface="Geist"/>
                <a:cs typeface="Geist"/>
              </a:defRPr>
            </a:pPr>
            <a:r>
              <a:rPr sz="1725" b="1" i="0">
                <a:solidFill>
                  <a:srgbClr val="1F1A14"/>
                </a:solidFill>
                <a:latin typeface="Geist"/>
                <a:ea typeface="Geist"/>
                <a:cs typeface="Geist"/>
              </a:rPr>
              <a:t>Did it stop safely with a reason?</a:t>
            </a:r>
          </a:p>
        </p:txBody>
      </p:sp>
      <p:sp>
        <p:nvSpPr>
          <p:cNvPr id="10" name="10-fixture-quadrant">
            <a:extLst xmlns:a="http://schemas.openxmlformats.org/drawingml/2006/main">
              <a:ext uri="{FF2B5EF4-FFF2-40B4-BE49-F238E27FC236}">
                <a16:creationId xmlns:a16="http://schemas.microsoft.com/office/drawing/2014/main" id="{F44BB3BB-D99B-418B-8528-D0B8015E6D1D}"/>
              </a:ext>
            </a:extLst>
          </p:cNvPr>
          <p:cNvSpPr>
            <a:spLocks xmlns:a="http://schemas.openxmlformats.org/drawingml/2006/main" noGrp="1"/>
          </p:cNvSpPr>
          <p:nvPr/>
        </p:nvSpPr>
        <p:spPr>
          <a:xfrm xmlns:a="http://schemas.openxmlformats.org/drawingml/2006/main">
            <a:off x="609600" y="3581400"/>
            <a:ext cx="5257800" cy="1447800"/>
          </a:xfrm>
          <a:prstGeom xmlns:a="http://schemas.openxmlformats.org/drawingml/2006/main" prst="rect">
            <a:avLst/>
          </a:prstGeom>
          <a:solidFill xmlns:a="http://schemas.openxmlformats.org/drawingml/2006/main">
            <a:srgbClr val="FFFFFF"/>
          </a:solidFill>
          <a:ln xmlns:a="http://schemas.openxmlformats.org/drawingml/2006/main" w="14288">
            <a:solidFill>
              <a:srgbClr val="EDE5D8"/>
            </a:solidFill>
            <a:prstDash val="solid"/>
          </a:ln>
        </p:spPr>
      </p:sp>
      <p:sp>
        <p:nvSpPr>
          <p:cNvPr id="11" name="11-fixture-quadrant-label">
            <a:extLst xmlns:a="http://schemas.openxmlformats.org/drawingml/2006/main">
              <a:ext uri="{FF2B5EF4-FFF2-40B4-BE49-F238E27FC236}">
                <a16:creationId xmlns:a16="http://schemas.microsoft.com/office/drawing/2014/main" id="{E941CDF7-0658-4714-9CDD-681FF4E5A41F}"/>
              </a:ext>
            </a:extLst>
          </p:cNvPr>
          <p:cNvSpPr>
            <a:spLocks xmlns:a="http://schemas.openxmlformats.org/drawingml/2006/main" noGrp="1"/>
          </p:cNvSpPr>
          <p:nvPr/>
        </p:nvSpPr>
        <p:spPr>
          <a:xfrm xmlns:a="http://schemas.openxmlformats.org/drawingml/2006/main">
            <a:off x="838200" y="375285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1E3A35"/>
                </a:solidFill>
                <a:latin typeface="Geist Mono"/>
                <a:ea typeface="Geist Mono"/>
                <a:cs typeface="Geist Mono"/>
              </a:defRPr>
            </a:pPr>
            <a:r>
              <a:rPr sz="1125" b="1" i="0">
                <a:solidFill>
                  <a:srgbClr val="1E3A35"/>
                </a:solidFill>
                <a:latin typeface="Geist Mono"/>
                <a:ea typeface="Geist Mono"/>
                <a:cs typeface="Geist Mono"/>
              </a:rPr>
              <a:t>TIMEOUT</a:t>
            </a:r>
          </a:p>
        </p:txBody>
      </p:sp>
      <p:sp>
        <p:nvSpPr>
          <p:cNvPr id="12" name="12-fixture-question">
            <a:extLst xmlns:a="http://schemas.openxmlformats.org/drawingml/2006/main">
              <a:ext uri="{FF2B5EF4-FFF2-40B4-BE49-F238E27FC236}">
                <a16:creationId xmlns:a16="http://schemas.microsoft.com/office/drawing/2014/main" id="{8AEB5411-DF58-4856-95E8-46F5324F362B}"/>
              </a:ext>
            </a:extLst>
          </p:cNvPr>
          <p:cNvSpPr>
            <a:spLocks xmlns:a="http://schemas.openxmlformats.org/drawingml/2006/main" noGrp="1"/>
          </p:cNvSpPr>
          <p:nvPr/>
        </p:nvSpPr>
        <p:spPr>
          <a:xfrm xmlns:a="http://schemas.openxmlformats.org/drawingml/2006/main">
            <a:off x="838200" y="4191000"/>
            <a:ext cx="4800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i="0">
                <a:solidFill>
                  <a:srgbClr val="1F1A14"/>
                </a:solidFill>
                <a:latin typeface="Geist"/>
                <a:ea typeface="Geist"/>
                <a:cs typeface="Geist"/>
              </a:defRPr>
            </a:pPr>
            <a:r>
              <a:rPr sz="1725" b="1" i="0">
                <a:solidFill>
                  <a:srgbClr val="1F1A14"/>
                </a:solidFill>
                <a:latin typeface="Geist"/>
                <a:ea typeface="Geist"/>
                <a:cs typeface="Geist"/>
              </a:rPr>
              <a:t>Was state retained for retry or manual recovery?</a:t>
            </a:r>
          </a:p>
        </p:txBody>
      </p:sp>
      <p:sp>
        <p:nvSpPr>
          <p:cNvPr id="13" name="13-fixture-quadrant">
            <a:extLst xmlns:a="http://schemas.openxmlformats.org/drawingml/2006/main">
              <a:ext uri="{FF2B5EF4-FFF2-40B4-BE49-F238E27FC236}">
                <a16:creationId xmlns:a16="http://schemas.microsoft.com/office/drawing/2014/main" id="{AE7B5837-F99F-4AC7-B983-3303E5560A57}"/>
              </a:ext>
            </a:extLst>
          </p:cNvPr>
          <p:cNvSpPr>
            <a:spLocks xmlns:a="http://schemas.openxmlformats.org/drawingml/2006/main" noGrp="1"/>
          </p:cNvSpPr>
          <p:nvPr/>
        </p:nvSpPr>
        <p:spPr>
          <a:xfrm xmlns:a="http://schemas.openxmlformats.org/drawingml/2006/main">
            <a:off x="6172200" y="3581400"/>
            <a:ext cx="5257800" cy="1447800"/>
          </a:xfrm>
          <a:prstGeom xmlns:a="http://schemas.openxmlformats.org/drawingml/2006/main" prst="rect">
            <a:avLst/>
          </a:prstGeom>
          <a:solidFill xmlns:a="http://schemas.openxmlformats.org/drawingml/2006/main">
            <a:srgbClr val="FAEEE7"/>
          </a:solidFill>
          <a:ln xmlns:a="http://schemas.openxmlformats.org/drawingml/2006/main" w="14288">
            <a:solidFill>
              <a:srgbClr val="C4581A"/>
            </a:solidFill>
            <a:prstDash val="solid"/>
          </a:ln>
        </p:spPr>
      </p:sp>
      <p:sp>
        <p:nvSpPr>
          <p:cNvPr id="14" name="14-fixture-quadrant-label">
            <a:extLst xmlns:a="http://schemas.openxmlformats.org/drawingml/2006/main">
              <a:ext uri="{FF2B5EF4-FFF2-40B4-BE49-F238E27FC236}">
                <a16:creationId xmlns:a16="http://schemas.microsoft.com/office/drawing/2014/main" id="{5418DE5B-BE55-40A4-9E0E-9866C2CDE20C}"/>
              </a:ext>
            </a:extLst>
          </p:cNvPr>
          <p:cNvSpPr>
            <a:spLocks xmlns:a="http://schemas.openxmlformats.org/drawingml/2006/main" noGrp="1"/>
          </p:cNvSpPr>
          <p:nvPr/>
        </p:nvSpPr>
        <p:spPr>
          <a:xfrm xmlns:a="http://schemas.openxmlformats.org/drawingml/2006/main">
            <a:off x="6400800" y="3752850"/>
            <a:ext cx="4800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C4581A"/>
                </a:solidFill>
                <a:latin typeface="Geist Mono"/>
                <a:ea typeface="Geist Mono"/>
                <a:cs typeface="Geist Mono"/>
              </a:defRPr>
            </a:pPr>
            <a:r>
              <a:rPr sz="1125" b="1" i="0">
                <a:solidFill>
                  <a:srgbClr val="C4581A"/>
                </a:solidFill>
                <a:latin typeface="Geist Mono"/>
                <a:ea typeface="Geist Mono"/>
                <a:cs typeface="Geist Mono"/>
              </a:rPr>
              <a:t>APPROVAL</a:t>
            </a:r>
          </a:p>
        </p:txBody>
      </p:sp>
      <p:sp>
        <p:nvSpPr>
          <p:cNvPr id="15" name="15-fixture-question">
            <a:extLst xmlns:a="http://schemas.openxmlformats.org/drawingml/2006/main">
              <a:ext uri="{FF2B5EF4-FFF2-40B4-BE49-F238E27FC236}">
                <a16:creationId xmlns:a16="http://schemas.microsoft.com/office/drawing/2014/main" id="{A7C446CA-CBE7-46E3-AB40-3D3862CE5F01}"/>
              </a:ext>
            </a:extLst>
          </p:cNvPr>
          <p:cNvSpPr>
            <a:spLocks xmlns:a="http://schemas.openxmlformats.org/drawingml/2006/main" noGrp="1"/>
          </p:cNvSpPr>
          <p:nvPr/>
        </p:nvSpPr>
        <p:spPr>
          <a:xfrm xmlns:a="http://schemas.openxmlformats.org/drawingml/2006/main">
            <a:off x="6400800" y="4191000"/>
            <a:ext cx="4800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i="0">
                <a:solidFill>
                  <a:srgbClr val="1F1A14"/>
                </a:solidFill>
                <a:latin typeface="Geist"/>
                <a:ea typeface="Geist"/>
                <a:cs typeface="Geist"/>
              </a:defRPr>
            </a:pPr>
            <a:r>
              <a:rPr sz="1725" b="1" i="0">
                <a:solidFill>
                  <a:srgbClr val="1F1A14"/>
                </a:solidFill>
                <a:latin typeface="Geist"/>
                <a:ea typeface="Geist"/>
                <a:cs typeface="Geist"/>
              </a:rPr>
              <a:t>Could anything irreversible happen while pending?</a:t>
            </a:r>
          </a:p>
        </p:txBody>
      </p:sp>
      <p:sp>
        <p:nvSpPr>
          <p:cNvPr id="16" name="16-footer-rule">
            <a:extLst xmlns:a="http://schemas.openxmlformats.org/drawingml/2006/main">
              <a:ext uri="{FF2B5EF4-FFF2-40B4-BE49-F238E27FC236}">
                <a16:creationId xmlns:a16="http://schemas.microsoft.com/office/drawing/2014/main" id="{408D835C-5FD4-4B76-B99F-63A55F70CF2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7" name="17-footer-left">
            <a:extLst xmlns:a="http://schemas.openxmlformats.org/drawingml/2006/main">
              <a:ext uri="{FF2B5EF4-FFF2-40B4-BE49-F238E27FC236}">
                <a16:creationId xmlns:a16="http://schemas.microsoft.com/office/drawing/2014/main" id="{F690453B-CAC0-4E83-B3FA-8679CE46426A}"/>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01:30-01:41</a:t>
            </a:r>
          </a:p>
        </p:txBody>
      </p:sp>
      <p:sp>
        <p:nvSpPr>
          <p:cNvPr id="18" name="18-footer-right">
            <a:extLst xmlns:a="http://schemas.openxmlformats.org/drawingml/2006/main">
              <a:ext uri="{FF2B5EF4-FFF2-40B4-BE49-F238E27FC236}">
                <a16:creationId xmlns:a16="http://schemas.microsoft.com/office/drawing/2014/main" id="{A1FA48C8-C87C-428E-BF09-0744FBD17434}"/>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21 / 27</a:t>
            </a:r>
          </a:p>
        </p:txBody>
      </p:sp>
    </p:spTree>
    <p:extLst>
      <p:ext uri="{BB962C8B-B14F-4D97-AF65-F5344CB8AC3E}">
        <p14:creationId xmlns:p14="http://schemas.microsoft.com/office/powerpoint/2010/main" val="1680737081"/>
      </p:ext>
    </p:extLst>
  </p:cSld>
</p:sld>
</file>

<file path=ppt/slides/slide22.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8" name="01-kicker">
            <a:extLst xmlns:a="http://schemas.openxmlformats.org/drawingml/2006/main">
              <a:ext uri="{FF2B5EF4-FFF2-40B4-BE49-F238E27FC236}">
                <a16:creationId xmlns:a16="http://schemas.microsoft.com/office/drawing/2014/main" id="{6F381ED0-E345-43AA-AED5-64BF9B0AFE3E}"/>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MAKE SHARING · VERIFIED 30 JUL 2026 · T-7</a:t>
            </a:r>
          </a:p>
        </p:txBody>
      </p:sp>
      <p:sp>
        <p:nvSpPr>
          <p:cNvPr id="2" name="02-title">
            <a:extLst xmlns:a="http://schemas.openxmlformats.org/drawingml/2006/main">
              <a:ext uri="{FF2B5EF4-FFF2-40B4-BE49-F238E27FC236}">
                <a16:creationId xmlns:a16="http://schemas.microsoft.com/office/drawing/2014/main" id="{DB1D7107-58F1-4495-8F91-9B40984D42D9}"/>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Private evidence. Public clone.</a:t>
            </a:r>
          </a:p>
        </p:txBody>
      </p:sp>
      <p:sp>
        <p:nvSpPr>
          <p:cNvPr id="3" name="03-title-rule">
            <a:extLst xmlns:a="http://schemas.openxmlformats.org/drawingml/2006/main">
              <a:ext uri="{FF2B5EF4-FFF2-40B4-BE49-F238E27FC236}">
                <a16:creationId xmlns:a16="http://schemas.microsoft.com/office/drawing/2014/main" id="{D85CF82D-401A-4CCD-8169-1746BB3442A0}"/>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table-head-bg">
            <a:extLst xmlns:a="http://schemas.openxmlformats.org/drawingml/2006/main">
              <a:ext uri="{FF2B5EF4-FFF2-40B4-BE49-F238E27FC236}">
                <a16:creationId xmlns:a16="http://schemas.microsoft.com/office/drawing/2014/main" id="{1E6CB00C-5A06-4C88-A7DB-73A460F40960}"/>
              </a:ext>
            </a:extLst>
          </p:cNvPr>
          <p:cNvSpPr>
            <a:spLocks xmlns:a="http://schemas.openxmlformats.org/drawingml/2006/main" noGrp="1"/>
          </p:cNvSpPr>
          <p:nvPr/>
        </p:nvSpPr>
        <p:spPr>
          <a:xfrm xmlns:a="http://schemas.openxmlformats.org/drawingml/2006/main">
            <a:off x="609600" y="1866900"/>
            <a:ext cx="5486400" cy="638175"/>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5" name="05-table-head">
            <a:extLst xmlns:a="http://schemas.openxmlformats.org/drawingml/2006/main">
              <a:ext uri="{FF2B5EF4-FFF2-40B4-BE49-F238E27FC236}">
                <a16:creationId xmlns:a16="http://schemas.microsoft.com/office/drawing/2014/main" id="{FED679E0-4C70-4821-A155-44185DA388D5}"/>
              </a:ext>
            </a:extLst>
          </p:cNvPr>
          <p:cNvSpPr>
            <a:spLocks xmlns:a="http://schemas.openxmlformats.org/drawingml/2006/main" noGrp="1"/>
          </p:cNvSpPr>
          <p:nvPr/>
        </p:nvSpPr>
        <p:spPr>
          <a:xfrm xmlns:a="http://schemas.openxmlformats.org/drawingml/2006/main">
            <a:off x="742950" y="1943100"/>
            <a:ext cx="52197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PRIVATE BLUEPRINT JSON</a:t>
            </a:r>
          </a:p>
        </p:txBody>
      </p:sp>
      <p:sp>
        <p:nvSpPr>
          <p:cNvPr id="6" name="06-table-head-bg">
            <a:extLst xmlns:a="http://schemas.openxmlformats.org/drawingml/2006/main">
              <a:ext uri="{FF2B5EF4-FFF2-40B4-BE49-F238E27FC236}">
                <a16:creationId xmlns:a16="http://schemas.microsoft.com/office/drawing/2014/main" id="{9E8CD41B-F50F-46D3-86ED-91496754B938}"/>
              </a:ext>
            </a:extLst>
          </p:cNvPr>
          <p:cNvSpPr>
            <a:spLocks xmlns:a="http://schemas.openxmlformats.org/drawingml/2006/main" noGrp="1"/>
          </p:cNvSpPr>
          <p:nvPr/>
        </p:nvSpPr>
        <p:spPr>
          <a:xfrm xmlns:a="http://schemas.openxmlformats.org/drawingml/2006/main">
            <a:off x="6096000" y="1866900"/>
            <a:ext cx="5486400" cy="638175"/>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7" name="07-table-head">
            <a:extLst xmlns:a="http://schemas.openxmlformats.org/drawingml/2006/main">
              <a:ext uri="{FF2B5EF4-FFF2-40B4-BE49-F238E27FC236}">
                <a16:creationId xmlns:a16="http://schemas.microsoft.com/office/drawing/2014/main" id="{17215B35-F094-45E1-A5C1-26BCE7F58426}"/>
              </a:ext>
            </a:extLst>
          </p:cNvPr>
          <p:cNvSpPr>
            <a:spLocks xmlns:a="http://schemas.openxmlformats.org/drawingml/2006/main" noGrp="1"/>
          </p:cNvSpPr>
          <p:nvPr/>
        </p:nvSpPr>
        <p:spPr>
          <a:xfrm xmlns:a="http://schemas.openxmlformats.org/drawingml/2006/main">
            <a:off x="6229350" y="1943100"/>
            <a:ext cx="52197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i="0">
                <a:solidFill>
                  <a:srgbClr val="F5F0E8"/>
                </a:solidFill>
                <a:latin typeface="Geist Mono"/>
                <a:ea typeface="Geist Mono"/>
                <a:cs typeface="Geist Mono"/>
              </a:defRPr>
            </a:pPr>
            <a:r>
              <a:rPr sz="1275" b="1" i="0">
                <a:solidFill>
                  <a:srgbClr val="F5F0E8"/>
                </a:solidFill>
                <a:latin typeface="Geist Mono"/>
                <a:ea typeface="Geist Mono"/>
                <a:cs typeface="Geist Mono"/>
              </a:rPr>
              <a:t>OFFICIAL MAKE SCENARIO LINK</a:t>
            </a:r>
          </a:p>
        </p:txBody>
      </p:sp>
      <p:sp>
        <p:nvSpPr>
          <p:cNvPr id="8" name="08-table-cell-bg">
            <a:extLst xmlns:a="http://schemas.openxmlformats.org/drawingml/2006/main">
              <a:ext uri="{FF2B5EF4-FFF2-40B4-BE49-F238E27FC236}">
                <a16:creationId xmlns:a16="http://schemas.microsoft.com/office/drawing/2014/main" id="{F5E224EC-D99C-4BD4-BED7-21B6416796C0}"/>
              </a:ext>
            </a:extLst>
          </p:cNvPr>
          <p:cNvSpPr>
            <a:spLocks xmlns:a="http://schemas.openxmlformats.org/drawingml/2006/main" noGrp="1"/>
          </p:cNvSpPr>
          <p:nvPr/>
        </p:nvSpPr>
        <p:spPr>
          <a:xfrm xmlns:a="http://schemas.openxmlformats.org/drawingml/2006/main">
            <a:off x="609600" y="2505075"/>
            <a:ext cx="5486400" cy="638175"/>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9" name="09-table-cell">
            <a:extLst xmlns:a="http://schemas.openxmlformats.org/drawingml/2006/main">
              <a:ext uri="{FF2B5EF4-FFF2-40B4-BE49-F238E27FC236}">
                <a16:creationId xmlns:a16="http://schemas.microsoft.com/office/drawing/2014/main" id="{139CFF27-E833-493E-AEA2-CB6CA35D5476}"/>
              </a:ext>
            </a:extLst>
          </p:cNvPr>
          <p:cNvSpPr>
            <a:spLocks xmlns:a="http://schemas.openxmlformats.org/drawingml/2006/main" noGrp="1"/>
          </p:cNvSpPr>
          <p:nvPr/>
        </p:nvSpPr>
        <p:spPr>
          <a:xfrm xmlns:a="http://schemas.openxmlformats.org/drawingml/2006/main">
            <a:off x="742950" y="2571750"/>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point-in-time evidence</a:t>
            </a:r>
          </a:p>
        </p:txBody>
      </p:sp>
      <p:sp>
        <p:nvSpPr>
          <p:cNvPr id="10" name="10-table-cell-bg">
            <a:extLst xmlns:a="http://schemas.openxmlformats.org/drawingml/2006/main">
              <a:ext uri="{FF2B5EF4-FFF2-40B4-BE49-F238E27FC236}">
                <a16:creationId xmlns:a16="http://schemas.microsoft.com/office/drawing/2014/main" id="{2B49C96C-15BA-490F-82D3-00182F556E8C}"/>
              </a:ext>
            </a:extLst>
          </p:cNvPr>
          <p:cNvSpPr>
            <a:spLocks xmlns:a="http://schemas.openxmlformats.org/drawingml/2006/main" noGrp="1"/>
          </p:cNvSpPr>
          <p:nvPr/>
        </p:nvSpPr>
        <p:spPr>
          <a:xfrm xmlns:a="http://schemas.openxmlformats.org/drawingml/2006/main">
            <a:off x="6096000" y="2505075"/>
            <a:ext cx="5486400" cy="638175"/>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1" name="11-table-cell">
            <a:extLst xmlns:a="http://schemas.openxmlformats.org/drawingml/2006/main">
              <a:ext uri="{FF2B5EF4-FFF2-40B4-BE49-F238E27FC236}">
                <a16:creationId xmlns:a16="http://schemas.microsoft.com/office/drawing/2014/main" id="{4D613DF5-9E5C-4025-9E87-F842966F22B1}"/>
              </a:ext>
            </a:extLst>
          </p:cNvPr>
          <p:cNvSpPr>
            <a:spLocks xmlns:a="http://schemas.openxmlformats.org/drawingml/2006/main" noGrp="1"/>
          </p:cNvSpPr>
          <p:nvPr/>
        </p:nvSpPr>
        <p:spPr>
          <a:xfrm xmlns:a="http://schemas.openxmlformats.org/drawingml/2006/main">
            <a:off x="6229350" y="2571750"/>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latest saved version</a:t>
            </a:r>
          </a:p>
        </p:txBody>
      </p:sp>
      <p:sp>
        <p:nvSpPr>
          <p:cNvPr id="12" name="12-table-cell-bg">
            <a:extLst xmlns:a="http://schemas.openxmlformats.org/drawingml/2006/main">
              <a:ext uri="{FF2B5EF4-FFF2-40B4-BE49-F238E27FC236}">
                <a16:creationId xmlns:a16="http://schemas.microsoft.com/office/drawing/2014/main" id="{D548F60C-6421-4848-BD0B-11E70F2B1E0C}"/>
              </a:ext>
            </a:extLst>
          </p:cNvPr>
          <p:cNvSpPr>
            <a:spLocks xmlns:a="http://schemas.openxmlformats.org/drawingml/2006/main" noGrp="1"/>
          </p:cNvSpPr>
          <p:nvPr/>
        </p:nvSpPr>
        <p:spPr>
          <a:xfrm xmlns:a="http://schemas.openxmlformats.org/drawingml/2006/main">
            <a:off x="609600" y="3143250"/>
            <a:ext cx="5486400" cy="638175"/>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13" name="13-table-cell">
            <a:extLst xmlns:a="http://schemas.openxmlformats.org/drawingml/2006/main">
              <a:ext uri="{FF2B5EF4-FFF2-40B4-BE49-F238E27FC236}">
                <a16:creationId xmlns:a16="http://schemas.microsoft.com/office/drawing/2014/main" id="{FEC04333-2A03-4E9C-904D-1641BA51788F}"/>
              </a:ext>
            </a:extLst>
          </p:cNvPr>
          <p:cNvSpPr>
            <a:spLocks xmlns:a="http://schemas.openxmlformats.org/drawingml/2006/main" noGrp="1"/>
          </p:cNvSpPr>
          <p:nvPr/>
        </p:nvSpPr>
        <p:spPr>
          <a:xfrm xmlns:a="http://schemas.openxmlformats.org/drawingml/2006/main">
            <a:off x="742950" y="3209925"/>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import privately</a:t>
            </a:r>
          </a:p>
        </p:txBody>
      </p:sp>
      <p:sp>
        <p:nvSpPr>
          <p:cNvPr id="14" name="14-table-cell-bg">
            <a:extLst xmlns:a="http://schemas.openxmlformats.org/drawingml/2006/main">
              <a:ext uri="{FF2B5EF4-FFF2-40B4-BE49-F238E27FC236}">
                <a16:creationId xmlns:a16="http://schemas.microsoft.com/office/drawing/2014/main" id="{3CC7CF2B-A848-4991-8A48-34FC45587824}"/>
              </a:ext>
            </a:extLst>
          </p:cNvPr>
          <p:cNvSpPr>
            <a:spLocks xmlns:a="http://schemas.openxmlformats.org/drawingml/2006/main" noGrp="1"/>
          </p:cNvSpPr>
          <p:nvPr/>
        </p:nvSpPr>
        <p:spPr>
          <a:xfrm xmlns:a="http://schemas.openxmlformats.org/drawingml/2006/main">
            <a:off x="6096000" y="3143250"/>
            <a:ext cx="5486400" cy="638175"/>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15" name="15-table-cell">
            <a:extLst xmlns:a="http://schemas.openxmlformats.org/drawingml/2006/main">
              <a:ext uri="{FF2B5EF4-FFF2-40B4-BE49-F238E27FC236}">
                <a16:creationId xmlns:a16="http://schemas.microsoft.com/office/drawing/2014/main" id="{8ABF53A3-3842-465F-B73C-220B86D555B8}"/>
              </a:ext>
            </a:extLst>
          </p:cNvPr>
          <p:cNvSpPr>
            <a:spLocks xmlns:a="http://schemas.openxmlformats.org/drawingml/2006/main" noGrp="1"/>
          </p:cNvSpPr>
          <p:nvPr/>
        </p:nvSpPr>
        <p:spPr>
          <a:xfrm xmlns:a="http://schemas.openxmlformats.org/drawingml/2006/main">
            <a:off x="6229350" y="3209925"/>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official view / sign-in copy</a:t>
            </a:r>
          </a:p>
        </p:txBody>
      </p:sp>
      <p:sp>
        <p:nvSpPr>
          <p:cNvPr id="16" name="16-table-cell-bg">
            <a:extLst xmlns:a="http://schemas.openxmlformats.org/drawingml/2006/main">
              <a:ext uri="{FF2B5EF4-FFF2-40B4-BE49-F238E27FC236}">
                <a16:creationId xmlns:a16="http://schemas.microsoft.com/office/drawing/2014/main" id="{966CF80A-BE7A-4C25-9BA3-B075C54EACC8}"/>
              </a:ext>
            </a:extLst>
          </p:cNvPr>
          <p:cNvSpPr>
            <a:spLocks xmlns:a="http://schemas.openxmlformats.org/drawingml/2006/main" noGrp="1"/>
          </p:cNvSpPr>
          <p:nvPr/>
        </p:nvSpPr>
        <p:spPr>
          <a:xfrm xmlns:a="http://schemas.openxmlformats.org/drawingml/2006/main">
            <a:off x="609600" y="3781425"/>
            <a:ext cx="5486400" cy="638175"/>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7" name="17-table-cell">
            <a:extLst xmlns:a="http://schemas.openxmlformats.org/drawingml/2006/main">
              <a:ext uri="{FF2B5EF4-FFF2-40B4-BE49-F238E27FC236}">
                <a16:creationId xmlns:a16="http://schemas.microsoft.com/office/drawing/2014/main" id="{8A6CEFCB-C4D8-4E57-B406-E4886414635C}"/>
              </a:ext>
            </a:extLst>
          </p:cNvPr>
          <p:cNvSpPr>
            <a:spLocks xmlns:a="http://schemas.openxmlformats.org/drawingml/2006/main" noGrp="1"/>
          </p:cNvSpPr>
          <p:nvPr/>
        </p:nvSpPr>
        <p:spPr>
          <a:xfrm xmlns:a="http://schemas.openxmlformats.org/drawingml/2006/main">
            <a:off x="742950" y="3848100"/>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under 2 MB</a:t>
            </a:r>
          </a:p>
        </p:txBody>
      </p:sp>
      <p:sp>
        <p:nvSpPr>
          <p:cNvPr id="18" name="18-table-cell-bg">
            <a:extLst xmlns:a="http://schemas.openxmlformats.org/drawingml/2006/main">
              <a:ext uri="{FF2B5EF4-FFF2-40B4-BE49-F238E27FC236}">
                <a16:creationId xmlns:a16="http://schemas.microsoft.com/office/drawing/2014/main" id="{4B6A9574-5699-425A-AB77-112E2D7083C3}"/>
              </a:ext>
            </a:extLst>
          </p:cNvPr>
          <p:cNvSpPr>
            <a:spLocks xmlns:a="http://schemas.openxmlformats.org/drawingml/2006/main" noGrp="1"/>
          </p:cNvSpPr>
          <p:nvPr/>
        </p:nvSpPr>
        <p:spPr>
          <a:xfrm xmlns:a="http://schemas.openxmlformats.org/drawingml/2006/main">
            <a:off x="6096000" y="3781425"/>
            <a:ext cx="5486400" cy="638175"/>
          </a:xfrm>
          <a:prstGeom xmlns:a="http://schemas.openxmlformats.org/drawingml/2006/main" prst="rect">
            <a:avLst/>
          </a:prstGeom>
          <a:solidFill xmlns:a="http://schemas.openxmlformats.org/drawingml/2006/main">
            <a:srgbClr val="FFFFFF"/>
          </a:solidFill>
          <a:ln xmlns:a="http://schemas.openxmlformats.org/drawingml/2006/main" w="9525">
            <a:solidFill>
              <a:srgbClr val="EDE5D8"/>
            </a:solidFill>
            <a:prstDash val="solid"/>
          </a:ln>
        </p:spPr>
      </p:sp>
      <p:sp>
        <p:nvSpPr>
          <p:cNvPr id="19" name="19-table-cell">
            <a:extLst xmlns:a="http://schemas.openxmlformats.org/drawingml/2006/main">
              <a:ext uri="{FF2B5EF4-FFF2-40B4-BE49-F238E27FC236}">
                <a16:creationId xmlns:a16="http://schemas.microsoft.com/office/drawing/2014/main" id="{4265773E-5D65-47A5-BEE7-340508089EB2}"/>
              </a:ext>
            </a:extLst>
          </p:cNvPr>
          <p:cNvSpPr>
            <a:spLocks xmlns:a="http://schemas.openxmlformats.org/drawingml/2006/main" noGrp="1"/>
          </p:cNvSpPr>
          <p:nvPr/>
        </p:nvSpPr>
        <p:spPr>
          <a:xfrm xmlns:a="http://schemas.openxmlformats.org/drawingml/2006/main">
            <a:off x="6229350" y="3848100"/>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public clone surface</a:t>
            </a:r>
          </a:p>
        </p:txBody>
      </p:sp>
      <p:sp>
        <p:nvSpPr>
          <p:cNvPr id="20" name="20-table-cell-bg">
            <a:extLst xmlns:a="http://schemas.openxmlformats.org/drawingml/2006/main">
              <a:ext uri="{FF2B5EF4-FFF2-40B4-BE49-F238E27FC236}">
                <a16:creationId xmlns:a16="http://schemas.microsoft.com/office/drawing/2014/main" id="{E1C90B4E-110B-44F1-9A85-318E7C73D27E}"/>
              </a:ext>
            </a:extLst>
          </p:cNvPr>
          <p:cNvSpPr>
            <a:spLocks xmlns:a="http://schemas.openxmlformats.org/drawingml/2006/main" noGrp="1"/>
          </p:cNvSpPr>
          <p:nvPr/>
        </p:nvSpPr>
        <p:spPr>
          <a:xfrm xmlns:a="http://schemas.openxmlformats.org/drawingml/2006/main">
            <a:off x="609600" y="4419600"/>
            <a:ext cx="5486400" cy="638175"/>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21" name="21-table-cell">
            <a:extLst xmlns:a="http://schemas.openxmlformats.org/drawingml/2006/main">
              <a:ext uri="{FF2B5EF4-FFF2-40B4-BE49-F238E27FC236}">
                <a16:creationId xmlns:a16="http://schemas.microsoft.com/office/drawing/2014/main" id="{85E14BD0-75F0-4E8C-A476-B8C3B063C660}"/>
              </a:ext>
            </a:extLst>
          </p:cNvPr>
          <p:cNvSpPr>
            <a:spLocks xmlns:a="http://schemas.openxmlformats.org/drawingml/2006/main" noGrp="1"/>
          </p:cNvSpPr>
          <p:nvPr/>
        </p:nvSpPr>
        <p:spPr>
          <a:xfrm xmlns:a="http://schemas.openxmlformats.org/drawingml/2006/main">
            <a:off x="742950" y="4486275"/>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connections recreated</a:t>
            </a:r>
          </a:p>
        </p:txBody>
      </p:sp>
      <p:sp>
        <p:nvSpPr>
          <p:cNvPr id="22" name="22-table-cell-bg">
            <a:extLst xmlns:a="http://schemas.openxmlformats.org/drawingml/2006/main">
              <a:ext uri="{FF2B5EF4-FFF2-40B4-BE49-F238E27FC236}">
                <a16:creationId xmlns:a16="http://schemas.microsoft.com/office/drawing/2014/main" id="{A4D51284-6704-4993-BEC9-E26CECF8E034}"/>
              </a:ext>
            </a:extLst>
          </p:cNvPr>
          <p:cNvSpPr>
            <a:spLocks xmlns:a="http://schemas.openxmlformats.org/drawingml/2006/main" noGrp="1"/>
          </p:cNvSpPr>
          <p:nvPr/>
        </p:nvSpPr>
        <p:spPr>
          <a:xfrm xmlns:a="http://schemas.openxmlformats.org/drawingml/2006/main">
            <a:off x="6096000" y="4419600"/>
            <a:ext cx="5486400" cy="638175"/>
          </a:xfrm>
          <a:prstGeom xmlns:a="http://schemas.openxmlformats.org/drawingml/2006/main" prst="rect">
            <a:avLst/>
          </a:prstGeom>
          <a:solidFill xmlns:a="http://schemas.openxmlformats.org/drawingml/2006/main">
            <a:srgbClr val="F5F0E8"/>
          </a:solidFill>
          <a:ln xmlns:a="http://schemas.openxmlformats.org/drawingml/2006/main" w="9525">
            <a:solidFill>
              <a:srgbClr val="EDE5D8"/>
            </a:solidFill>
            <a:prstDash val="solid"/>
          </a:ln>
        </p:spPr>
      </p:sp>
      <p:sp>
        <p:nvSpPr>
          <p:cNvPr id="23" name="23-table-cell">
            <a:extLst xmlns:a="http://schemas.openxmlformats.org/drawingml/2006/main">
              <a:ext uri="{FF2B5EF4-FFF2-40B4-BE49-F238E27FC236}">
                <a16:creationId xmlns:a16="http://schemas.microsoft.com/office/drawing/2014/main" id="{62464C0F-CF88-4621-8E02-308E2C6E6A43}"/>
              </a:ext>
            </a:extLst>
          </p:cNvPr>
          <p:cNvSpPr>
            <a:spLocks xmlns:a="http://schemas.openxmlformats.org/drawingml/2006/main" noGrp="1"/>
          </p:cNvSpPr>
          <p:nvPr/>
        </p:nvSpPr>
        <p:spPr>
          <a:xfrm xmlns:a="http://schemas.openxmlformats.org/drawingml/2006/main">
            <a:off x="6229350" y="4486275"/>
            <a:ext cx="521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i="0">
                <a:solidFill>
                  <a:srgbClr val="1F1A14"/>
                </a:solidFill>
                <a:latin typeface="Geist"/>
                <a:ea typeface="Geist"/>
                <a:cs typeface="Geist"/>
              </a:defRPr>
            </a:pPr>
            <a:r>
              <a:rPr sz="1650" b="0" i="0">
                <a:solidFill>
                  <a:srgbClr val="1F1A14"/>
                </a:solidFill>
                <a:latin typeface="Geist"/>
                <a:ea typeface="Geist"/>
                <a:cs typeface="Geist"/>
              </a:rPr>
              <a:t>connections recreated</a:t>
            </a:r>
          </a:p>
        </p:txBody>
      </p:sp>
      <p:sp>
        <p:nvSpPr>
          <p:cNvPr id="24" name="24-copy-warning">
            <a:extLst xmlns:a="http://schemas.openxmlformats.org/drawingml/2006/main">
              <a:ext uri="{FF2B5EF4-FFF2-40B4-BE49-F238E27FC236}">
                <a16:creationId xmlns:a16="http://schemas.microsoft.com/office/drawing/2014/main" id="{5F196FED-D337-4480-84C4-B4B84DC0157B}"/>
              </a:ext>
            </a:extLst>
          </p:cNvPr>
          <p:cNvSpPr>
            <a:spLocks xmlns:a="http://schemas.openxmlformats.org/drawingml/2006/main" noGrp="1"/>
          </p:cNvSpPr>
          <p:nvPr/>
        </p:nvSpPr>
        <p:spPr>
          <a:xfrm xmlns:a="http://schemas.openxmlformats.org/drawingml/2006/main">
            <a:off x="1714500" y="52387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i="1">
                <a:solidFill>
                  <a:srgbClr val="C4581A"/>
                </a:solidFill>
                <a:latin typeface="Fraunces 9pt"/>
                <a:ea typeface="Fraunces 9pt"/>
                <a:cs typeface="Fraunces 9pt"/>
              </a:defRPr>
            </a:pPr>
            <a:r>
              <a:rPr sz="1725" b="0" i="1">
                <a:solidFill>
                  <a:srgbClr val="C4581A"/>
                </a:solidFill>
                <a:latin typeface="Fraunces 9pt"/>
                <a:ea typeface="Fraunces 9pt"/>
                <a:cs typeface="Fraunces 9pt"/>
              </a:rPr>
              <a:t>Raw blueprint stays private. Use an official Make link—or withhold cloning.</a:t>
            </a:r>
          </a:p>
        </p:txBody>
      </p:sp>
      <p:sp>
        <p:nvSpPr>
          <p:cNvPr id="25" name="25-footer-rule">
            <a:extLst xmlns:a="http://schemas.openxmlformats.org/drawingml/2006/main">
              <a:ext uri="{FF2B5EF4-FFF2-40B4-BE49-F238E27FC236}">
                <a16:creationId xmlns:a16="http://schemas.microsoft.com/office/drawing/2014/main" id="{2338F4E2-D5C5-41D8-A4A7-C5711124C8A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6" name="26-footer-left">
            <a:extLst xmlns:a="http://schemas.openxmlformats.org/drawingml/2006/main">
              <a:ext uri="{FF2B5EF4-FFF2-40B4-BE49-F238E27FC236}">
                <a16:creationId xmlns:a16="http://schemas.microsoft.com/office/drawing/2014/main" id="{D72C6C23-99C3-45E3-AAC6-434728F1162D}"/>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01:41-01:44</a:t>
            </a:r>
          </a:p>
        </p:txBody>
      </p:sp>
      <p:sp>
        <p:nvSpPr>
          <p:cNvPr id="27" name="27-footer-right">
            <a:extLst xmlns:a="http://schemas.openxmlformats.org/drawingml/2006/main">
              <a:ext uri="{FF2B5EF4-FFF2-40B4-BE49-F238E27FC236}">
                <a16:creationId xmlns:a16="http://schemas.microsoft.com/office/drawing/2014/main" id="{64B12296-1836-4758-A9D6-4136596D0474}"/>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22 / 27</a:t>
            </a:r>
          </a:p>
        </p:txBody>
      </p:sp>
    </p:spTree>
    <p:extLst>
      <p:ext uri="{BB962C8B-B14F-4D97-AF65-F5344CB8AC3E}">
        <p14:creationId xmlns:p14="http://schemas.microsoft.com/office/powerpoint/2010/main" val="16691102"/>
      </p:ext>
    </p:extLst>
  </p:cSld>
</p:sld>
</file>

<file path=ppt/slides/slide23.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0" name="01-kicker">
            <a:extLst xmlns:a="http://schemas.openxmlformats.org/drawingml/2006/main">
              <a:ext uri="{FF2B5EF4-FFF2-40B4-BE49-F238E27FC236}">
                <a16:creationId xmlns:a16="http://schemas.microsoft.com/office/drawing/2014/main" id="{73C48890-B963-47B1-95D4-CF638893FFC6}"/>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SIX DIFFERENT TRUST QUESTIONS</a:t>
            </a:r>
          </a:p>
        </p:txBody>
      </p:sp>
      <p:sp>
        <p:nvSpPr>
          <p:cNvPr id="2" name="02-title">
            <a:extLst xmlns:a="http://schemas.openxmlformats.org/drawingml/2006/main">
              <a:ext uri="{FF2B5EF4-FFF2-40B4-BE49-F238E27FC236}">
                <a16:creationId xmlns:a16="http://schemas.microsoft.com/office/drawing/2014/main" id="{15EE4EE8-4D83-4211-83CD-2B0802F085C4}"/>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The evidence bundle</a:t>
            </a:r>
          </a:p>
        </p:txBody>
      </p:sp>
      <p:sp>
        <p:nvSpPr>
          <p:cNvPr id="3" name="03-title-rule">
            <a:extLst xmlns:a="http://schemas.openxmlformats.org/drawingml/2006/main">
              <a:ext uri="{FF2B5EF4-FFF2-40B4-BE49-F238E27FC236}">
                <a16:creationId xmlns:a16="http://schemas.microsoft.com/office/drawing/2014/main" id="{5D92CE8C-BF08-48AB-8473-A1AA8BAE5931}"/>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bullet-marker">
            <a:extLst xmlns:a="http://schemas.openxmlformats.org/drawingml/2006/main">
              <a:ext uri="{FF2B5EF4-FFF2-40B4-BE49-F238E27FC236}">
                <a16:creationId xmlns:a16="http://schemas.microsoft.com/office/drawing/2014/main" id="{F1D9B6D9-AE48-4292-8CD4-A55BB30A06F9}"/>
              </a:ext>
            </a:extLst>
          </p:cNvPr>
          <p:cNvSpPr>
            <a:spLocks xmlns:a="http://schemas.openxmlformats.org/drawingml/2006/main" noGrp="1"/>
          </p:cNvSpPr>
          <p:nvPr/>
        </p:nvSpPr>
        <p:spPr>
          <a:xfrm xmlns:a="http://schemas.openxmlformats.org/drawingml/2006/main">
            <a:off x="1066800" y="180975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01</a:t>
            </a:r>
          </a:p>
        </p:txBody>
      </p:sp>
      <p:sp>
        <p:nvSpPr>
          <p:cNvPr id="5" name="05-bullet-copy">
            <a:extLst xmlns:a="http://schemas.openxmlformats.org/drawingml/2006/main">
              <a:ext uri="{FF2B5EF4-FFF2-40B4-BE49-F238E27FC236}">
                <a16:creationId xmlns:a16="http://schemas.microsoft.com/office/drawing/2014/main" id="{1BA09D78-035A-42A2-824B-C82F8BD601D3}"/>
              </a:ext>
            </a:extLst>
          </p:cNvPr>
          <p:cNvSpPr>
            <a:spLocks xmlns:a="http://schemas.openxmlformats.org/drawingml/2006/main" noGrp="1"/>
          </p:cNvSpPr>
          <p:nvPr/>
        </p:nvSpPr>
        <p:spPr>
          <a:xfrm xmlns:a="http://schemas.openxmlformats.org/drawingml/2006/main">
            <a:off x="1619250" y="1809750"/>
            <a:ext cx="9544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1F1A14"/>
                </a:solidFill>
                <a:latin typeface="Geist"/>
                <a:ea typeface="Geist"/>
                <a:cs typeface="Geist"/>
              </a:defRPr>
            </a:pPr>
            <a:r>
              <a:rPr sz="2025" b="0" i="0">
                <a:solidFill>
                  <a:srgbClr val="1F1A14"/>
                </a:solidFill>
                <a:latin typeface="Geist"/>
                <a:ea typeface="Geist"/>
                <a:cs typeface="Geist"/>
              </a:rPr>
              <a:t>revised flowchart</a:t>
            </a:r>
          </a:p>
        </p:txBody>
      </p:sp>
      <p:sp>
        <p:nvSpPr>
          <p:cNvPr id="6" name="06-bullet-marker">
            <a:extLst xmlns:a="http://schemas.openxmlformats.org/drawingml/2006/main">
              <a:ext uri="{FF2B5EF4-FFF2-40B4-BE49-F238E27FC236}">
                <a16:creationId xmlns:a16="http://schemas.microsoft.com/office/drawing/2014/main" id="{8C15D095-2FD9-4520-87B3-29A7B9E78A3C}"/>
              </a:ext>
            </a:extLst>
          </p:cNvPr>
          <p:cNvSpPr>
            <a:spLocks xmlns:a="http://schemas.openxmlformats.org/drawingml/2006/main" noGrp="1"/>
          </p:cNvSpPr>
          <p:nvPr/>
        </p:nvSpPr>
        <p:spPr>
          <a:xfrm xmlns:a="http://schemas.openxmlformats.org/drawingml/2006/main">
            <a:off x="1066800" y="23622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02</a:t>
            </a:r>
          </a:p>
        </p:txBody>
      </p:sp>
      <p:sp>
        <p:nvSpPr>
          <p:cNvPr id="7" name="07-bullet-copy">
            <a:extLst xmlns:a="http://schemas.openxmlformats.org/drawingml/2006/main">
              <a:ext uri="{FF2B5EF4-FFF2-40B4-BE49-F238E27FC236}">
                <a16:creationId xmlns:a16="http://schemas.microsoft.com/office/drawing/2014/main" id="{185DE5A3-0148-4A61-B1C9-9B7E9587BC6F}"/>
              </a:ext>
            </a:extLst>
          </p:cNvPr>
          <p:cNvSpPr>
            <a:spLocks xmlns:a="http://schemas.openxmlformats.org/drawingml/2006/main" noGrp="1"/>
          </p:cNvSpPr>
          <p:nvPr/>
        </p:nvSpPr>
        <p:spPr>
          <a:xfrm xmlns:a="http://schemas.openxmlformats.org/drawingml/2006/main">
            <a:off x="1619250" y="2362200"/>
            <a:ext cx="9544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1F1A14"/>
                </a:solidFill>
                <a:latin typeface="Geist"/>
                <a:ea typeface="Geist"/>
                <a:cs typeface="Geist"/>
              </a:defRPr>
            </a:pPr>
            <a:r>
              <a:rPr sz="2025" b="0" i="0">
                <a:solidFill>
                  <a:srgbClr val="1F1A14"/>
                </a:solidFill>
                <a:latin typeface="Geist"/>
                <a:ea typeface="Geist"/>
                <a:cs typeface="Geist"/>
              </a:rPr>
              <a:t>blueprint JSON</a:t>
            </a:r>
          </a:p>
        </p:txBody>
      </p:sp>
      <p:sp>
        <p:nvSpPr>
          <p:cNvPr id="8" name="08-bullet-marker">
            <a:extLst xmlns:a="http://schemas.openxmlformats.org/drawingml/2006/main">
              <a:ext uri="{FF2B5EF4-FFF2-40B4-BE49-F238E27FC236}">
                <a16:creationId xmlns:a16="http://schemas.microsoft.com/office/drawing/2014/main" id="{409B9054-0D7C-4AED-8DDC-394005A9B280}"/>
              </a:ext>
            </a:extLst>
          </p:cNvPr>
          <p:cNvSpPr>
            <a:spLocks xmlns:a="http://schemas.openxmlformats.org/drawingml/2006/main" noGrp="1"/>
          </p:cNvSpPr>
          <p:nvPr/>
        </p:nvSpPr>
        <p:spPr>
          <a:xfrm xmlns:a="http://schemas.openxmlformats.org/drawingml/2006/main">
            <a:off x="1066800" y="291465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03</a:t>
            </a:r>
          </a:p>
        </p:txBody>
      </p:sp>
      <p:sp>
        <p:nvSpPr>
          <p:cNvPr id="9" name="09-bullet-copy">
            <a:extLst xmlns:a="http://schemas.openxmlformats.org/drawingml/2006/main">
              <a:ext uri="{FF2B5EF4-FFF2-40B4-BE49-F238E27FC236}">
                <a16:creationId xmlns:a16="http://schemas.microsoft.com/office/drawing/2014/main" id="{C13A2C0D-67C8-4702-87F8-E1E88AAA486B}"/>
              </a:ext>
            </a:extLst>
          </p:cNvPr>
          <p:cNvSpPr>
            <a:spLocks xmlns:a="http://schemas.openxmlformats.org/drawingml/2006/main" noGrp="1"/>
          </p:cNvSpPr>
          <p:nvPr/>
        </p:nvSpPr>
        <p:spPr>
          <a:xfrm xmlns:a="http://schemas.openxmlformats.org/drawingml/2006/main">
            <a:off x="1619250" y="2914650"/>
            <a:ext cx="9544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1F1A14"/>
                </a:solidFill>
                <a:latin typeface="Geist"/>
                <a:ea typeface="Geist"/>
                <a:cs typeface="Geist"/>
              </a:defRPr>
            </a:pPr>
            <a:r>
              <a:rPr sz="2025" b="0" i="0">
                <a:solidFill>
                  <a:srgbClr val="1F1A14"/>
                </a:solidFill>
                <a:latin typeface="Geist"/>
                <a:ea typeface="Geist"/>
                <a:cs typeface="Geist"/>
              </a:rPr>
              <a:t>redacted run log</a:t>
            </a:r>
          </a:p>
        </p:txBody>
      </p:sp>
      <p:sp>
        <p:nvSpPr>
          <p:cNvPr id="10" name="10-bullet-marker">
            <a:extLst xmlns:a="http://schemas.openxmlformats.org/drawingml/2006/main">
              <a:ext uri="{FF2B5EF4-FFF2-40B4-BE49-F238E27FC236}">
                <a16:creationId xmlns:a16="http://schemas.microsoft.com/office/drawing/2014/main" id="{11079038-2CDA-4F96-A7F3-84C440BD8471}"/>
              </a:ext>
            </a:extLst>
          </p:cNvPr>
          <p:cNvSpPr>
            <a:spLocks xmlns:a="http://schemas.openxmlformats.org/drawingml/2006/main" noGrp="1"/>
          </p:cNvSpPr>
          <p:nvPr/>
        </p:nvSpPr>
        <p:spPr>
          <a:xfrm xmlns:a="http://schemas.openxmlformats.org/drawingml/2006/main">
            <a:off x="1066800" y="34671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04</a:t>
            </a:r>
          </a:p>
        </p:txBody>
      </p:sp>
      <p:sp>
        <p:nvSpPr>
          <p:cNvPr id="11" name="11-bullet-copy">
            <a:extLst xmlns:a="http://schemas.openxmlformats.org/drawingml/2006/main">
              <a:ext uri="{FF2B5EF4-FFF2-40B4-BE49-F238E27FC236}">
                <a16:creationId xmlns:a16="http://schemas.microsoft.com/office/drawing/2014/main" id="{E8005536-8034-46C3-B530-D2CC0D868629}"/>
              </a:ext>
            </a:extLst>
          </p:cNvPr>
          <p:cNvSpPr>
            <a:spLocks xmlns:a="http://schemas.openxmlformats.org/drawingml/2006/main" noGrp="1"/>
          </p:cNvSpPr>
          <p:nvPr/>
        </p:nvSpPr>
        <p:spPr>
          <a:xfrm xmlns:a="http://schemas.openxmlformats.org/drawingml/2006/main">
            <a:off x="1619250" y="3467100"/>
            <a:ext cx="9544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1F1A14"/>
                </a:solidFill>
                <a:latin typeface="Geist"/>
                <a:ea typeface="Geist"/>
                <a:cs typeface="Geist"/>
              </a:defRPr>
            </a:pPr>
            <a:r>
              <a:rPr sz="2025" b="0" i="0">
                <a:solidFill>
                  <a:srgbClr val="1F1A14"/>
                </a:solidFill>
                <a:latin typeface="Geist"/>
                <a:ea typeface="Geist"/>
                <a:cs typeface="Geist"/>
              </a:rPr>
              <a:t>sample output</a:t>
            </a:r>
          </a:p>
        </p:txBody>
      </p:sp>
      <p:sp>
        <p:nvSpPr>
          <p:cNvPr id="12" name="12-bullet-marker">
            <a:extLst xmlns:a="http://schemas.openxmlformats.org/drawingml/2006/main">
              <a:ext uri="{FF2B5EF4-FFF2-40B4-BE49-F238E27FC236}">
                <a16:creationId xmlns:a16="http://schemas.microsoft.com/office/drawing/2014/main" id="{1106EA5E-3884-4DE5-86D8-38369EF9E3EB}"/>
              </a:ext>
            </a:extLst>
          </p:cNvPr>
          <p:cNvSpPr>
            <a:spLocks xmlns:a="http://schemas.openxmlformats.org/drawingml/2006/main" noGrp="1"/>
          </p:cNvSpPr>
          <p:nvPr/>
        </p:nvSpPr>
        <p:spPr>
          <a:xfrm xmlns:a="http://schemas.openxmlformats.org/drawingml/2006/main">
            <a:off x="1066800" y="401955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05</a:t>
            </a:r>
          </a:p>
        </p:txBody>
      </p:sp>
      <p:sp>
        <p:nvSpPr>
          <p:cNvPr id="13" name="13-bullet-copy">
            <a:extLst xmlns:a="http://schemas.openxmlformats.org/drawingml/2006/main">
              <a:ext uri="{FF2B5EF4-FFF2-40B4-BE49-F238E27FC236}">
                <a16:creationId xmlns:a16="http://schemas.microsoft.com/office/drawing/2014/main" id="{F9900372-80CA-4308-B312-15945ED3101C}"/>
              </a:ext>
            </a:extLst>
          </p:cNvPr>
          <p:cNvSpPr>
            <a:spLocks xmlns:a="http://schemas.openxmlformats.org/drawingml/2006/main" noGrp="1"/>
          </p:cNvSpPr>
          <p:nvPr/>
        </p:nvSpPr>
        <p:spPr>
          <a:xfrm xmlns:a="http://schemas.openxmlformats.org/drawingml/2006/main">
            <a:off x="1619250" y="4019550"/>
            <a:ext cx="9544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1F1A14"/>
                </a:solidFill>
                <a:latin typeface="Geist"/>
                <a:ea typeface="Geist"/>
                <a:cs typeface="Geist"/>
              </a:defRPr>
            </a:pPr>
            <a:r>
              <a:rPr sz="2025" b="0" i="0">
                <a:solidFill>
                  <a:srgbClr val="1F1A14"/>
                </a:solidFill>
                <a:latin typeface="Geist"/>
                <a:ea typeface="Geist"/>
                <a:cs typeface="Geist"/>
              </a:rPr>
              <a:t>workflow PNG</a:t>
            </a:r>
          </a:p>
        </p:txBody>
      </p:sp>
      <p:sp>
        <p:nvSpPr>
          <p:cNvPr id="14" name="14-bullet-marker">
            <a:extLst xmlns:a="http://schemas.openxmlformats.org/drawingml/2006/main">
              <a:ext uri="{FF2B5EF4-FFF2-40B4-BE49-F238E27FC236}">
                <a16:creationId xmlns:a16="http://schemas.microsoft.com/office/drawing/2014/main" id="{0687C6C1-86FA-41EF-9B0F-5FFD935B7A6E}"/>
              </a:ext>
            </a:extLst>
          </p:cNvPr>
          <p:cNvSpPr>
            <a:spLocks xmlns:a="http://schemas.openxmlformats.org/drawingml/2006/main" noGrp="1"/>
          </p:cNvSpPr>
          <p:nvPr/>
        </p:nvSpPr>
        <p:spPr>
          <a:xfrm xmlns:a="http://schemas.openxmlformats.org/drawingml/2006/main">
            <a:off x="1066800" y="4572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i="0">
                <a:solidFill>
                  <a:srgbClr val="C4581A"/>
                </a:solidFill>
                <a:latin typeface="Geist Mono"/>
                <a:ea typeface="Geist Mono"/>
                <a:cs typeface="Geist Mono"/>
              </a:defRPr>
            </a:pPr>
            <a:r>
              <a:rPr sz="1350" b="1" i="0">
                <a:solidFill>
                  <a:srgbClr val="C4581A"/>
                </a:solidFill>
                <a:latin typeface="Geist Mono"/>
                <a:ea typeface="Geist Mono"/>
                <a:cs typeface="Geist Mono"/>
              </a:rPr>
              <a:t>06</a:t>
            </a:r>
          </a:p>
        </p:txBody>
      </p:sp>
      <p:sp>
        <p:nvSpPr>
          <p:cNvPr id="15" name="15-bullet-copy">
            <a:extLst xmlns:a="http://schemas.openxmlformats.org/drawingml/2006/main">
              <a:ext uri="{FF2B5EF4-FFF2-40B4-BE49-F238E27FC236}">
                <a16:creationId xmlns:a16="http://schemas.microsoft.com/office/drawing/2014/main" id="{8E7BC5FE-EE9C-4D24-B542-662CB3773789}"/>
              </a:ext>
            </a:extLst>
          </p:cNvPr>
          <p:cNvSpPr>
            <a:spLocks xmlns:a="http://schemas.openxmlformats.org/drawingml/2006/main" noGrp="1"/>
          </p:cNvSpPr>
          <p:nvPr/>
        </p:nvSpPr>
        <p:spPr>
          <a:xfrm xmlns:a="http://schemas.openxmlformats.org/drawingml/2006/main">
            <a:off x="1619250" y="4572000"/>
            <a:ext cx="9544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i="0">
                <a:solidFill>
                  <a:srgbClr val="1F1A14"/>
                </a:solidFill>
                <a:latin typeface="Geist"/>
                <a:ea typeface="Geist"/>
                <a:cs typeface="Geist"/>
              </a:defRPr>
            </a:pPr>
            <a:r>
              <a:rPr sz="2025" b="0" i="0">
                <a:solidFill>
                  <a:srgbClr val="1F1A14"/>
                </a:solidFill>
                <a:latin typeface="Geist"/>
                <a:ea typeface="Geist"/>
                <a:cs typeface="Geist"/>
              </a:rPr>
              <a:t>limitation + change note</a:t>
            </a:r>
          </a:p>
        </p:txBody>
      </p:sp>
      <p:sp>
        <p:nvSpPr>
          <p:cNvPr id="16" name="16-evidence-optional">
            <a:extLst xmlns:a="http://schemas.openxmlformats.org/drawingml/2006/main">
              <a:ext uri="{FF2B5EF4-FFF2-40B4-BE49-F238E27FC236}">
                <a16:creationId xmlns:a16="http://schemas.microsoft.com/office/drawing/2014/main" id="{95469CE0-6D7D-4D52-9971-51565265C5D9}"/>
              </a:ext>
            </a:extLst>
          </p:cNvPr>
          <p:cNvSpPr>
            <a:spLocks xmlns:a="http://schemas.openxmlformats.org/drawingml/2006/main" noGrp="1"/>
          </p:cNvSpPr>
          <p:nvPr/>
        </p:nvSpPr>
        <p:spPr>
          <a:xfrm xmlns:a="http://schemas.openxmlformats.org/drawingml/2006/main">
            <a:off x="5334000" y="51435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Blueprint = private · official Make link = optional public clone</a:t>
            </a:r>
          </a:p>
        </p:txBody>
      </p:sp>
      <p:sp>
        <p:nvSpPr>
          <p:cNvPr id="17" name="17-footer-rule">
            <a:extLst xmlns:a="http://schemas.openxmlformats.org/drawingml/2006/main">
              <a:ext uri="{FF2B5EF4-FFF2-40B4-BE49-F238E27FC236}">
                <a16:creationId xmlns:a16="http://schemas.microsoft.com/office/drawing/2014/main" id="{B5BC7C8F-EC04-4158-89A0-91A309E218B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8" name="18-footer-left">
            <a:extLst xmlns:a="http://schemas.openxmlformats.org/drawingml/2006/main">
              <a:ext uri="{FF2B5EF4-FFF2-40B4-BE49-F238E27FC236}">
                <a16:creationId xmlns:a16="http://schemas.microsoft.com/office/drawing/2014/main" id="{5B4DA89A-8B0B-4F1A-9C84-7C68F316FD52}"/>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01:44-01:48</a:t>
            </a:r>
          </a:p>
        </p:txBody>
      </p:sp>
      <p:sp>
        <p:nvSpPr>
          <p:cNvPr id="19" name="19-footer-right">
            <a:extLst xmlns:a="http://schemas.openxmlformats.org/drawingml/2006/main">
              <a:ext uri="{FF2B5EF4-FFF2-40B4-BE49-F238E27FC236}">
                <a16:creationId xmlns:a16="http://schemas.microsoft.com/office/drawing/2014/main" id="{4424E800-3DF4-4A75-A7BB-91BC09692772}"/>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23 / 27</a:t>
            </a:r>
          </a:p>
        </p:txBody>
      </p:sp>
    </p:spTree>
    <p:extLst>
      <p:ext uri="{BB962C8B-B14F-4D97-AF65-F5344CB8AC3E}">
        <p14:creationId xmlns:p14="http://schemas.microsoft.com/office/powerpoint/2010/main" val="1221589335"/>
      </p:ext>
    </p:extLst>
  </p:cSld>
</p:sld>
</file>

<file path=ppt/slides/slide24.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25" name="01-kicker">
            <a:extLst xmlns:a="http://schemas.openxmlformats.org/drawingml/2006/main">
              <a:ext uri="{FF2B5EF4-FFF2-40B4-BE49-F238E27FC236}">
                <a16:creationId xmlns:a16="http://schemas.microsoft.com/office/drawing/2014/main" id="{685E33E1-51C5-4E20-9FB9-3802E0BAA965}"/>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BLUEPRINT · LOG · NOTES · URLS · PNG · OUTPUT</a:t>
            </a:r>
          </a:p>
        </p:txBody>
      </p:sp>
      <p:sp>
        <p:nvSpPr>
          <p:cNvPr id="2" name="02-title">
            <a:extLst xmlns:a="http://schemas.openxmlformats.org/drawingml/2006/main">
              <a:ext uri="{FF2B5EF4-FFF2-40B4-BE49-F238E27FC236}">
                <a16:creationId xmlns:a16="http://schemas.microsoft.com/office/drawing/2014/main" id="{D547D9DA-D34A-48B6-992B-EB7DACA0314D}"/>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Scrub before you share</a:t>
            </a:r>
          </a:p>
        </p:txBody>
      </p:sp>
      <p:sp>
        <p:nvSpPr>
          <p:cNvPr id="3" name="03-title-rule">
            <a:extLst xmlns:a="http://schemas.openxmlformats.org/drawingml/2006/main">
              <a:ext uri="{FF2B5EF4-FFF2-40B4-BE49-F238E27FC236}">
                <a16:creationId xmlns:a16="http://schemas.microsoft.com/office/drawing/2014/main" id="{D94C303A-7626-44E1-AC31-66E7C32BB885}"/>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scrub-prompt">
            <a:extLst xmlns:a="http://schemas.openxmlformats.org/drawingml/2006/main">
              <a:ext uri="{FF2B5EF4-FFF2-40B4-BE49-F238E27FC236}">
                <a16:creationId xmlns:a16="http://schemas.microsoft.com/office/drawing/2014/main" id="{0D427798-691F-4DA1-827B-F4E9FBEF830E}"/>
              </a:ext>
            </a:extLst>
          </p:cNvPr>
          <p:cNvSpPr>
            <a:spLocks xmlns:a="http://schemas.openxmlformats.org/drawingml/2006/main" noGrp="1"/>
          </p:cNvSpPr>
          <p:nvPr/>
        </p:nvSpPr>
        <p:spPr>
          <a:xfrm xmlns:a="http://schemas.openxmlformats.org/drawingml/2006/main">
            <a:off x="1333500" y="20764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625" b="1" i="0">
                <a:solidFill>
                  <a:srgbClr val="1F1A14"/>
                </a:solidFill>
                <a:latin typeface="Fraunces 9pt"/>
                <a:ea typeface="Fraunces 9pt"/>
                <a:cs typeface="Fraunces 9pt"/>
              </a:defRPr>
            </a:pPr>
            <a:r>
              <a:rPr sz="2625" b="1" i="0">
                <a:solidFill>
                  <a:srgbClr val="1F1A14"/>
                </a:solidFill>
                <a:latin typeface="Fraunces 9pt"/>
                <a:ea typeface="Fraunces 9pt"/>
                <a:cs typeface="Fraunces 9pt"/>
              </a:rPr>
              <a:t>Search every artifact for:</a:t>
            </a:r>
          </a:p>
        </p:txBody>
      </p:sp>
      <p:sp>
        <p:nvSpPr>
          <p:cNvPr id="5" name="05-scrub-term-bg">
            <a:extLst xmlns:a="http://schemas.openxmlformats.org/drawingml/2006/main">
              <a:ext uri="{FF2B5EF4-FFF2-40B4-BE49-F238E27FC236}">
                <a16:creationId xmlns:a16="http://schemas.microsoft.com/office/drawing/2014/main" id="{3CB20192-CDBE-43DC-A805-CAFAE3A9DFBD}"/>
              </a:ext>
            </a:extLst>
          </p:cNvPr>
          <p:cNvSpPr>
            <a:spLocks xmlns:a="http://schemas.openxmlformats.org/drawingml/2006/main" noGrp="1"/>
          </p:cNvSpPr>
          <p:nvPr/>
        </p:nvSpPr>
        <p:spPr>
          <a:xfrm xmlns:a="http://schemas.openxmlformats.org/drawingml/2006/main">
            <a:off x="1200150" y="2990850"/>
            <a:ext cx="2247900" cy="723900"/>
          </a:xfrm>
          <a:prstGeom xmlns:a="http://schemas.openxmlformats.org/drawingml/2006/main" prst="rect">
            <a:avLst/>
          </a:prstGeom>
          <a:solidFill xmlns:a="http://schemas.openxmlformats.org/drawingml/2006/main">
            <a:srgbClr val="C4581A"/>
          </a:solidFill>
          <a:ln xmlns:a="http://schemas.openxmlformats.org/drawingml/2006/main" w="0">
            <a:noFill/>
            <a:prstDash val="solid"/>
          </a:ln>
        </p:spPr>
      </p:sp>
      <p:sp>
        <p:nvSpPr>
          <p:cNvPr id="6" name="06-scrub-term">
            <a:extLst xmlns:a="http://schemas.openxmlformats.org/drawingml/2006/main">
              <a:ext uri="{FF2B5EF4-FFF2-40B4-BE49-F238E27FC236}">
                <a16:creationId xmlns:a16="http://schemas.microsoft.com/office/drawing/2014/main" id="{139222A5-34E1-48B4-ADE2-6DC654169D34}"/>
              </a:ext>
            </a:extLst>
          </p:cNvPr>
          <p:cNvSpPr>
            <a:spLocks xmlns:a="http://schemas.openxmlformats.org/drawingml/2006/main" noGrp="1"/>
          </p:cNvSpPr>
          <p:nvPr/>
        </p:nvSpPr>
        <p:spPr>
          <a:xfrm xmlns:a="http://schemas.openxmlformats.org/drawingml/2006/main">
            <a:off x="1295400" y="31242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a:t>
            </a:r>
          </a:p>
        </p:txBody>
      </p:sp>
      <p:sp>
        <p:nvSpPr>
          <p:cNvPr id="7" name="07-scrub-term-bg">
            <a:extLst xmlns:a="http://schemas.openxmlformats.org/drawingml/2006/main">
              <a:ext uri="{FF2B5EF4-FFF2-40B4-BE49-F238E27FC236}">
                <a16:creationId xmlns:a16="http://schemas.microsoft.com/office/drawing/2014/main" id="{7034743A-876A-4418-87E8-13200813E8B8}"/>
              </a:ext>
            </a:extLst>
          </p:cNvPr>
          <p:cNvSpPr>
            <a:spLocks xmlns:a="http://schemas.openxmlformats.org/drawingml/2006/main" noGrp="1"/>
          </p:cNvSpPr>
          <p:nvPr/>
        </p:nvSpPr>
        <p:spPr>
          <a:xfrm xmlns:a="http://schemas.openxmlformats.org/drawingml/2006/main">
            <a:off x="3714750" y="29908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8" name="08-scrub-term">
            <a:extLst xmlns:a="http://schemas.openxmlformats.org/drawingml/2006/main">
              <a:ext uri="{FF2B5EF4-FFF2-40B4-BE49-F238E27FC236}">
                <a16:creationId xmlns:a16="http://schemas.microsoft.com/office/drawing/2014/main" id="{86E49E9E-6702-4BE3-BB6E-FA71B7CF0834}"/>
              </a:ext>
            </a:extLst>
          </p:cNvPr>
          <p:cNvSpPr>
            <a:spLocks xmlns:a="http://schemas.openxmlformats.org/drawingml/2006/main" noGrp="1"/>
          </p:cNvSpPr>
          <p:nvPr/>
        </p:nvSpPr>
        <p:spPr>
          <a:xfrm xmlns:a="http://schemas.openxmlformats.org/drawingml/2006/main">
            <a:off x="3810000" y="31242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token</a:t>
            </a:r>
          </a:p>
        </p:txBody>
      </p:sp>
      <p:sp>
        <p:nvSpPr>
          <p:cNvPr id="9" name="09-scrub-term-bg">
            <a:extLst xmlns:a="http://schemas.openxmlformats.org/drawingml/2006/main">
              <a:ext uri="{FF2B5EF4-FFF2-40B4-BE49-F238E27FC236}">
                <a16:creationId xmlns:a16="http://schemas.microsoft.com/office/drawing/2014/main" id="{16D64283-E67C-416A-A500-2627EFF90C98}"/>
              </a:ext>
            </a:extLst>
          </p:cNvPr>
          <p:cNvSpPr>
            <a:spLocks xmlns:a="http://schemas.openxmlformats.org/drawingml/2006/main" noGrp="1"/>
          </p:cNvSpPr>
          <p:nvPr/>
        </p:nvSpPr>
        <p:spPr>
          <a:xfrm xmlns:a="http://schemas.openxmlformats.org/drawingml/2006/main">
            <a:off x="6229350" y="29908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10" name="10-scrub-term">
            <a:extLst xmlns:a="http://schemas.openxmlformats.org/drawingml/2006/main">
              <a:ext uri="{FF2B5EF4-FFF2-40B4-BE49-F238E27FC236}">
                <a16:creationId xmlns:a16="http://schemas.microsoft.com/office/drawing/2014/main" id="{4EA5E314-D799-4882-91EF-ED43D1876E70}"/>
              </a:ext>
            </a:extLst>
          </p:cNvPr>
          <p:cNvSpPr>
            <a:spLocks xmlns:a="http://schemas.openxmlformats.org/drawingml/2006/main" noGrp="1"/>
          </p:cNvSpPr>
          <p:nvPr/>
        </p:nvSpPr>
        <p:spPr>
          <a:xfrm xmlns:a="http://schemas.openxmlformats.org/drawingml/2006/main">
            <a:off x="6324600" y="31242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key</a:t>
            </a:r>
          </a:p>
        </p:txBody>
      </p:sp>
      <p:sp>
        <p:nvSpPr>
          <p:cNvPr id="11" name="11-scrub-term-bg">
            <a:extLst xmlns:a="http://schemas.openxmlformats.org/drawingml/2006/main">
              <a:ext uri="{FF2B5EF4-FFF2-40B4-BE49-F238E27FC236}">
                <a16:creationId xmlns:a16="http://schemas.microsoft.com/office/drawing/2014/main" id="{19EED28F-0848-460A-BEE7-5ECDAA6394FF}"/>
              </a:ext>
            </a:extLst>
          </p:cNvPr>
          <p:cNvSpPr>
            <a:spLocks xmlns:a="http://schemas.openxmlformats.org/drawingml/2006/main" noGrp="1"/>
          </p:cNvSpPr>
          <p:nvPr/>
        </p:nvSpPr>
        <p:spPr>
          <a:xfrm xmlns:a="http://schemas.openxmlformats.org/drawingml/2006/main">
            <a:off x="8743950" y="29908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12" name="12-scrub-term">
            <a:extLst xmlns:a="http://schemas.openxmlformats.org/drawingml/2006/main">
              <a:ext uri="{FF2B5EF4-FFF2-40B4-BE49-F238E27FC236}">
                <a16:creationId xmlns:a16="http://schemas.microsoft.com/office/drawing/2014/main" id="{C865C73C-A4D0-4D93-B6AF-24AB0DE64455}"/>
              </a:ext>
            </a:extLst>
          </p:cNvPr>
          <p:cNvSpPr>
            <a:spLocks xmlns:a="http://schemas.openxmlformats.org/drawingml/2006/main" noGrp="1"/>
          </p:cNvSpPr>
          <p:nvPr/>
        </p:nvSpPr>
        <p:spPr>
          <a:xfrm xmlns:a="http://schemas.openxmlformats.org/drawingml/2006/main">
            <a:off x="8839200" y="31242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secret</a:t>
            </a:r>
          </a:p>
        </p:txBody>
      </p:sp>
      <p:sp>
        <p:nvSpPr>
          <p:cNvPr id="13" name="13-scrub-term-bg">
            <a:extLst xmlns:a="http://schemas.openxmlformats.org/drawingml/2006/main">
              <a:ext uri="{FF2B5EF4-FFF2-40B4-BE49-F238E27FC236}">
                <a16:creationId xmlns:a16="http://schemas.microsoft.com/office/drawing/2014/main" id="{D1546F66-0D7C-4E49-B8B5-175ED3FC6B38}"/>
              </a:ext>
            </a:extLst>
          </p:cNvPr>
          <p:cNvSpPr>
            <a:spLocks xmlns:a="http://schemas.openxmlformats.org/drawingml/2006/main" noGrp="1"/>
          </p:cNvSpPr>
          <p:nvPr/>
        </p:nvSpPr>
        <p:spPr>
          <a:xfrm xmlns:a="http://schemas.openxmlformats.org/drawingml/2006/main">
            <a:off x="1200150" y="39814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14" name="14-scrub-term">
            <a:extLst xmlns:a="http://schemas.openxmlformats.org/drawingml/2006/main">
              <a:ext uri="{FF2B5EF4-FFF2-40B4-BE49-F238E27FC236}">
                <a16:creationId xmlns:a16="http://schemas.microsoft.com/office/drawing/2014/main" id="{8241860D-6107-4BD7-A822-C5C7D6406677}"/>
              </a:ext>
            </a:extLst>
          </p:cNvPr>
          <p:cNvSpPr>
            <a:spLocks xmlns:a="http://schemas.openxmlformats.org/drawingml/2006/main" noGrp="1"/>
          </p:cNvSpPr>
          <p:nvPr/>
        </p:nvSpPr>
        <p:spPr>
          <a:xfrm xmlns:a="http://schemas.openxmlformats.org/drawingml/2006/main">
            <a:off x="1295400" y="41148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webhook</a:t>
            </a:r>
          </a:p>
        </p:txBody>
      </p:sp>
      <p:sp>
        <p:nvSpPr>
          <p:cNvPr id="15" name="15-scrub-term-bg">
            <a:extLst xmlns:a="http://schemas.openxmlformats.org/drawingml/2006/main">
              <a:ext uri="{FF2B5EF4-FFF2-40B4-BE49-F238E27FC236}">
                <a16:creationId xmlns:a16="http://schemas.microsoft.com/office/drawing/2014/main" id="{3EE2A454-B46A-4F22-8DDB-D1656325E35C}"/>
              </a:ext>
            </a:extLst>
          </p:cNvPr>
          <p:cNvSpPr>
            <a:spLocks xmlns:a="http://schemas.openxmlformats.org/drawingml/2006/main" noGrp="1"/>
          </p:cNvSpPr>
          <p:nvPr/>
        </p:nvSpPr>
        <p:spPr>
          <a:xfrm xmlns:a="http://schemas.openxmlformats.org/drawingml/2006/main">
            <a:off x="3714750" y="39814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16" name="16-scrub-term">
            <a:extLst xmlns:a="http://schemas.openxmlformats.org/drawingml/2006/main">
              <a:ext uri="{FF2B5EF4-FFF2-40B4-BE49-F238E27FC236}">
                <a16:creationId xmlns:a16="http://schemas.microsoft.com/office/drawing/2014/main" id="{F081D83C-571B-44C1-B112-E15627C223C1}"/>
              </a:ext>
            </a:extLst>
          </p:cNvPr>
          <p:cNvSpPr>
            <a:spLocks xmlns:a="http://schemas.openxmlformats.org/drawingml/2006/main" noGrp="1"/>
          </p:cNvSpPr>
          <p:nvPr/>
        </p:nvSpPr>
        <p:spPr>
          <a:xfrm xmlns:a="http://schemas.openxmlformats.org/drawingml/2006/main">
            <a:off x="3810000" y="41148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bearer</a:t>
            </a:r>
          </a:p>
        </p:txBody>
      </p:sp>
      <p:sp>
        <p:nvSpPr>
          <p:cNvPr id="17" name="17-scrub-term-bg">
            <a:extLst xmlns:a="http://schemas.openxmlformats.org/drawingml/2006/main">
              <a:ext uri="{FF2B5EF4-FFF2-40B4-BE49-F238E27FC236}">
                <a16:creationId xmlns:a16="http://schemas.microsoft.com/office/drawing/2014/main" id="{63F5A742-45A5-4C7C-B8E9-B8DAC2475615}"/>
              </a:ext>
            </a:extLst>
          </p:cNvPr>
          <p:cNvSpPr>
            <a:spLocks xmlns:a="http://schemas.openxmlformats.org/drawingml/2006/main" noGrp="1"/>
          </p:cNvSpPr>
          <p:nvPr/>
        </p:nvSpPr>
        <p:spPr>
          <a:xfrm xmlns:a="http://schemas.openxmlformats.org/drawingml/2006/main">
            <a:off x="6229350" y="39814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18" name="18-scrub-term">
            <a:extLst xmlns:a="http://schemas.openxmlformats.org/drawingml/2006/main">
              <a:ext uri="{FF2B5EF4-FFF2-40B4-BE49-F238E27FC236}">
                <a16:creationId xmlns:a16="http://schemas.microsoft.com/office/drawing/2014/main" id="{C83BE672-4F9C-4F8C-8D0F-0385BEAE9ADB}"/>
              </a:ext>
            </a:extLst>
          </p:cNvPr>
          <p:cNvSpPr>
            <a:spLocks xmlns:a="http://schemas.openxmlformats.org/drawingml/2006/main" noGrp="1"/>
          </p:cNvSpPr>
          <p:nvPr/>
        </p:nvSpPr>
        <p:spPr>
          <a:xfrm xmlns:a="http://schemas.openxmlformats.org/drawingml/2006/main">
            <a:off x="6324600" y="41148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customer</a:t>
            </a:r>
          </a:p>
        </p:txBody>
      </p:sp>
      <p:sp>
        <p:nvSpPr>
          <p:cNvPr id="19" name="19-scrub-term-bg">
            <a:extLst xmlns:a="http://schemas.openxmlformats.org/drawingml/2006/main">
              <a:ext uri="{FF2B5EF4-FFF2-40B4-BE49-F238E27FC236}">
                <a16:creationId xmlns:a16="http://schemas.microsoft.com/office/drawing/2014/main" id="{D36327F5-8053-4F81-9695-E5CA4263DAA5}"/>
              </a:ext>
            </a:extLst>
          </p:cNvPr>
          <p:cNvSpPr>
            <a:spLocks xmlns:a="http://schemas.openxmlformats.org/drawingml/2006/main" noGrp="1"/>
          </p:cNvSpPr>
          <p:nvPr/>
        </p:nvSpPr>
        <p:spPr>
          <a:xfrm xmlns:a="http://schemas.openxmlformats.org/drawingml/2006/main">
            <a:off x="8743950" y="3981450"/>
            <a:ext cx="2247900" cy="723900"/>
          </a:xfrm>
          <a:prstGeom xmlns:a="http://schemas.openxmlformats.org/drawingml/2006/main" prst="rect">
            <a:avLst/>
          </a:prstGeom>
          <a:solidFill xmlns:a="http://schemas.openxmlformats.org/drawingml/2006/main">
            <a:srgbClr val="1E3A35"/>
          </a:solidFill>
          <a:ln xmlns:a="http://schemas.openxmlformats.org/drawingml/2006/main" w="0">
            <a:noFill/>
            <a:prstDash val="solid"/>
          </a:ln>
        </p:spPr>
      </p:sp>
      <p:sp>
        <p:nvSpPr>
          <p:cNvPr id="20" name="20-scrub-term">
            <a:extLst xmlns:a="http://schemas.openxmlformats.org/drawingml/2006/main">
              <a:ext uri="{FF2B5EF4-FFF2-40B4-BE49-F238E27FC236}">
                <a16:creationId xmlns:a16="http://schemas.microsoft.com/office/drawing/2014/main" id="{AC7379B2-BD13-4702-807C-3F5AE3B61BC7}"/>
              </a:ext>
            </a:extLst>
          </p:cNvPr>
          <p:cNvSpPr>
            <a:spLocks xmlns:a="http://schemas.openxmlformats.org/drawingml/2006/main" noGrp="1"/>
          </p:cNvSpPr>
          <p:nvPr/>
        </p:nvSpPr>
        <p:spPr>
          <a:xfrm xmlns:a="http://schemas.openxmlformats.org/drawingml/2006/main">
            <a:off x="8839200" y="4114800"/>
            <a:ext cx="2057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F5F0E8"/>
                </a:solidFill>
                <a:latin typeface="Geist Mono"/>
                <a:ea typeface="Geist Mono"/>
                <a:cs typeface="Geist Mono"/>
              </a:defRPr>
            </a:pPr>
            <a:r>
              <a:rPr sz="1650" b="1" i="0">
                <a:solidFill>
                  <a:srgbClr val="F5F0E8"/>
                </a:solidFill>
                <a:latin typeface="Geist Mono"/>
                <a:ea typeface="Geist Mono"/>
                <a:cs typeface="Geist Mono"/>
              </a:rPr>
              <a:t>phone</a:t>
            </a:r>
          </a:p>
        </p:txBody>
      </p:sp>
      <p:sp>
        <p:nvSpPr>
          <p:cNvPr id="21" name="21-scrub-note">
            <a:extLst xmlns:a="http://schemas.openxmlformats.org/drawingml/2006/main">
              <a:ext uri="{FF2B5EF4-FFF2-40B4-BE49-F238E27FC236}">
                <a16:creationId xmlns:a16="http://schemas.microsoft.com/office/drawing/2014/main" id="{2CCB8781-1C0F-41EE-A621-B378AF908947}"/>
              </a:ext>
            </a:extLst>
          </p:cNvPr>
          <p:cNvSpPr>
            <a:spLocks xmlns:a="http://schemas.openxmlformats.org/drawingml/2006/main" noGrp="1"/>
          </p:cNvSpPr>
          <p:nvPr/>
        </p:nvSpPr>
        <p:spPr>
          <a:xfrm xmlns:a="http://schemas.openxmlformats.org/drawingml/2006/main">
            <a:off x="2762250" y="51244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i="1">
                <a:solidFill>
                  <a:srgbClr val="5C5046"/>
                </a:solidFill>
                <a:latin typeface="Geist"/>
                <a:ea typeface="Geist"/>
                <a:cs typeface="Geist"/>
              </a:defRPr>
            </a:pPr>
            <a:r>
              <a:rPr sz="1650" b="0" i="1">
                <a:solidFill>
                  <a:srgbClr val="5C5046"/>
                </a:solidFill>
                <a:latin typeface="Geist"/>
                <a:ea typeface="Geist"/>
                <a:cs typeface="Geist"/>
              </a:rPr>
              <a:t>Patterns are prompts, not complete detection.</a:t>
            </a:r>
          </a:p>
        </p:txBody>
      </p:sp>
      <p:sp>
        <p:nvSpPr>
          <p:cNvPr id="22" name="22-footer-rule">
            <a:extLst xmlns:a="http://schemas.openxmlformats.org/drawingml/2006/main">
              <a:ext uri="{FF2B5EF4-FFF2-40B4-BE49-F238E27FC236}">
                <a16:creationId xmlns:a16="http://schemas.microsoft.com/office/drawing/2014/main" id="{74FB8FAA-416A-4F58-A834-1600F07DB79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23" name="23-footer-left">
            <a:extLst xmlns:a="http://schemas.openxmlformats.org/drawingml/2006/main">
              <a:ext uri="{FF2B5EF4-FFF2-40B4-BE49-F238E27FC236}">
                <a16:creationId xmlns:a16="http://schemas.microsoft.com/office/drawing/2014/main" id="{4CC3B222-EB28-4616-BDBA-6343740DD42B}"/>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01:48-01:51</a:t>
            </a:r>
          </a:p>
        </p:txBody>
      </p:sp>
      <p:sp>
        <p:nvSpPr>
          <p:cNvPr id="24" name="24-footer-right">
            <a:extLst xmlns:a="http://schemas.openxmlformats.org/drawingml/2006/main">
              <a:ext uri="{FF2B5EF4-FFF2-40B4-BE49-F238E27FC236}">
                <a16:creationId xmlns:a16="http://schemas.microsoft.com/office/drawing/2014/main" id="{7A3B7B43-338F-4A29-BD71-190DEB193E80}"/>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24 / 27</a:t>
            </a:r>
          </a:p>
        </p:txBody>
      </p:sp>
    </p:spTree>
    <p:extLst>
      <p:ext uri="{BB962C8B-B14F-4D97-AF65-F5344CB8AC3E}">
        <p14:creationId xmlns:p14="http://schemas.microsoft.com/office/powerpoint/2010/main" val="1372823859"/>
      </p:ext>
    </p:extLst>
  </p:cSld>
</p:sld>
</file>

<file path=ppt/slides/slide25.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3" name="01-kicker">
            <a:extLst xmlns:a="http://schemas.openxmlformats.org/drawingml/2006/main">
              <a:ext uri="{FF2B5EF4-FFF2-40B4-BE49-F238E27FC236}">
                <a16:creationId xmlns:a16="http://schemas.microsoft.com/office/drawing/2014/main" id="{800AF0A9-4A4B-47A5-A982-1B8438E2143B}"/>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PUBLIC-SAFE PORTFOLIO SURFACE</a:t>
            </a:r>
          </a:p>
        </p:txBody>
      </p:sp>
      <p:sp>
        <p:nvSpPr>
          <p:cNvPr id="2" name="02-title">
            <a:extLst xmlns:a="http://schemas.openxmlformats.org/drawingml/2006/main">
              <a:ext uri="{FF2B5EF4-FFF2-40B4-BE49-F238E27FC236}">
                <a16:creationId xmlns:a16="http://schemas.microsoft.com/office/drawing/2014/main" id="{D11A89FB-5763-4853-B756-06CB089C0AF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F1A14"/>
                </a:solidFill>
                <a:latin typeface="Fraunces 9pt"/>
                <a:ea typeface="Fraunces 9pt"/>
                <a:cs typeface="Fraunces 9pt"/>
              </a:defRPr>
            </a:pPr>
            <a:r>
              <a:rPr sz="3600" b="1" i="0">
                <a:solidFill>
                  <a:srgbClr val="1F1A14"/>
                </a:solidFill>
                <a:latin typeface="Fraunces 9pt"/>
                <a:ea typeface="Fraunces 9pt"/>
                <a:cs typeface="Fraunces 9pt"/>
              </a:rPr>
              <a:t>A gallery card is not a grade card</a:t>
            </a:r>
          </a:p>
        </p:txBody>
      </p:sp>
      <p:sp>
        <p:nvSpPr>
          <p:cNvPr id="3" name="03-title-rule">
            <a:extLst xmlns:a="http://schemas.openxmlformats.org/drawingml/2006/main">
              <a:ext uri="{FF2B5EF4-FFF2-40B4-BE49-F238E27FC236}">
                <a16:creationId xmlns:a16="http://schemas.microsoft.com/office/drawing/2014/main" id="{A401DC96-9BF1-4794-B58B-C2EE9DB7A3F5}"/>
              </a:ext>
            </a:extLst>
          </p:cNvPr>
          <p:cNvSpPr>
            <a:spLocks xmlns:a="http://schemas.openxmlformats.org/drawingml/2006/main" noGrp="1"/>
          </p:cNvSpPr>
          <p:nvPr/>
        </p:nvSpPr>
        <p:spPr>
          <a:xfrm xmlns:a="http://schemas.openxmlformats.org/drawingml/2006/main">
            <a:off x="609600" y="18478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gallery-card">
            <a:extLst xmlns:a="http://schemas.openxmlformats.org/drawingml/2006/main">
              <a:ext uri="{FF2B5EF4-FFF2-40B4-BE49-F238E27FC236}">
                <a16:creationId xmlns:a16="http://schemas.microsoft.com/office/drawing/2014/main" id="{0CC3DF35-520D-4F85-8724-B0FCEDF2C48D}"/>
              </a:ext>
            </a:extLst>
          </p:cNvPr>
          <p:cNvSpPr>
            <a:spLocks xmlns:a="http://schemas.openxmlformats.org/drawingml/2006/main" noGrp="1"/>
          </p:cNvSpPr>
          <p:nvPr/>
        </p:nvSpPr>
        <p:spPr>
          <a:xfrm xmlns:a="http://schemas.openxmlformats.org/drawingml/2006/main">
            <a:off x="1714500" y="2190750"/>
            <a:ext cx="8763000" cy="3181350"/>
          </a:xfrm>
          <a:prstGeom xmlns:a="http://schemas.openxmlformats.org/drawingml/2006/main" prst="rect">
            <a:avLst/>
          </a:prstGeom>
          <a:solidFill xmlns:a="http://schemas.openxmlformats.org/drawingml/2006/main">
            <a:srgbClr val="FFFFFF"/>
          </a:solidFill>
          <a:ln xmlns:a="http://schemas.openxmlformats.org/drawingml/2006/main" w="19050">
            <a:solidFill>
              <a:srgbClr val="EDE5D8"/>
            </a:solidFill>
            <a:prstDash val="solid"/>
          </a:ln>
        </p:spPr>
      </p:sp>
      <p:sp>
        <p:nvSpPr>
          <p:cNvPr id="5" name="05-workflow-preview">
            <a:extLst xmlns:a="http://schemas.openxmlformats.org/drawingml/2006/main">
              <a:ext uri="{FF2B5EF4-FFF2-40B4-BE49-F238E27FC236}">
                <a16:creationId xmlns:a16="http://schemas.microsoft.com/office/drawing/2014/main" id="{62D8ABD8-4D8D-427D-86E9-3E372A408CE6}"/>
              </a:ext>
            </a:extLst>
          </p:cNvPr>
          <p:cNvSpPr>
            <a:spLocks xmlns:a="http://schemas.openxmlformats.org/drawingml/2006/main" noGrp="1"/>
          </p:cNvSpPr>
          <p:nvPr/>
        </p:nvSpPr>
        <p:spPr>
          <a:xfrm xmlns:a="http://schemas.openxmlformats.org/drawingml/2006/main">
            <a:off x="2095500" y="2476500"/>
            <a:ext cx="3352800" cy="2133600"/>
          </a:xfrm>
          <a:prstGeom xmlns:a="http://schemas.openxmlformats.org/drawingml/2006/main" prst="rect">
            <a:avLst/>
          </a:prstGeom>
          <a:solidFill xmlns:a="http://schemas.openxmlformats.org/drawingml/2006/main">
            <a:srgbClr val="EAF1EE"/>
          </a:solidFill>
          <a:ln xmlns:a="http://schemas.openxmlformats.org/drawingml/2006/main" w="9525">
            <a:solidFill>
              <a:srgbClr val="1E3A35"/>
            </a:solidFill>
            <a:prstDash val="solid"/>
          </a:ln>
        </p:spPr>
      </p:sp>
      <p:sp>
        <p:nvSpPr>
          <p:cNvPr id="6" name="06-workflow-preview-label">
            <a:extLst xmlns:a="http://schemas.openxmlformats.org/drawingml/2006/main">
              <a:ext uri="{FF2B5EF4-FFF2-40B4-BE49-F238E27FC236}">
                <a16:creationId xmlns:a16="http://schemas.microsoft.com/office/drawing/2014/main" id="{262E1721-E658-427E-9184-0DD082FDE219}"/>
              </a:ext>
            </a:extLst>
          </p:cNvPr>
          <p:cNvSpPr>
            <a:spLocks xmlns:a="http://schemas.openxmlformats.org/drawingml/2006/main" noGrp="1"/>
          </p:cNvSpPr>
          <p:nvPr/>
        </p:nvSpPr>
        <p:spPr>
          <a:xfrm xmlns:a="http://schemas.openxmlformats.org/drawingml/2006/main">
            <a:off x="2343150" y="3219450"/>
            <a:ext cx="285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1E3A35"/>
                </a:solidFill>
                <a:latin typeface="Geist Mono"/>
                <a:ea typeface="Geist Mono"/>
                <a:cs typeface="Geist Mono"/>
              </a:defRPr>
            </a:pPr>
            <a:r>
              <a:rPr sz="1800" b="1" i="0">
                <a:solidFill>
                  <a:srgbClr val="1E3A35"/>
                </a:solidFill>
                <a:latin typeface="Geist Mono"/>
                <a:ea typeface="Geist Mono"/>
                <a:cs typeface="Geist Mono"/>
              </a:rPr>
              <a:t>WORKFLOW PNG</a:t>
            </a:r>
          </a:p>
        </p:txBody>
      </p:sp>
      <p:sp>
        <p:nvSpPr>
          <p:cNvPr id="7" name="07-gallery-title">
            <a:extLst xmlns:a="http://schemas.openxmlformats.org/drawingml/2006/main">
              <a:ext uri="{FF2B5EF4-FFF2-40B4-BE49-F238E27FC236}">
                <a16:creationId xmlns:a16="http://schemas.microsoft.com/office/drawing/2014/main" id="{C7CA330E-88D2-47CD-9166-EC6F69FA3738}"/>
              </a:ext>
            </a:extLst>
          </p:cNvPr>
          <p:cNvSpPr>
            <a:spLocks xmlns:a="http://schemas.openxmlformats.org/drawingml/2006/main" noGrp="1"/>
          </p:cNvSpPr>
          <p:nvPr/>
        </p:nvSpPr>
        <p:spPr>
          <a:xfrm xmlns:a="http://schemas.openxmlformats.org/drawingml/2006/main">
            <a:off x="5905500" y="262890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i="0">
                <a:solidFill>
                  <a:srgbClr val="1F1A14"/>
                </a:solidFill>
                <a:latin typeface="Fraunces 9pt"/>
                <a:ea typeface="Fraunces 9pt"/>
                <a:cs typeface="Fraunces 9pt"/>
              </a:defRPr>
            </a:pPr>
            <a:r>
              <a:rPr sz="2325" b="1" i="0">
                <a:solidFill>
                  <a:srgbClr val="1F1A14"/>
                </a:solidFill>
                <a:latin typeface="Fraunces 9pt"/>
                <a:ea typeface="Fraunces 9pt"/>
                <a:cs typeface="Fraunces 9pt"/>
              </a:rPr>
              <a:t>Lead triage with duplicate protection</a:t>
            </a:r>
          </a:p>
        </p:txBody>
      </p:sp>
      <p:sp>
        <p:nvSpPr>
          <p:cNvPr id="8" name="08-gallery-links">
            <a:extLst xmlns:a="http://schemas.openxmlformats.org/drawingml/2006/main">
              <a:ext uri="{FF2B5EF4-FFF2-40B4-BE49-F238E27FC236}">
                <a16:creationId xmlns:a16="http://schemas.microsoft.com/office/drawing/2014/main" id="{213D477A-8993-4873-9541-20E3135FC775}"/>
              </a:ext>
            </a:extLst>
          </p:cNvPr>
          <p:cNvSpPr>
            <a:spLocks xmlns:a="http://schemas.openxmlformats.org/drawingml/2006/main" noGrp="1"/>
          </p:cNvSpPr>
          <p:nvPr/>
        </p:nvSpPr>
        <p:spPr>
          <a:xfrm xmlns:a="http://schemas.openxmlformats.org/drawingml/2006/main">
            <a:off x="5905500" y="379095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i="0">
                <a:solidFill>
                  <a:srgbClr val="C4581A"/>
                </a:solidFill>
                <a:latin typeface="Geist Mono"/>
                <a:ea typeface="Geist Mono"/>
                <a:cs typeface="Geist Mono"/>
              </a:defRPr>
            </a:pPr>
            <a:r>
              <a:rPr sz="1275" b="1" i="0">
                <a:solidFill>
                  <a:srgbClr val="C4581A"/>
                </a:solidFill>
                <a:latin typeface="Geist Mono"/>
                <a:ea typeface="Geist Mono"/>
                <a:cs typeface="Geist Mono"/>
              </a:rPr>
              <a:t>Official Make clone  /  View sample output</a:t>
            </a:r>
          </a:p>
        </p:txBody>
      </p:sp>
      <p:sp>
        <p:nvSpPr>
          <p:cNvPr id="9" name="09-gallery-exclusions">
            <a:extLst xmlns:a="http://schemas.openxmlformats.org/drawingml/2006/main">
              <a:ext uri="{FF2B5EF4-FFF2-40B4-BE49-F238E27FC236}">
                <a16:creationId xmlns:a16="http://schemas.microsoft.com/office/drawing/2014/main" id="{B1BC94BB-3B92-4724-A6B1-61114EC2B2F9}"/>
              </a:ext>
            </a:extLst>
          </p:cNvPr>
          <p:cNvSpPr>
            <a:spLocks xmlns:a="http://schemas.openxmlformats.org/drawingml/2006/main" noGrp="1"/>
          </p:cNvSpPr>
          <p:nvPr/>
        </p:nvSpPr>
        <p:spPr>
          <a:xfrm xmlns:a="http://schemas.openxmlformats.org/drawingml/2006/main">
            <a:off x="2228850" y="4838700"/>
            <a:ext cx="792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0" i="0">
                <a:solidFill>
                  <a:srgbClr val="5C5046"/>
                </a:solidFill>
                <a:latin typeface="Geist Mono"/>
                <a:ea typeface="Geist Mono"/>
                <a:cs typeface="Geist Mono"/>
              </a:defRPr>
            </a:pPr>
            <a:r>
              <a:rPr sz="1050" b="0" i="0">
                <a:solidFill>
                  <a:srgbClr val="5C5046"/>
                </a:solidFill>
                <a:latin typeface="Geist Mono"/>
                <a:ea typeface="Geist Mono"/>
                <a:cs typeface="Geist Mono"/>
              </a:rPr>
              <a:t>No grades · confidence · prompts · credentials · private data</a:t>
            </a:r>
          </a:p>
        </p:txBody>
      </p:sp>
      <p:sp>
        <p:nvSpPr>
          <p:cNvPr id="10" name="10-footer-rule">
            <a:extLst xmlns:a="http://schemas.openxmlformats.org/drawingml/2006/main">
              <a:ext uri="{FF2B5EF4-FFF2-40B4-BE49-F238E27FC236}">
                <a16:creationId xmlns:a16="http://schemas.microsoft.com/office/drawing/2014/main" id="{DD1206CB-1D80-442D-B17F-F5B74EB7659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1" name="11-footer-left">
            <a:extLst xmlns:a="http://schemas.openxmlformats.org/drawingml/2006/main">
              <a:ext uri="{FF2B5EF4-FFF2-40B4-BE49-F238E27FC236}">
                <a16:creationId xmlns:a16="http://schemas.microsoft.com/office/drawing/2014/main" id="{9DFDA757-C67F-40A1-AF04-D3E25D73C7EA}"/>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01:51-01:54</a:t>
            </a:r>
          </a:p>
        </p:txBody>
      </p:sp>
      <p:sp>
        <p:nvSpPr>
          <p:cNvPr id="12" name="12-footer-right">
            <a:extLst xmlns:a="http://schemas.openxmlformats.org/drawingml/2006/main">
              <a:ext uri="{FF2B5EF4-FFF2-40B4-BE49-F238E27FC236}">
                <a16:creationId xmlns:a16="http://schemas.microsoft.com/office/drawing/2014/main" id="{F6182A84-CF74-4477-9CC4-9B5A971A36E2}"/>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25 / 27</a:t>
            </a:r>
          </a:p>
        </p:txBody>
      </p:sp>
    </p:spTree>
    <p:extLst>
      <p:ext uri="{BB962C8B-B14F-4D97-AF65-F5344CB8AC3E}">
        <p14:creationId xmlns:p14="http://schemas.microsoft.com/office/powerpoint/2010/main" val="1939204308"/>
      </p:ext>
    </p:extLst>
  </p:cSld>
</p:sld>
</file>

<file path=ppt/slides/slide26.xml><?xml version="1.0" encoding="utf-8"?>
<p:sld xmlns:p="http://schemas.openxmlformats.org/presentationml/2006/main">
  <p:cSld>
    <p:bg>
      <p:bgPr>
        <a:solidFill xmlns:a="http://schemas.openxmlformats.org/drawingml/2006/main">
          <a:srgbClr val="FBF8F3"/>
        </a:solidFill>
      </p:bgPr>
    </p:bg>
    <p:spTree>
      <p:nvGrpSpPr>
        <p:cNvPr id="1" name=""/>
        <p:cNvGrpSpPr/>
        <p:nvPr/>
      </p:nvGrpSpPr>
      <p:grpSpPr>
        <a:xfrm xmlns:a="http://schemas.openxmlformats.org/drawingml/2006/main"/>
      </p:grpSpPr>
      <p:sp>
        <p:nvSpPr>
          <p:cNvPr id="17" name="01-kicker">
            <a:extLst xmlns:a="http://schemas.openxmlformats.org/drawingml/2006/main">
              <a:ext uri="{FF2B5EF4-FFF2-40B4-BE49-F238E27FC236}">
                <a16:creationId xmlns:a16="http://schemas.microsoft.com/office/drawing/2014/main" id="{346C38C5-EC71-4A11-9068-FE70E8D08F77}"/>
              </a:ext>
            </a:extLst>
          </p:cNvPr>
          <p:cNvSpPr>
            <a:spLocks xmlns:a="http://schemas.openxmlformats.org/drawingml/2006/main" noGrp="1"/>
          </p:cNvSpPr>
          <p:nvPr/>
        </p:nvSpPr>
        <p:spPr>
          <a:xfrm xmlns:a="http://schemas.openxmlformats.org/drawingml/2006/main">
            <a:off x="609600" y="4000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C4581A"/>
                </a:solidFill>
                <a:latin typeface="Geist Mono"/>
                <a:ea typeface="Geist Mono"/>
                <a:cs typeface="Geist Mono"/>
              </a:defRPr>
            </a:pPr>
            <a:r>
              <a:rPr sz="1050" b="1" i="0">
                <a:solidFill>
                  <a:srgbClr val="C4581A"/>
                </a:solidFill>
                <a:latin typeface="Geist Mono"/>
                <a:ea typeface="Geist Mono"/>
                <a:cs typeface="Geist Mono"/>
              </a:rPr>
              <a:t>S5.3 BUILD EVIDENCE → S5.4 PRIVACY-CLEARED GALLERY</a:t>
            </a:r>
          </a:p>
        </p:txBody>
      </p:sp>
      <p:sp>
        <p:nvSpPr>
          <p:cNvPr id="2" name="02-title">
            <a:extLst xmlns:a="http://schemas.openxmlformats.org/drawingml/2006/main">
              <a:ext uri="{FF2B5EF4-FFF2-40B4-BE49-F238E27FC236}">
                <a16:creationId xmlns:a16="http://schemas.microsoft.com/office/drawing/2014/main" id="{207D12F5-4792-4B36-936C-1458C0E6AB90}"/>
              </a:ext>
            </a:extLst>
          </p:cNvPr>
          <p:cNvSpPr>
            <a:spLocks xmlns:a="http://schemas.openxmlformats.org/drawingml/2006/main" noGrp="1"/>
          </p:cNvSpPr>
          <p:nvPr/>
        </p:nvSpPr>
        <p:spPr>
          <a:xfrm xmlns:a="http://schemas.openxmlformats.org/drawingml/2006/main">
            <a:off x="609600" y="7429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F1A14"/>
                </a:solidFill>
                <a:latin typeface="Fraunces 9pt"/>
                <a:ea typeface="Fraunces 9pt"/>
                <a:cs typeface="Fraunces 9pt"/>
              </a:defRPr>
            </a:pPr>
            <a:r>
              <a:rPr sz="4200" b="1" i="0">
                <a:solidFill>
                  <a:srgbClr val="1F1A14"/>
                </a:solidFill>
                <a:latin typeface="Fraunces 9pt"/>
                <a:ea typeface="Fraunces 9pt"/>
                <a:cs typeface="Fraunces 9pt"/>
              </a:rPr>
              <a:t>Gate 2</a:t>
            </a:r>
          </a:p>
        </p:txBody>
      </p:sp>
      <p:sp>
        <p:nvSpPr>
          <p:cNvPr id="3" name="03-title-rule">
            <a:extLst xmlns:a="http://schemas.openxmlformats.org/drawingml/2006/main">
              <a:ext uri="{FF2B5EF4-FFF2-40B4-BE49-F238E27FC236}">
                <a16:creationId xmlns:a16="http://schemas.microsoft.com/office/drawing/2014/main" id="{E9CCBEF3-56E1-48CD-BBB9-E0C9877382F1}"/>
              </a:ext>
            </a:extLst>
          </p:cNvPr>
          <p:cNvSpPr>
            <a:spLocks xmlns:a="http://schemas.openxmlformats.org/drawingml/2006/main" noGrp="1"/>
          </p:cNvSpPr>
          <p:nvPr/>
        </p:nvSpPr>
        <p:spPr>
          <a:xfrm xmlns:a="http://schemas.openxmlformats.org/drawingml/2006/main">
            <a:off x="609600" y="1581150"/>
            <a:ext cx="10972800" cy="0"/>
          </a:xfrm>
          <a:prstGeom xmlns:a="http://schemas.openxmlformats.org/drawingml/2006/main" prst="line">
            <a:avLst/>
          </a:prstGeom>
          <a:noFill xmlns:a="http://schemas.openxmlformats.org/drawingml/2006/main"/>
          <a:ln xmlns:a="http://schemas.openxmlformats.org/drawingml/2006/main" w="19050">
            <a:solidFill>
              <a:srgbClr val="EDE5D8"/>
            </a:solidFill>
            <a:prstDash val="solid"/>
          </a:ln>
        </p:spPr>
      </p:sp>
      <p:sp>
        <p:nvSpPr>
          <p:cNvPr id="4" name="04-gate-two-claim">
            <a:extLst xmlns:a="http://schemas.openxmlformats.org/drawingml/2006/main">
              <a:ext uri="{FF2B5EF4-FFF2-40B4-BE49-F238E27FC236}">
                <a16:creationId xmlns:a16="http://schemas.microsoft.com/office/drawing/2014/main" id="{84282CE5-7AA3-4B30-A057-D67ADC577FDE}"/>
              </a:ext>
            </a:extLst>
          </p:cNvPr>
          <p:cNvSpPr>
            <a:spLocks xmlns:a="http://schemas.openxmlformats.org/drawingml/2006/main" noGrp="1"/>
          </p:cNvSpPr>
          <p:nvPr/>
        </p:nvSpPr>
        <p:spPr>
          <a:xfrm xmlns:a="http://schemas.openxmlformats.org/drawingml/2006/main">
            <a:off x="1047750" y="2362200"/>
            <a:ext cx="100965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75" b="1" i="0">
                <a:solidFill>
                  <a:srgbClr val="1F1A14"/>
                </a:solidFill>
                <a:latin typeface="Fraunces 9pt"/>
                <a:ea typeface="Fraunces 9pt"/>
                <a:cs typeface="Fraunces 9pt"/>
              </a:defRPr>
            </a:pPr>
            <a:r>
              <a:rPr sz="3675" b="1" i="0">
                <a:solidFill>
                  <a:srgbClr val="1F1A14"/>
                </a:solidFill>
                <a:latin typeface="Fraunces 9pt"/>
                <a:ea typeface="Fraunces 9pt"/>
                <a:cs typeface="Fraunces 9pt"/>
              </a:rPr>
              <a:t>Submit. Preview. Attest. Keep scheduling off.</a:t>
            </a:r>
          </a:p>
        </p:txBody>
      </p:sp>
      <p:sp>
        <p:nvSpPr>
          <p:cNvPr id="5" name="05-arrow">
            <a:extLst xmlns:a="http://schemas.openxmlformats.org/drawingml/2006/main">
              <a:ext uri="{FF2B5EF4-FFF2-40B4-BE49-F238E27FC236}">
                <a16:creationId xmlns:a16="http://schemas.microsoft.com/office/drawing/2014/main" id="{0C26508F-BBBA-4E5A-A8E4-C912B066303A}"/>
              </a:ext>
            </a:extLst>
          </p:cNvPr>
          <p:cNvSpPr>
            <a:spLocks xmlns:a="http://schemas.openxmlformats.org/drawingml/2006/main" noGrp="1"/>
          </p:cNvSpPr>
          <p:nvPr/>
        </p:nvSpPr>
        <p:spPr>
          <a:xfrm xmlns:a="http://schemas.openxmlformats.org/drawingml/2006/main">
            <a:off x="4400550" y="4419600"/>
            <a:ext cx="1047750" cy="19050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6" name="06-arrow">
            <a:extLst xmlns:a="http://schemas.openxmlformats.org/drawingml/2006/main">
              <a:ext uri="{FF2B5EF4-FFF2-40B4-BE49-F238E27FC236}">
                <a16:creationId xmlns:a16="http://schemas.microsoft.com/office/drawing/2014/main" id="{2DC3B634-9D8F-40AC-A6B2-759A31D0E07C}"/>
              </a:ext>
            </a:extLst>
          </p:cNvPr>
          <p:cNvSpPr>
            <a:spLocks xmlns:a="http://schemas.openxmlformats.org/drawingml/2006/main" noGrp="1"/>
          </p:cNvSpPr>
          <p:nvPr/>
        </p:nvSpPr>
        <p:spPr>
          <a:xfrm xmlns:a="http://schemas.openxmlformats.org/drawingml/2006/main">
            <a:off x="6743700" y="4419600"/>
            <a:ext cx="1047750" cy="190500"/>
          </a:xfrm>
          <a:prstGeom xmlns:a="http://schemas.openxmlformats.org/drawingml/2006/main" prst="rightArrow">
            <a:avLst/>
          </a:prstGeom>
          <a:solidFill xmlns:a="http://schemas.openxmlformats.org/drawingml/2006/main">
            <a:srgbClr val="EDE5D8"/>
          </a:solidFill>
          <a:ln xmlns:a="http://schemas.openxmlformats.org/drawingml/2006/main" w="0">
            <a:noFill/>
            <a:prstDash val="solid"/>
          </a:ln>
        </p:spPr>
      </p:sp>
      <p:sp>
        <p:nvSpPr>
          <p:cNvPr id="7" name="07-node-bg">
            <a:extLst xmlns:a="http://schemas.openxmlformats.org/drawingml/2006/main">
              <a:ext uri="{FF2B5EF4-FFF2-40B4-BE49-F238E27FC236}">
                <a16:creationId xmlns:a16="http://schemas.microsoft.com/office/drawing/2014/main" id="{376001D8-B94C-4D23-8DF3-255C49D27F29}"/>
              </a:ext>
            </a:extLst>
          </p:cNvPr>
          <p:cNvSpPr>
            <a:spLocks xmlns:a="http://schemas.openxmlformats.org/drawingml/2006/main" noGrp="1"/>
          </p:cNvSpPr>
          <p:nvPr/>
        </p:nvSpPr>
        <p:spPr>
          <a:xfrm xmlns:a="http://schemas.openxmlformats.org/drawingml/2006/main">
            <a:off x="2247900" y="4019550"/>
            <a:ext cx="2190750" cy="990600"/>
          </a:xfrm>
          <a:prstGeom xmlns:a="http://schemas.openxmlformats.org/drawingml/2006/main" prst="rect">
            <a:avLst/>
          </a:prstGeom>
          <a:solidFill xmlns:a="http://schemas.openxmlformats.org/drawingml/2006/main">
            <a:srgbClr val="EAF1EE"/>
          </a:solidFill>
          <a:ln xmlns:a="http://schemas.openxmlformats.org/drawingml/2006/main" w="14288">
            <a:solidFill>
              <a:srgbClr val="1E3A35"/>
            </a:solidFill>
            <a:prstDash val="solid"/>
          </a:ln>
        </p:spPr>
      </p:sp>
      <p:sp>
        <p:nvSpPr>
          <p:cNvPr id="8" name="08-node-label">
            <a:extLst xmlns:a="http://schemas.openxmlformats.org/drawingml/2006/main">
              <a:ext uri="{FF2B5EF4-FFF2-40B4-BE49-F238E27FC236}">
                <a16:creationId xmlns:a16="http://schemas.microsoft.com/office/drawing/2014/main" id="{4D44096A-4DD5-4F03-9C22-B600FD826DA1}"/>
              </a:ext>
            </a:extLst>
          </p:cNvPr>
          <p:cNvSpPr>
            <a:spLocks xmlns:a="http://schemas.openxmlformats.org/drawingml/2006/main" noGrp="1"/>
          </p:cNvSpPr>
          <p:nvPr/>
        </p:nvSpPr>
        <p:spPr>
          <a:xfrm xmlns:a="http://schemas.openxmlformats.org/drawingml/2006/main">
            <a:off x="2362200" y="4095750"/>
            <a:ext cx="19621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E3A35"/>
                </a:solidFill>
                <a:latin typeface="Geist Mono"/>
                <a:ea typeface="Geist Mono"/>
                <a:cs typeface="Geist Mono"/>
              </a:defRPr>
            </a:pPr>
            <a:r>
              <a:rPr sz="1650" b="1" i="0">
                <a:solidFill>
                  <a:srgbClr val="1E3A35"/>
                </a:solidFill>
                <a:latin typeface="Geist Mono"/>
                <a:ea typeface="Geist Mono"/>
                <a:cs typeface="Geist Mono"/>
              </a:rPr>
              <a:t>SUBMIT</a:t>
            </a:r>
          </a:p>
        </p:txBody>
      </p:sp>
      <p:sp>
        <p:nvSpPr>
          <p:cNvPr id="9" name="09-node-bg">
            <a:extLst xmlns:a="http://schemas.openxmlformats.org/drawingml/2006/main">
              <a:ext uri="{FF2B5EF4-FFF2-40B4-BE49-F238E27FC236}">
                <a16:creationId xmlns:a16="http://schemas.microsoft.com/office/drawing/2014/main" id="{5F8EA121-CDA6-45A7-A291-3890E55314A4}"/>
              </a:ext>
            </a:extLst>
          </p:cNvPr>
          <p:cNvSpPr>
            <a:spLocks xmlns:a="http://schemas.openxmlformats.org/drawingml/2006/main" noGrp="1"/>
          </p:cNvSpPr>
          <p:nvPr/>
        </p:nvSpPr>
        <p:spPr>
          <a:xfrm xmlns:a="http://schemas.openxmlformats.org/drawingml/2006/main">
            <a:off x="5467350" y="4019550"/>
            <a:ext cx="2190750"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C4581A"/>
            </a:solidFill>
            <a:prstDash val="solid"/>
          </a:ln>
        </p:spPr>
      </p:sp>
      <p:sp>
        <p:nvSpPr>
          <p:cNvPr id="10" name="10-node-label">
            <a:extLst xmlns:a="http://schemas.openxmlformats.org/drawingml/2006/main">
              <a:ext uri="{FF2B5EF4-FFF2-40B4-BE49-F238E27FC236}">
                <a16:creationId xmlns:a16="http://schemas.microsoft.com/office/drawing/2014/main" id="{DA2594CE-A85D-44D9-A5A2-B6E91FAD08B0}"/>
              </a:ext>
            </a:extLst>
          </p:cNvPr>
          <p:cNvSpPr>
            <a:spLocks xmlns:a="http://schemas.openxmlformats.org/drawingml/2006/main" noGrp="1"/>
          </p:cNvSpPr>
          <p:nvPr/>
        </p:nvSpPr>
        <p:spPr>
          <a:xfrm xmlns:a="http://schemas.openxmlformats.org/drawingml/2006/main">
            <a:off x="5581650" y="4095750"/>
            <a:ext cx="19621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C4581A"/>
                </a:solidFill>
                <a:latin typeface="Geist Mono"/>
                <a:ea typeface="Geist Mono"/>
                <a:cs typeface="Geist Mono"/>
              </a:defRPr>
            </a:pPr>
            <a:r>
              <a:rPr sz="1650" b="1" i="0">
                <a:solidFill>
                  <a:srgbClr val="C4581A"/>
                </a:solidFill>
                <a:latin typeface="Geist Mono"/>
                <a:ea typeface="Geist Mono"/>
                <a:cs typeface="Geist Mono"/>
              </a:rPr>
              <a:t>PREVIEW</a:t>
            </a:r>
          </a:p>
        </p:txBody>
      </p:sp>
      <p:sp>
        <p:nvSpPr>
          <p:cNvPr id="11" name="11-node-bg">
            <a:extLst xmlns:a="http://schemas.openxmlformats.org/drawingml/2006/main">
              <a:ext uri="{FF2B5EF4-FFF2-40B4-BE49-F238E27FC236}">
                <a16:creationId xmlns:a16="http://schemas.microsoft.com/office/drawing/2014/main" id="{44E26E29-3C32-47CC-8C7A-8EC3055795A0}"/>
              </a:ext>
            </a:extLst>
          </p:cNvPr>
          <p:cNvSpPr>
            <a:spLocks xmlns:a="http://schemas.openxmlformats.org/drawingml/2006/main" noGrp="1"/>
          </p:cNvSpPr>
          <p:nvPr/>
        </p:nvSpPr>
        <p:spPr>
          <a:xfrm xmlns:a="http://schemas.openxmlformats.org/drawingml/2006/main">
            <a:off x="7772400" y="4019550"/>
            <a:ext cx="2190750" cy="990600"/>
          </a:xfrm>
          <a:prstGeom xmlns:a="http://schemas.openxmlformats.org/drawingml/2006/main" prst="rect">
            <a:avLst/>
          </a:prstGeom>
          <a:solidFill xmlns:a="http://schemas.openxmlformats.org/drawingml/2006/main">
            <a:srgbClr val="EAF1EE"/>
          </a:solidFill>
          <a:ln xmlns:a="http://schemas.openxmlformats.org/drawingml/2006/main" w="14288">
            <a:solidFill>
              <a:srgbClr val="1E3A35"/>
            </a:solidFill>
            <a:prstDash val="solid"/>
          </a:ln>
        </p:spPr>
      </p:sp>
      <p:sp>
        <p:nvSpPr>
          <p:cNvPr id="12" name="12-node-label">
            <a:extLst xmlns:a="http://schemas.openxmlformats.org/drawingml/2006/main">
              <a:ext uri="{FF2B5EF4-FFF2-40B4-BE49-F238E27FC236}">
                <a16:creationId xmlns:a16="http://schemas.microsoft.com/office/drawing/2014/main" id="{2D740918-61E0-4B3A-95D8-C8310211110E}"/>
              </a:ext>
            </a:extLst>
          </p:cNvPr>
          <p:cNvSpPr>
            <a:spLocks xmlns:a="http://schemas.openxmlformats.org/drawingml/2006/main" noGrp="1"/>
          </p:cNvSpPr>
          <p:nvPr/>
        </p:nvSpPr>
        <p:spPr>
          <a:xfrm xmlns:a="http://schemas.openxmlformats.org/drawingml/2006/main">
            <a:off x="7886700" y="4095750"/>
            <a:ext cx="19621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E3A35"/>
                </a:solidFill>
                <a:latin typeface="Geist Mono"/>
                <a:ea typeface="Geist Mono"/>
                <a:cs typeface="Geist Mono"/>
              </a:defRPr>
            </a:pPr>
            <a:r>
              <a:rPr sz="1650" b="1" i="0">
                <a:solidFill>
                  <a:srgbClr val="1E3A35"/>
                </a:solidFill>
                <a:latin typeface="Geist Mono"/>
                <a:ea typeface="Geist Mono"/>
                <a:cs typeface="Geist Mono"/>
              </a:rPr>
              <a:t>ATTEST</a:t>
            </a:r>
          </a:p>
        </p:txBody>
      </p:sp>
      <p:sp>
        <p:nvSpPr>
          <p:cNvPr id="13" name="13-final-selection-contract">
            <a:extLst xmlns:a="http://schemas.openxmlformats.org/drawingml/2006/main">
              <a:ext uri="{FF2B5EF4-FFF2-40B4-BE49-F238E27FC236}">
                <a16:creationId xmlns:a16="http://schemas.microsoft.com/office/drawing/2014/main" id="{4B8811A1-F91A-441F-BBF3-E483242C029B}"/>
              </a:ext>
            </a:extLst>
          </p:cNvPr>
          <p:cNvSpPr>
            <a:spLocks xmlns:a="http://schemas.openxmlformats.org/drawingml/2006/main" noGrp="1"/>
          </p:cNvSpPr>
          <p:nvPr/>
        </p:nvSpPr>
        <p:spPr>
          <a:xfrm xmlns:a="http://schemas.openxmlformats.org/drawingml/2006/main">
            <a:off x="1123950" y="5219700"/>
            <a:ext cx="994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C4581A"/>
                </a:solidFill>
                <a:latin typeface="Geist Mono"/>
                <a:ea typeface="Geist Mono"/>
                <a:cs typeface="Geist Mono"/>
              </a:defRPr>
            </a:pPr>
            <a:r>
              <a:rPr sz="975" b="1" i="0">
                <a:solidFill>
                  <a:srgbClr val="C4581A"/>
                </a:solidFill>
                <a:latin typeface="Geist Mono"/>
                <a:ea typeface="Geist Mono"/>
                <a:cs typeface="Geist Mono"/>
              </a:rPr>
              <a:t>FINAL SCORING · TEAM MAY NOMINATE · INSTRUCTOR SELECTS EXACTLY ONE EXISTING FINALISED VERSION · NO INTEGRATED PACKAGE</a:t>
            </a:r>
          </a:p>
        </p:txBody>
      </p:sp>
      <p:sp>
        <p:nvSpPr>
          <p:cNvPr id="14" name="14-footer-rule">
            <a:extLst xmlns:a="http://schemas.openxmlformats.org/drawingml/2006/main">
              <a:ext uri="{FF2B5EF4-FFF2-40B4-BE49-F238E27FC236}">
                <a16:creationId xmlns:a16="http://schemas.microsoft.com/office/drawing/2014/main" id="{9D4B5047-D298-43A5-A599-91D193245AF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EDE5D8"/>
            </a:solidFill>
            <a:prstDash val="solid"/>
          </a:ln>
        </p:spPr>
      </p:sp>
      <p:sp>
        <p:nvSpPr>
          <p:cNvPr id="15" name="15-footer-left">
            <a:extLst xmlns:a="http://schemas.openxmlformats.org/drawingml/2006/main">
              <a:ext uri="{FF2B5EF4-FFF2-40B4-BE49-F238E27FC236}">
                <a16:creationId xmlns:a16="http://schemas.microsoft.com/office/drawing/2014/main" id="{C8A5D5A6-6F6C-459A-8D76-7CA068C42AB2}"/>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SESSION 05  /  01:54-01:57</a:t>
            </a:r>
          </a:p>
        </p:txBody>
      </p:sp>
      <p:sp>
        <p:nvSpPr>
          <p:cNvPr id="16" name="16-footer-right">
            <a:extLst xmlns:a="http://schemas.openxmlformats.org/drawingml/2006/main">
              <a:ext uri="{FF2B5EF4-FFF2-40B4-BE49-F238E27FC236}">
                <a16:creationId xmlns:a16="http://schemas.microsoft.com/office/drawing/2014/main" id="{C073E0F7-1728-4CAA-983B-3E3F39B53369}"/>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9C8E82"/>
                </a:solidFill>
                <a:latin typeface="Geist Mono"/>
                <a:ea typeface="Geist Mono"/>
                <a:cs typeface="Geist Mono"/>
              </a:defRPr>
            </a:pPr>
            <a:r>
              <a:rPr sz="825" b="0" i="0">
                <a:solidFill>
                  <a:srgbClr val="9C8E82"/>
                </a:solidFill>
                <a:latin typeface="Geist Mono"/>
                <a:ea typeface="Geist Mono"/>
                <a:cs typeface="Geist Mono"/>
              </a:rPr>
              <a:t>26 / 27</a:t>
            </a:r>
          </a:p>
        </p:txBody>
      </p:sp>
    </p:spTree>
    <p:extLst>
      <p:ext uri="{BB962C8B-B14F-4D97-AF65-F5344CB8AC3E}">
        <p14:creationId xmlns:p14="http://schemas.microsoft.com/office/powerpoint/2010/main" val="234323039"/>
      </p:ext>
    </p:extLst>
  </p:cSld>
</p:sld>
</file>

<file path=ppt/slides/slide27.xml><?xml version="1.0" encoding="utf-8"?>
<p:sld xmlns:p="http://schemas.openxmlformats.org/presentationml/2006/main">
  <p:cSld>
    <p:bg>
      <p:bgPr>
        <a:solidFill xmlns:a="http://schemas.openxmlformats.org/drawingml/2006/main">
          <a:srgbClr val="1E3A35"/>
        </a:solidFill>
      </p:bgPr>
    </p:bg>
    <p:spTree>
      <p:nvGrpSpPr>
        <p:cNvPr id="1" name=""/>
        <p:cNvGrpSpPr/>
        <p:nvPr/>
      </p:nvGrpSpPr>
      <p:grpSpPr>
        <a:xfrm xmlns:a="http://schemas.openxmlformats.org/drawingml/2006/main"/>
      </p:grpSpPr>
      <p:sp>
        <p:nvSpPr>
          <p:cNvPr id="9" name="01-kicker">
            <a:extLst xmlns:a="http://schemas.openxmlformats.org/drawingml/2006/main">
              <a:ext uri="{FF2B5EF4-FFF2-40B4-BE49-F238E27FC236}">
                <a16:creationId xmlns:a16="http://schemas.microsoft.com/office/drawing/2014/main" id="{7649A539-DF00-4600-96EA-F03BB812E37E}"/>
              </a:ext>
            </a:extLst>
          </p:cNvPr>
          <p:cNvSpPr>
            <a:spLocks xmlns:a="http://schemas.openxmlformats.org/drawingml/2006/main" noGrp="1"/>
          </p:cNvSpPr>
          <p:nvPr/>
        </p:nvSpPr>
        <p:spPr>
          <a:xfrm xmlns:a="http://schemas.openxmlformats.org/drawingml/2006/main">
            <a:off x="609600" y="5905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F0D478"/>
                </a:solidFill>
                <a:latin typeface="Geist Mono"/>
                <a:ea typeface="Geist Mono"/>
                <a:cs typeface="Geist Mono"/>
              </a:defRPr>
            </a:pPr>
            <a:r>
              <a:rPr sz="1050" b="1" i="0">
                <a:solidFill>
                  <a:srgbClr val="F0D478"/>
                </a:solidFill>
                <a:latin typeface="Geist Mono"/>
                <a:ea typeface="Geist Mono"/>
                <a:cs typeface="Geist Mono"/>
              </a:rPr>
              <a:t>CLOSING REFUSAL TEST</a:t>
            </a:r>
          </a:p>
        </p:txBody>
      </p:sp>
      <p:sp>
        <p:nvSpPr>
          <p:cNvPr id="2" name="02-refusal-title">
            <a:extLst xmlns:a="http://schemas.openxmlformats.org/drawingml/2006/main">
              <a:ext uri="{FF2B5EF4-FFF2-40B4-BE49-F238E27FC236}">
                <a16:creationId xmlns:a16="http://schemas.microsoft.com/office/drawing/2014/main" id="{17FAB921-DA45-438F-878A-3DC6589BABB7}"/>
              </a:ext>
            </a:extLst>
          </p:cNvPr>
          <p:cNvSpPr>
            <a:spLocks xmlns:a="http://schemas.openxmlformats.org/drawingml/2006/main" noGrp="1"/>
          </p:cNvSpPr>
          <p:nvPr/>
        </p:nvSpPr>
        <p:spPr>
          <a:xfrm xmlns:a="http://schemas.openxmlformats.org/drawingml/2006/main">
            <a:off x="609600" y="135255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i="0">
                <a:solidFill>
                  <a:srgbClr val="F5F0E8"/>
                </a:solidFill>
                <a:latin typeface="Fraunces 9pt"/>
                <a:ea typeface="Fraunces 9pt"/>
                <a:cs typeface="Fraunces 9pt"/>
              </a:defRPr>
            </a:pPr>
            <a:r>
              <a:rPr sz="5700" b="1" i="0">
                <a:solidFill>
                  <a:srgbClr val="F5F0E8"/>
                </a:solidFill>
                <a:latin typeface="Fraunces 9pt"/>
                <a:ea typeface="Fraunces 9pt"/>
                <a:cs typeface="Fraunces 9pt"/>
              </a:rPr>
              <a:t>Refuse to automate this</a:t>
            </a:r>
          </a:p>
        </p:txBody>
      </p:sp>
      <p:sp>
        <p:nvSpPr>
          <p:cNvPr id="3" name="03-refusal-question">
            <a:extLst xmlns:a="http://schemas.openxmlformats.org/drawingml/2006/main">
              <a:ext uri="{FF2B5EF4-FFF2-40B4-BE49-F238E27FC236}">
                <a16:creationId xmlns:a16="http://schemas.microsoft.com/office/drawing/2014/main" id="{EF2718C8-940E-475A-A130-DA88D310B8E2}"/>
              </a:ext>
            </a:extLst>
          </p:cNvPr>
          <p:cNvSpPr>
            <a:spLocks xmlns:a="http://schemas.openxmlformats.org/drawingml/2006/main" noGrp="1"/>
          </p:cNvSpPr>
          <p:nvPr/>
        </p:nvSpPr>
        <p:spPr>
          <a:xfrm xmlns:a="http://schemas.openxmlformats.org/drawingml/2006/main">
            <a:off x="876300" y="3028950"/>
            <a:ext cx="10439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150" b="0" i="1">
                <a:solidFill>
                  <a:srgbClr val="F0D478"/>
                </a:solidFill>
                <a:latin typeface="Fraunces 9pt"/>
                <a:ea typeface="Fraunces 9pt"/>
                <a:cs typeface="Fraunces 9pt"/>
              </a:defRPr>
            </a:pPr>
            <a:r>
              <a:rPr sz="3150" b="0" i="1">
                <a:solidFill>
                  <a:srgbClr val="F0D478"/>
                </a:solidFill>
                <a:latin typeface="Fraunces 9pt"/>
                <a:ea typeface="Fraunces 9pt"/>
                <a:cs typeface="Fraunces 9pt"/>
              </a:rPr>
              <a:t>What would make you refuse to switch this on for a real company?</a:t>
            </a:r>
          </a:p>
        </p:txBody>
      </p:sp>
      <p:sp>
        <p:nvSpPr>
          <p:cNvPr id="4" name="04-refusal-rule">
            <a:extLst xmlns:a="http://schemas.openxmlformats.org/drawingml/2006/main">
              <a:ext uri="{FF2B5EF4-FFF2-40B4-BE49-F238E27FC236}">
                <a16:creationId xmlns:a16="http://schemas.microsoft.com/office/drawing/2014/main" id="{41D80FE9-C746-4D26-8CB7-1F78D88377D7}"/>
              </a:ext>
            </a:extLst>
          </p:cNvPr>
          <p:cNvSpPr>
            <a:spLocks xmlns:a="http://schemas.openxmlformats.org/drawingml/2006/main" noGrp="1"/>
          </p:cNvSpPr>
          <p:nvPr/>
        </p:nvSpPr>
        <p:spPr>
          <a:xfrm xmlns:a="http://schemas.openxmlformats.org/drawingml/2006/main">
            <a:off x="2000250" y="4686300"/>
            <a:ext cx="8191500" cy="0"/>
          </a:xfrm>
          <a:prstGeom xmlns:a="http://schemas.openxmlformats.org/drawingml/2006/main" prst="line">
            <a:avLst/>
          </a:prstGeom>
          <a:noFill xmlns:a="http://schemas.openxmlformats.org/drawingml/2006/main"/>
          <a:ln xmlns:a="http://schemas.openxmlformats.org/drawingml/2006/main" w="28575">
            <a:solidFill>
              <a:srgbClr val="C4581A"/>
            </a:solidFill>
            <a:prstDash val="solid"/>
          </a:ln>
        </p:spPr>
      </p:sp>
      <p:sp>
        <p:nvSpPr>
          <p:cNvPr id="5" name="05-refusal-action">
            <a:extLst xmlns:a="http://schemas.openxmlformats.org/drawingml/2006/main">
              <a:ext uri="{FF2B5EF4-FFF2-40B4-BE49-F238E27FC236}">
                <a16:creationId xmlns:a16="http://schemas.microsoft.com/office/drawing/2014/main" id="{35BCB7CA-2BAE-49DD-87FE-CF4BFA246EBA}"/>
              </a:ext>
            </a:extLst>
          </p:cNvPr>
          <p:cNvSpPr>
            <a:spLocks xmlns:a="http://schemas.openxmlformats.org/drawingml/2006/main" noGrp="1"/>
          </p:cNvSpPr>
          <p:nvPr/>
        </p:nvSpPr>
        <p:spPr>
          <a:xfrm xmlns:a="http://schemas.openxmlformats.org/drawingml/2006/main">
            <a:off x="2381250" y="49720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i="0">
                <a:solidFill>
                  <a:srgbClr val="F5F0E8"/>
                </a:solidFill>
                <a:latin typeface="Geist Mono"/>
                <a:ea typeface="Geist Mono"/>
                <a:cs typeface="Geist Mono"/>
              </a:defRPr>
            </a:pPr>
            <a:r>
              <a:rPr sz="1350" b="1" i="0">
                <a:solidFill>
                  <a:srgbClr val="F5F0E8"/>
                </a:solidFill>
                <a:latin typeface="Geist Mono"/>
                <a:ea typeface="Geist Mono"/>
                <a:cs typeface="Geist Mono"/>
              </a:rPr>
              <a:t>ONE REFUSAL CONDITION · ONE NEXT TEST</a:t>
            </a:r>
          </a:p>
        </p:txBody>
      </p:sp>
      <p:sp>
        <p:nvSpPr>
          <p:cNvPr id="6" name="06-footer-rule">
            <a:extLst xmlns:a="http://schemas.openxmlformats.org/drawingml/2006/main">
              <a:ext uri="{FF2B5EF4-FFF2-40B4-BE49-F238E27FC236}">
                <a16:creationId xmlns:a16="http://schemas.microsoft.com/office/drawing/2014/main" id="{B0D357CC-E72A-4EA0-A742-32A937A5972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6635D"/>
            </a:solidFill>
            <a:prstDash val="solid"/>
          </a:ln>
        </p:spPr>
      </p:sp>
      <p:sp>
        <p:nvSpPr>
          <p:cNvPr id="7" name="07-footer-left">
            <a:extLst xmlns:a="http://schemas.openxmlformats.org/drawingml/2006/main">
              <a:ext uri="{FF2B5EF4-FFF2-40B4-BE49-F238E27FC236}">
                <a16:creationId xmlns:a16="http://schemas.microsoft.com/office/drawing/2014/main" id="{882453D4-4F72-4D72-A637-C755CC14B5AC}"/>
              </a:ext>
            </a:extLst>
          </p:cNvPr>
          <p:cNvSpPr>
            <a:spLocks xmlns:a="http://schemas.openxmlformats.org/drawingml/2006/main" noGrp="1"/>
          </p:cNvSpPr>
          <p:nvPr/>
        </p:nvSpPr>
        <p:spPr>
          <a:xfrm xmlns:a="http://schemas.openxmlformats.org/drawingml/2006/main">
            <a:off x="609600" y="6543675"/>
            <a:ext cx="628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SESSION 05  /  01:57-02:00</a:t>
            </a:r>
          </a:p>
        </p:txBody>
      </p:sp>
      <p:sp>
        <p:nvSpPr>
          <p:cNvPr id="8" name="08-footer-right">
            <a:extLst xmlns:a="http://schemas.openxmlformats.org/drawingml/2006/main">
              <a:ext uri="{FF2B5EF4-FFF2-40B4-BE49-F238E27FC236}">
                <a16:creationId xmlns:a16="http://schemas.microsoft.com/office/drawing/2014/main" id="{903FE3F2-0867-495A-8DA9-99D9CA85AEE5}"/>
              </a:ext>
            </a:extLst>
          </p:cNvPr>
          <p:cNvSpPr>
            <a:spLocks xmlns:a="http://schemas.openxmlformats.org/drawingml/2006/main" noGrp="1"/>
          </p:cNvSpPr>
          <p:nvPr/>
        </p:nvSpPr>
        <p:spPr>
          <a:xfrm xmlns:a="http://schemas.openxmlformats.org/drawingml/2006/main">
            <a:off x="10287000" y="6543675"/>
            <a:ext cx="1295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C7D3CE"/>
                </a:solidFill>
                <a:latin typeface="Geist Mono"/>
                <a:ea typeface="Geist Mono"/>
                <a:cs typeface="Geist Mono"/>
              </a:defRPr>
            </a:pPr>
            <a:r>
              <a:rPr sz="825" b="0" i="0">
                <a:solidFill>
                  <a:srgbClr val="C7D3CE"/>
                </a:solidFill>
                <a:latin typeface="Geist Mono"/>
                <a:ea typeface="Geist Mono"/>
                <a:cs typeface="Geist Mono"/>
              </a:rPr>
              <a:t>27 / 27</a:t>
            </a:r>
          </a:p>
        </p:txBody>
      </p:sp>
    </p:spTree>
    <p:extLst>
      <p:ext uri="{BB962C8B-B14F-4D97-AF65-F5344CB8AC3E}">
        <p14:creationId xmlns:p14="http://schemas.microsoft.com/office/powerpoint/2010/main" val="1039913606"/>
      </p:ext>
    </p:extLst>
  </p:cSld>
</p:sld>
</file>

<file path=ppt/theme/theme1.xml><?xml version="1.0" encoding="utf-8"?>
<a:theme xmlns:a="http://schemas.openxmlformats.org/drawingml/2006/main" name="ChatGPT">
  <a:themeElements>
    <a:clrScheme name="Session 05 - Revenue systems with Make Editorial">
      <a:dk1>
        <a:srgbClr val="1F1A14"/>
      </a:dk1>
      <a:lt1>
        <a:srgbClr val="FFFFFF"/>
      </a:lt1>
      <a:dk2>
        <a:srgbClr val="1E3A35"/>
      </a:dk2>
      <a:lt2>
        <a:srgbClr val="F5F0E8"/>
      </a:lt2>
      <a:accent1>
        <a:srgbClr val="1E3A35"/>
      </a:accent1>
      <a:accent2>
        <a:srgbClr val="C4581A"/>
      </a:accent2>
      <a:accent3>
        <a:srgbClr val="F0D478"/>
      </a:accent3>
      <a:accent4>
        <a:srgbClr val="EDE5D8"/>
      </a:accent4>
      <a:accent5>
        <a:srgbClr val="5C5046"/>
      </a:accent5>
      <a:accent6>
        <a:srgbClr val="9C8E82"/>
      </a:accent6>
      <a:hlink>
        <a:srgbClr val="C4581A"/>
      </a:hlink>
      <a:folHlink>
        <a:srgbClr val="5C5046"/>
      </a:folHlink>
    </a:clrScheme>
    <a:fontScheme name="Office">
      <a:majorFont>
        <a:latin typeface="Calibri Light"/>
        <a:ea typeface="Calibri Light"/>
        <a:cs typeface="Calibri Light"/>
      </a:majorFont>
      <a:minorFont>
        <a:latin typeface="Calibri"/>
        <a:ea typeface="Calibri"/>
        <a:cs typeface="Calibri"/>
      </a:minorFont>
    </a:fontScheme>
    <a:fmtScheme name="Session 05 - Revenue systems with Make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2026-07-30T03:50:53.9970000Z</dcterms:created>
  <dcterms:modified xsi:type="dcterms:W3CDTF">2026-07-30T03:50:53.9970000Z</dcterms:modified>
</coreProperties>
</file>