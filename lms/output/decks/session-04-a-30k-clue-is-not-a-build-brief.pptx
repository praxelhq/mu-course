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10fdde072c48fb" /><Relationship Type="http://schemas.openxmlformats.org/officeDocument/2006/relationships/extended-properties" Target="/docProps/app.xml" Id="R41efc50ff7644502" /><Relationship Type="http://schemas.openxmlformats.org/officeDocument/2006/relationships/officeDocument" Target="/ppt/presentation.xml" Id="Rb4a1cb19232341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d4f4cc3ee74ac0"/>
  </p:sldMasterIdLst>
  <p:notesMasterIdLst>
    <p:notesMasterId xmlns:r="http://schemas.openxmlformats.org/officeDocument/2006/relationships" r:id="R05ef0052ccd94a94"/>
  </p:notesMasterIdLst>
  <p:sldIdLst>
    <p:sldId xmlns:r="http://schemas.openxmlformats.org/officeDocument/2006/relationships" id="256" r:id="Rac6e226f13814572"/>
    <p:sldId xmlns:r="http://schemas.openxmlformats.org/officeDocument/2006/relationships" id="257" r:id="R6583022711fd492a"/>
    <p:sldId xmlns:r="http://schemas.openxmlformats.org/officeDocument/2006/relationships" id="258" r:id="R1ef4d9ca0d3e4018"/>
    <p:sldId xmlns:r="http://schemas.openxmlformats.org/officeDocument/2006/relationships" id="259" r:id="Rdfe26663d3d04838"/>
    <p:sldId xmlns:r="http://schemas.openxmlformats.org/officeDocument/2006/relationships" id="260" r:id="R4f0ad2b7d51e433d"/>
    <p:sldId xmlns:r="http://schemas.openxmlformats.org/officeDocument/2006/relationships" id="261" r:id="R3d1926b2d746461b"/>
    <p:sldId xmlns:r="http://schemas.openxmlformats.org/officeDocument/2006/relationships" id="262" r:id="R2438508359514f7e"/>
    <p:sldId xmlns:r="http://schemas.openxmlformats.org/officeDocument/2006/relationships" id="263" r:id="R8d2576ee57fd467f"/>
    <p:sldId xmlns:r="http://schemas.openxmlformats.org/officeDocument/2006/relationships" id="264" r:id="R39bf0f25381e4d32"/>
    <p:sldId xmlns:r="http://schemas.openxmlformats.org/officeDocument/2006/relationships" id="265" r:id="R034e35bbf595440f"/>
    <p:sldId xmlns:r="http://schemas.openxmlformats.org/officeDocument/2006/relationships" id="266" r:id="R33fcf05e81004a85"/>
    <p:sldId xmlns:r="http://schemas.openxmlformats.org/officeDocument/2006/relationships" id="267" r:id="Ra71638dccffc41e7"/>
    <p:sldId xmlns:r="http://schemas.openxmlformats.org/officeDocument/2006/relationships" id="268" r:id="R5d046184ce3e49c9"/>
    <p:sldId xmlns:r="http://schemas.openxmlformats.org/officeDocument/2006/relationships" id="269" r:id="R55feba49983946af"/>
    <p:sldId xmlns:r="http://schemas.openxmlformats.org/officeDocument/2006/relationships" id="270" r:id="Re7f17867bdb04b15"/>
    <p:sldId xmlns:r="http://schemas.openxmlformats.org/officeDocument/2006/relationships" id="271" r:id="R0eaf3120c8114ac3"/>
    <p:sldId xmlns:r="http://schemas.openxmlformats.org/officeDocument/2006/relationships" id="272" r:id="R9d5f3abe774c49bf"/>
    <p:sldId xmlns:r="http://schemas.openxmlformats.org/officeDocument/2006/relationships" id="273" r:id="Rca7529a2e9154eda"/>
    <p:sldId xmlns:r="http://schemas.openxmlformats.org/officeDocument/2006/relationships" id="274" r:id="R106bba242e404b80"/>
    <p:sldId xmlns:r="http://schemas.openxmlformats.org/officeDocument/2006/relationships" id="275" r:id="Rf8ba045dd69946f0"/>
    <p:sldId xmlns:r="http://schemas.openxmlformats.org/officeDocument/2006/relationships" id="276" r:id="Raeb262fe9ff845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60317c07e0482c" /><Relationship Type="http://schemas.openxmlformats.org/officeDocument/2006/relationships/slideMaster" Target="/ppt/slideMasters/slideMaster1.xml" Id="R73d4f4cc3ee74ac0" /><Relationship Type="http://schemas.openxmlformats.org/officeDocument/2006/relationships/notesMaster" Target="/ppt/notesMasters/notesMaster1.xml" Id="R05ef0052ccd94a94" /><Relationship Type="http://schemas.openxmlformats.org/officeDocument/2006/relationships/presProps" Target="/ppt/presProps.xml" Id="Rffbe06be1c864ac6" /><Relationship Type="http://schemas.openxmlformats.org/officeDocument/2006/relationships/tableStyles" Target="/ppt/tableStyles.xml" Id="Recb48483fe9f445b" /><Relationship Type="http://schemas.openxmlformats.org/officeDocument/2006/relationships/slide" Target="/ppt/slides/slide1.xml" Id="Rac6e226f13814572" /><Relationship Type="http://schemas.openxmlformats.org/officeDocument/2006/relationships/slide" Target="/ppt/slides/slide2.xml" Id="R6583022711fd492a" /><Relationship Type="http://schemas.openxmlformats.org/officeDocument/2006/relationships/slide" Target="/ppt/slides/slide3.xml" Id="R1ef4d9ca0d3e4018" /><Relationship Type="http://schemas.openxmlformats.org/officeDocument/2006/relationships/slide" Target="/ppt/slides/slide4.xml" Id="Rdfe26663d3d04838" /><Relationship Type="http://schemas.openxmlformats.org/officeDocument/2006/relationships/slide" Target="/ppt/slides/slide5.xml" Id="R4f0ad2b7d51e433d" /><Relationship Type="http://schemas.openxmlformats.org/officeDocument/2006/relationships/slide" Target="/ppt/slides/slide6.xml" Id="R3d1926b2d746461b" /><Relationship Type="http://schemas.openxmlformats.org/officeDocument/2006/relationships/slide" Target="/ppt/slides/slide7.xml" Id="R2438508359514f7e" /><Relationship Type="http://schemas.openxmlformats.org/officeDocument/2006/relationships/slide" Target="/ppt/slides/slide8.xml" Id="R8d2576ee57fd467f" /><Relationship Type="http://schemas.openxmlformats.org/officeDocument/2006/relationships/slide" Target="/ppt/slides/slide9.xml" Id="R39bf0f25381e4d32" /><Relationship Type="http://schemas.openxmlformats.org/officeDocument/2006/relationships/slide" Target="/ppt/slides/slide10.xml" Id="R034e35bbf595440f" /><Relationship Type="http://schemas.openxmlformats.org/officeDocument/2006/relationships/slide" Target="/ppt/slides/slide11.xml" Id="R33fcf05e81004a85" /><Relationship Type="http://schemas.openxmlformats.org/officeDocument/2006/relationships/slide" Target="/ppt/slides/slide12.xml" Id="Ra71638dccffc41e7" /><Relationship Type="http://schemas.openxmlformats.org/officeDocument/2006/relationships/slide" Target="/ppt/slides/slide13.xml" Id="R5d046184ce3e49c9" /><Relationship Type="http://schemas.openxmlformats.org/officeDocument/2006/relationships/slide" Target="/ppt/slides/slide14.xml" Id="R55feba49983946af" /><Relationship Type="http://schemas.openxmlformats.org/officeDocument/2006/relationships/slide" Target="/ppt/slides/slide15.xml" Id="Re7f17867bdb04b15" /><Relationship Type="http://schemas.openxmlformats.org/officeDocument/2006/relationships/slide" Target="/ppt/slides/slide16.xml" Id="R0eaf3120c8114ac3" /><Relationship Type="http://schemas.openxmlformats.org/officeDocument/2006/relationships/slide" Target="/ppt/slides/slide17.xml" Id="R9d5f3abe774c49bf" /><Relationship Type="http://schemas.openxmlformats.org/officeDocument/2006/relationships/slide" Target="/ppt/slides/slide18.xml" Id="Rca7529a2e9154eda" /><Relationship Type="http://schemas.openxmlformats.org/officeDocument/2006/relationships/slide" Target="/ppt/slides/slide19.xml" Id="R106bba242e404b80" /><Relationship Type="http://schemas.openxmlformats.org/officeDocument/2006/relationships/slide" Target="/ppt/slides/slide20.xml" Id="Rf8ba045dd69946f0" /><Relationship Type="http://schemas.openxmlformats.org/officeDocument/2006/relationships/slide" Target="/ppt/slides/slide21.xml" Id="Raeb262fe9ff845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2f3214713f45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ession 04 - A $30K clue is not a build brief Editorial">
      <a:dk1>
        <a:srgbClr val="1F1A14"/>
      </a:dk1>
      <a:lt1>
        <a:srgbClr val="FFFFFF"/>
      </a:lt1>
      <a:dk2>
        <a:srgbClr val="1E3A35"/>
      </a:dk2>
      <a:lt2>
        <a:srgbClr val="F5F0E8"/>
      </a:lt2>
      <a:accent1>
        <a:srgbClr val="1E3A35"/>
      </a:accent1>
      <a:accent2>
        <a:srgbClr val="C4581A"/>
      </a:accent2>
      <a:accent3>
        <a:srgbClr val="F0D478"/>
      </a:accent3>
      <a:accent4>
        <a:srgbClr val="EDE5D8"/>
      </a:accent4>
      <a:accent5>
        <a:srgbClr val="5C5046"/>
      </a:accent5>
      <a:accent6>
        <a:srgbClr val="9C8E82"/>
      </a:accent6>
      <a:hlink>
        <a:srgbClr val="C4581A"/>
      </a:hlink>
      <a:folHlink>
        <a:srgbClr val="5C504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ssion 04 - A $30K clue is not a build brief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41ccd4f5794a73" /><Relationship Type="http://schemas.openxmlformats.org/officeDocument/2006/relationships/notesMaster" Target="/ppt/notesMasters/notesMaster1.xml" Id="R077027c14a044e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108d5690fa4d78" /><Relationship Type="http://schemas.openxmlformats.org/officeDocument/2006/relationships/notesMaster" Target="/ppt/notesMasters/notesMaster1.xml" Id="R1f48914575fc4e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39f456b8c0481d" /><Relationship Type="http://schemas.openxmlformats.org/officeDocument/2006/relationships/notesMaster" Target="/ppt/notesMasters/notesMaster1.xml" Id="Rcb40c4d00c394e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ce3a2a74c54000" /><Relationship Type="http://schemas.openxmlformats.org/officeDocument/2006/relationships/notesMaster" Target="/ppt/notesMasters/notesMaster1.xml" Id="Rfd24b70d315f48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5a7769862447e2" /><Relationship Type="http://schemas.openxmlformats.org/officeDocument/2006/relationships/notesMaster" Target="/ppt/notesMasters/notesMaster1.xml" Id="R90ffbb4ad97441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357fa4193e45f5" /><Relationship Type="http://schemas.openxmlformats.org/officeDocument/2006/relationships/notesMaster" Target="/ppt/notesMasters/notesMaster1.xml" Id="R35f923205e734a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ea2246713744e8" /><Relationship Type="http://schemas.openxmlformats.org/officeDocument/2006/relationships/notesMaster" Target="/ppt/notesMasters/notesMaster1.xml" Id="R0b809c951ea448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c029e18d644f15" /><Relationship Type="http://schemas.openxmlformats.org/officeDocument/2006/relationships/notesMaster" Target="/ppt/notesMasters/notesMaster1.xml" Id="Ra973107636c84b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c2d2a01add4b4f" /><Relationship Type="http://schemas.openxmlformats.org/officeDocument/2006/relationships/notesMaster" Target="/ppt/notesMasters/notesMaster1.xml" Id="R37fcbcbc489447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b01d64e6c84a0f" /><Relationship Type="http://schemas.openxmlformats.org/officeDocument/2006/relationships/notesMaster" Target="/ppt/notesMasters/notesMaster1.xml" Id="R578b8bd8ee71407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69fd31b80c43c5" /><Relationship Type="http://schemas.openxmlformats.org/officeDocument/2006/relationships/notesMaster" Target="/ppt/notesMasters/notesMaster1.xml" Id="Re0443cea7f2d4c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5c580286374cef" /><Relationship Type="http://schemas.openxmlformats.org/officeDocument/2006/relationships/notesMaster" Target="/ppt/notesMasters/notesMaster1.xml" Id="R5db7214105c44c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d0a05805a9e42e4" /><Relationship Type="http://schemas.openxmlformats.org/officeDocument/2006/relationships/notesMaster" Target="/ppt/notesMasters/notesMaster1.xml" Id="Rb3c27091ad8141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11532ea0be4faf" /><Relationship Type="http://schemas.openxmlformats.org/officeDocument/2006/relationships/notesMaster" Target="/ppt/notesMasters/notesMaster1.xml" Id="R8db79be1660e4f5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0bf01a286447a6" /><Relationship Type="http://schemas.openxmlformats.org/officeDocument/2006/relationships/notesMaster" Target="/ppt/notesMasters/notesMaster1.xml" Id="Rfb7769f2ae9641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436ca2ce0084c2e" /><Relationship Type="http://schemas.openxmlformats.org/officeDocument/2006/relationships/notesMaster" Target="/ppt/notesMasters/notesMaster1.xml" Id="Rad5c8840b67242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b65b7c90924857" /><Relationship Type="http://schemas.openxmlformats.org/officeDocument/2006/relationships/notesMaster" Target="/ppt/notesMasters/notesMaster1.xml" Id="R63aabd3c1be241c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419935faa74767" /><Relationship Type="http://schemas.openxmlformats.org/officeDocument/2006/relationships/notesMaster" Target="/ppt/notesMasters/notesMaster1.xml" Id="Redb96bbb43744eb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da27664aea84e81" /><Relationship Type="http://schemas.openxmlformats.org/officeDocument/2006/relationships/notesMaster" Target="/ppt/notesMasters/notesMaster1.xml" Id="Rfd19a13973b74d2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7b43472d18a4b2d" /><Relationship Type="http://schemas.openxmlformats.org/officeDocument/2006/relationships/notesMaster" Target="/ppt/notesMasters/notesMaster1.xml" Id="R119cb60130554cf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ace923bd51d4456" /><Relationship Type="http://schemas.openxmlformats.org/officeDocument/2006/relationships/notesMaster" Target="/ppt/notesMasters/notesMaster1.xml" Id="R691eae2ad3124b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00:00-00:02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Today we will ship. The revenue clue establishes that a customer problem may be valuable. Our job is to decide which behavior we can make true in one hour.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00:02-00:04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V2 comes later; do not lead with the extra-credit feeling. A truthful failed test is evidence. A pretty URL without tests is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00:04-00:10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Hold the answer. Connect to Session 3: method/evidence beats a confident output.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00:10-00:13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Values are rounded, current snapshots. TrustMRR public pages describe provider verification; metrics drift. Founder site independently supports Liinks’ $30K+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  <a:p xmlns:a="http://schemas.openxmlformats.org/drawingml/2006/main">
            <a:r>
              <a:t>- https://trustmrr.com/startup/liinks</a:t>
            </a:r>
          </a:p>
          <a:p xmlns:a="http://schemas.openxmlformats.org/drawingml/2006/main">
            <a:r>
              <a:t>- https://trustmrr.com/startup/habitkit</a:t>
            </a:r>
          </a:p>
          <a:p xmlns:a="http://schemas.openxmlformats.org/drawingml/2006/main">
            <a:r>
              <a:t>- https://trustmrr.com/startup/qr-code-ai</a:t>
            </a:r>
          </a:p>
          <a:p xmlns:a="http://schemas.openxmlformats.org/drawingml/2006/main">
            <a:r>
              <a:t>- https://charlieclark.co/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00:13-00:17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Revenue is 20 of 100. A product can be successful and still be a poor classroom build. Liinks is the frozen instructor candidate; one-hour and credit-fit scores remain provisional until the golden run and learner dry run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00:17-00:20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why the pattern is rich enough: CRUD/state, public consumption and behavioral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00:20-00:24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 non-affiliation statement. Complete means the classroom contract, not mature commercial parity.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00:24-00:27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Liinks’ current docs show a broad block catalogue, richer analytics, domains and API. We will select a vertical slice and name omissions honestly.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  <a:p xmlns:a="http://schemas.openxmlformats.org/drawingml/2006/main">
            <a:r>
              <a:t>- https://www.liinks.co/help/article/block-types</a:t>
            </a:r>
          </a:p>
          <a:p xmlns:a="http://schemas.openxmlformats.org/drawingml/2006/main">
            <a:r>
              <a:t>- https://www.liinks.co/help/article/how-do-i-see-how-my-page-is-performing</a:t>
            </a:r>
          </a:p>
          <a:p xmlns:a="http://schemas.openxmlformats.org/drawingml/2006/main">
            <a:r>
              <a:t>- https://www.liinks.co/help/article/public-api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00:27-00:30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core, mocked and out-of-scope labels. Every team must adapt the fictional persona, message hierarchy and one core use case using public evidence only; an unchanged generic fixture is capped at 6/10 for Relevance.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00:30-00:32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Tests tell Lovable what done means and tell us when to stop. Release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00:32-00:35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 with Clone Liinks exactly. Do not distribute this slide before the first-prompt checkpoint closes. Evaluator-only boundary: instructor-only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00:35-00:37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new features after minute 49. The last eleven minutes belong to truth and publication. State the spoken start and 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00:37-00:40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Lovable docs say every Plan message costs one credit and Plan mode does not modify code. If no usable formal plan appears, log NO_FORMAL_PLAN, release the fallback after checkpoint, edit it, then switch to one bounded Build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  <a:p xmlns:a="http://schemas.openxmlformats.org/drawingml/2006/main">
            <a:r>
              <a:t>- https://docs.lovable.dev/features/plan-mode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00:40-00:45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Edit the plan directly. Remove auth, payment and integration scope. Approve.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00:45-01:24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Leave this slide visible while building. Advance the rail at minutes 53, 67, 77 and 84. Narrate contract / evidence / smallest next change. Stop class-wide only for shared failures.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01:24-01:30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fake geographic audience, API success, emails sent or DNS connection. Lovable’s build agent changes the project; a model call inside the published app is a separate product capability.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  <a:p xmlns:a="http://schemas.openxmlformats.org/drawingml/2006/main">
            <a:r>
              <a:t>- https://docs.lovable.dev/introduction/credits-and-usage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01:30-01:35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Free/Pro public apps are accessible to anyone with the link. Use dummy data. Asking the agent to publish consumes standard chat usage; the dialog is currently free.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  <a:p xmlns:a="http://schemas.openxmlformats.org/drawingml/2006/main">
            <a:r>
              <a:t>- https://docs.lovable.dev/features/publish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01:35-01:46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Reviewer runs tests before giving design opinions. Reviewer initials the log; builder owns fixes.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01:46-01:52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Broad aesthetic prompts at this point are scope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01:52-01:59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V2 is auto-granted when the V1 receipt is issued; that receipt starts the ten-calendar-day window. Only the instructor may approve an extension or an additional repair permission. Learners cannot self-extend. Latest eligible version is graded; V1 remains in history. Distinguish daily grant exhausted below monthly cap from the 30-credit monthly cap reached. No one must buy credits. Pricing and credit behavior were verified 30 July 2026 and require T-7 recheck.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  <a:p xmlns:a="http://schemas.openxmlformats.org/drawingml/2006/main">
            <a:r>
              <a:t>- Reviewed Session 04 V1/V2 assessment contract (30 Jul 2026)</a:t>
            </a:r>
          </a:p>
          <a:p xmlns:a="http://schemas.openxmlformats.org/drawingml/2006/main">
            <a:r>
              <a:t>- https://lovable.dev/pricing</a:t>
            </a:r>
          </a:p>
          <a:p xmlns:a="http://schemas.openxmlformats.org/drawingml/2006/main">
            <a:r>
              <a:t>- https://docs.lovable.dev/introduction/credits-and-usage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01:59-02:00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Take three spoken examples: signup, high-intent click, failed follow-up. Next session, submit the flowchart before the automation.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lms/course/session-04/02-deck-script.md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c890c120db45f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ea9b3ce0194742" /><Relationship Type="http://schemas.openxmlformats.org/officeDocument/2006/relationships/slideLayout" Target="/ppt/slideLayouts/slideLayout1.xml" Id="R6d692d48e51842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692d48e51842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ession 04 - A $30K clue is not a build brief Editorial">
      <a:dk1>
        <a:srgbClr val="1F1A14"/>
      </a:dk1>
      <a:lt1>
        <a:srgbClr val="FFFFFF"/>
      </a:lt1>
      <a:dk2>
        <a:srgbClr val="1E3A35"/>
      </a:dk2>
      <a:lt2>
        <a:srgbClr val="F5F0E8"/>
      </a:lt2>
      <a:accent1>
        <a:srgbClr val="1E3A35"/>
      </a:accent1>
      <a:accent2>
        <a:srgbClr val="C4581A"/>
      </a:accent2>
      <a:accent3>
        <a:srgbClr val="F0D478"/>
      </a:accent3>
      <a:accent4>
        <a:srgbClr val="EDE5D8"/>
      </a:accent4>
      <a:accent5>
        <a:srgbClr val="5C5046"/>
      </a:accent5>
      <a:accent6>
        <a:srgbClr val="9C8E82"/>
      </a:accent6>
      <a:hlink>
        <a:srgbClr val="C4581A"/>
      </a:hlink>
      <a:folHlink>
        <a:srgbClr val="5C504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ssion 04 - A $30K clue is not a build brief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31f46493c41fe" /><Relationship Type="http://schemas.openxmlformats.org/officeDocument/2006/relationships/notesSlide" Target="/ppt/notesSlides/notesSlide1.xml" Id="Raa0cdb5b8a2e43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4ba4bc7f545e7" /><Relationship Type="http://schemas.openxmlformats.org/officeDocument/2006/relationships/notesSlide" Target="/ppt/notesSlides/notesSlide2.xml" Id="R2051f98163a644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80b4bf7ef4c0d" /><Relationship Type="http://schemas.openxmlformats.org/officeDocument/2006/relationships/notesSlide" Target="/ppt/notesSlides/notesSlide3.xml" Id="R600ed60134a446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efa5772394d09" /><Relationship Type="http://schemas.openxmlformats.org/officeDocument/2006/relationships/notesSlide" Target="/ppt/notesSlides/notesSlide4.xml" Id="R5d459446f71d4e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d0aee6a694dbf" /><Relationship Type="http://schemas.openxmlformats.org/officeDocument/2006/relationships/notesSlide" Target="/ppt/notesSlides/notesSlide5.xml" Id="R4d6fb02270a741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bd95ea6a7438b" /><Relationship Type="http://schemas.openxmlformats.org/officeDocument/2006/relationships/notesSlide" Target="/ppt/notesSlides/notesSlide6.xml" Id="R167e65f9f4244e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189a9b13046a5" /><Relationship Type="http://schemas.openxmlformats.org/officeDocument/2006/relationships/notesSlide" Target="/ppt/notesSlides/notesSlide7.xml" Id="Rf261c4dda6a143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ab2a1eb0844c0" /><Relationship Type="http://schemas.openxmlformats.org/officeDocument/2006/relationships/notesSlide" Target="/ppt/notesSlides/notesSlide8.xml" Id="R2157091d979d4b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b629771f74b5b" /><Relationship Type="http://schemas.openxmlformats.org/officeDocument/2006/relationships/notesSlide" Target="/ppt/notesSlides/notesSlide9.xml" Id="R1dc1081fa4824a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454ee000046f0" /><Relationship Type="http://schemas.openxmlformats.org/officeDocument/2006/relationships/notesSlide" Target="/ppt/notesSlides/notesSlide10.xml" Id="Rca0bf822aa114e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55fa36f0541a8" /><Relationship Type="http://schemas.openxmlformats.org/officeDocument/2006/relationships/notesSlide" Target="/ppt/notesSlides/notesSlide11.xml" Id="Rc09425b66c7549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bfdf84d8e4cbd" /><Relationship Type="http://schemas.openxmlformats.org/officeDocument/2006/relationships/notesSlide" Target="/ppt/notesSlides/notesSlide12.xml" Id="Ra3e80edda9fe44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9207bfd134238" /><Relationship Type="http://schemas.openxmlformats.org/officeDocument/2006/relationships/notesSlide" Target="/ppt/notesSlides/notesSlide13.xml" Id="R3e871f4152ce4f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b38ead90b40e1" /><Relationship Type="http://schemas.openxmlformats.org/officeDocument/2006/relationships/notesSlide" Target="/ppt/notesSlides/notesSlide14.xml" Id="R137a9e4b6867425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2d7d8b3d44188" /><Relationship Type="http://schemas.openxmlformats.org/officeDocument/2006/relationships/notesSlide" Target="/ppt/notesSlides/notesSlide15.xml" Id="Ra866b032cf3448f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3501a57c84056" /><Relationship Type="http://schemas.openxmlformats.org/officeDocument/2006/relationships/notesSlide" Target="/ppt/notesSlides/notesSlide16.xml" Id="R324883f2cf024a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1ef5027794ecb" /><Relationship Type="http://schemas.openxmlformats.org/officeDocument/2006/relationships/notesSlide" Target="/ppt/notesSlides/notesSlide17.xml" Id="Rc606f15653e64d6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8d7c3cae64ece" /><Relationship Type="http://schemas.openxmlformats.org/officeDocument/2006/relationships/notesSlide" Target="/ppt/notesSlides/notesSlide18.xml" Id="Rb0fe7febe0a643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8feba7d7f4146" /><Relationship Type="http://schemas.openxmlformats.org/officeDocument/2006/relationships/notesSlide" Target="/ppt/notesSlides/notesSlide19.xml" Id="Ref053ae5fb2f47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db83faa624eaa" /><Relationship Type="http://schemas.openxmlformats.org/officeDocument/2006/relationships/notesSlide" Target="/ppt/notesSlides/notesSlide20.xml" Id="Rbee968eab8264b2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468ea88974300" /><Relationship Type="http://schemas.openxmlformats.org/officeDocument/2006/relationships/notesSlide" Target="/ppt/notesSlides/notesSlide21.xml" Id="R1abb15f594ec4c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01-cover-rule">
            <a:extLst xmlns:a="http://schemas.openxmlformats.org/drawingml/2006/main">
              <a:ext uri="{FF2B5EF4-FFF2-40B4-BE49-F238E27FC236}">
                <a16:creationId xmlns:a16="http://schemas.microsoft.com/office/drawing/2014/main" id="{A42D72C7-FB6A-4D43-AEBF-12988944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8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2-kicker">
            <a:extLst xmlns:a="http://schemas.openxmlformats.org/drawingml/2006/main">
              <a:ext uri="{FF2B5EF4-FFF2-40B4-BE49-F238E27FC236}">
                <a16:creationId xmlns:a16="http://schemas.microsoft.com/office/drawing/2014/main" id="{29359CD1-466E-4089-8AAA-3D709827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SESSION 04 · BUILD FIRST</a:t>
            </a:r>
          </a:p>
        </p:txBody>
      </p:sp>
      <p:sp>
        <p:nvSpPr>
          <p:cNvPr id="3" name="03-cover-title">
            <a:extLst xmlns:a="http://schemas.openxmlformats.org/drawingml/2006/main">
              <a:ext uri="{FF2B5EF4-FFF2-40B4-BE49-F238E27FC236}">
                <a16:creationId xmlns:a16="http://schemas.microsoft.com/office/drawing/2014/main" id="{4D5E3D2B-7714-4685-877B-9752985D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00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55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555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A $30K clue is not a build brief</a:t>
            </a:r>
          </a:p>
        </p:txBody>
      </p:sp>
      <p:sp>
        <p:nvSpPr>
          <p:cNvPr id="4" name="04-revenue-clue">
            <a:extLst xmlns:a="http://schemas.openxmlformats.org/drawingml/2006/main">
              <a:ext uri="{FF2B5EF4-FFF2-40B4-BE49-F238E27FC236}">
                <a16:creationId xmlns:a16="http://schemas.microsoft.com/office/drawing/2014/main" id="{5E1809DB-EB2D-4A13-B793-ED1A068D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766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27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about $30K MRR · public snapshot · 30 Jul 2026</a:t>
            </a:r>
          </a:p>
        </p:txBody>
      </p:sp>
      <p:sp>
        <p:nvSpPr>
          <p:cNvPr id="5" name="05-arrow">
            <a:extLst xmlns:a="http://schemas.openxmlformats.org/drawingml/2006/main">
              <a:ext uri="{FF2B5EF4-FFF2-40B4-BE49-F238E27FC236}">
                <a16:creationId xmlns:a16="http://schemas.microsoft.com/office/drawing/2014/main" id="{9ABD23A6-1398-40F9-AE66-B2A9E8F7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695825"/>
            <a:ext cx="7620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6-cover-step">
            <a:extLst xmlns:a="http://schemas.openxmlformats.org/drawingml/2006/main">
              <a:ext uri="{FF2B5EF4-FFF2-40B4-BE49-F238E27FC236}">
                <a16:creationId xmlns:a16="http://schemas.microsoft.com/office/drawing/2014/main" id="{7542525A-E0EB-4C77-9159-AF3B00B3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EVIDENCE</a:t>
            </a:r>
          </a:p>
        </p:txBody>
      </p:sp>
      <p:sp>
        <p:nvSpPr>
          <p:cNvPr id="7" name="07-arrow">
            <a:extLst xmlns:a="http://schemas.openxmlformats.org/drawingml/2006/main">
              <a:ext uri="{FF2B5EF4-FFF2-40B4-BE49-F238E27FC236}">
                <a16:creationId xmlns:a16="http://schemas.microsoft.com/office/drawing/2014/main" id="{72DBB76E-C1DF-4630-B817-5A1576D6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95825"/>
            <a:ext cx="7620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8-cover-step">
            <a:extLst xmlns:a="http://schemas.openxmlformats.org/drawingml/2006/main">
              <a:ext uri="{FF2B5EF4-FFF2-40B4-BE49-F238E27FC236}">
                <a16:creationId xmlns:a16="http://schemas.microsoft.com/office/drawing/2014/main" id="{FB7B8095-45DE-4996-8108-B4A16446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38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CONTRACT</a:t>
            </a:r>
          </a:p>
        </p:txBody>
      </p:sp>
      <p:sp>
        <p:nvSpPr>
          <p:cNvPr id="9" name="09-arrow">
            <a:extLst xmlns:a="http://schemas.openxmlformats.org/drawingml/2006/main">
              <a:ext uri="{FF2B5EF4-FFF2-40B4-BE49-F238E27FC236}">
                <a16:creationId xmlns:a16="http://schemas.microsoft.com/office/drawing/2014/main" id="{CEE88DD4-0918-4E55-A249-B2E878B3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95825"/>
            <a:ext cx="7620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10-cover-step">
            <a:extLst xmlns:a="http://schemas.openxmlformats.org/drawingml/2006/main">
              <a:ext uri="{FF2B5EF4-FFF2-40B4-BE49-F238E27FC236}">
                <a16:creationId xmlns:a16="http://schemas.microsoft.com/office/drawing/2014/main" id="{CDE78F30-DCAD-4A69-8218-2FDC8AE2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38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PROMPT</a:t>
            </a:r>
          </a:p>
        </p:txBody>
      </p:sp>
      <p:sp>
        <p:nvSpPr>
          <p:cNvPr id="11" name="11-arrow">
            <a:extLst xmlns:a="http://schemas.openxmlformats.org/drawingml/2006/main">
              <a:ext uri="{FF2B5EF4-FFF2-40B4-BE49-F238E27FC236}">
                <a16:creationId xmlns:a16="http://schemas.microsoft.com/office/drawing/2014/main" id="{22B7BCE2-5B7F-4D41-B16B-8E26E2AA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95825"/>
            <a:ext cx="7620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12-cover-step">
            <a:extLst xmlns:a="http://schemas.openxmlformats.org/drawingml/2006/main">
              <a:ext uri="{FF2B5EF4-FFF2-40B4-BE49-F238E27FC236}">
                <a16:creationId xmlns:a16="http://schemas.microsoft.com/office/drawing/2014/main" id="{EB045FDA-A61C-4BC4-A749-BB66E3B0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38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WORKING APP</a:t>
            </a:r>
          </a:p>
        </p:txBody>
      </p:sp>
      <p:sp>
        <p:nvSpPr>
          <p:cNvPr id="13" name="13-cover-step">
            <a:extLst xmlns:a="http://schemas.openxmlformats.org/drawingml/2006/main">
              <a:ext uri="{FF2B5EF4-FFF2-40B4-BE49-F238E27FC236}">
                <a16:creationId xmlns:a16="http://schemas.microsoft.com/office/drawing/2014/main" id="{721E73E6-E42F-4E91-B236-DF2FFA7E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386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PROOF</a:t>
            </a:r>
          </a:p>
        </p:txBody>
      </p:sp>
      <p:sp>
        <p:nvSpPr>
          <p:cNvPr id="14" name="14-footer-rule">
            <a:extLst xmlns:a="http://schemas.openxmlformats.org/drawingml/2006/main">
              <a:ext uri="{FF2B5EF4-FFF2-40B4-BE49-F238E27FC236}">
                <a16:creationId xmlns:a16="http://schemas.microsoft.com/office/drawing/2014/main" id="{5879B62F-0C4A-4069-8827-90F1DE70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5" name="15-footer-left">
            <a:extLst xmlns:a="http://schemas.openxmlformats.org/drawingml/2006/main">
              <a:ext uri="{FF2B5EF4-FFF2-40B4-BE49-F238E27FC236}">
                <a16:creationId xmlns:a16="http://schemas.microsoft.com/office/drawing/2014/main" id="{CA289AEF-F37B-4EE2-9D62-DE4D1B43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00:00-00:02</a:t>
            </a:r>
          </a:p>
        </p:txBody>
      </p:sp>
      <p:sp>
        <p:nvSpPr>
          <p:cNvPr id="16" name="16-footer-right">
            <a:extLst xmlns:a="http://schemas.openxmlformats.org/drawingml/2006/main">
              <a:ext uri="{FF2B5EF4-FFF2-40B4-BE49-F238E27FC236}">
                <a16:creationId xmlns:a16="http://schemas.microsoft.com/office/drawing/2014/main" id="{12A843AC-FDB4-48CD-BCE3-C49FAA06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01 / 21</a:t>
            </a:r>
          </a:p>
        </p:txBody>
      </p:sp>
    </p:spTree>
    <p:extLst>
      <p:ext uri="{BB962C8B-B14F-4D97-AF65-F5344CB8AC3E}">
        <p14:creationId xmlns:p14="http://schemas.microsoft.com/office/powerpoint/2010/main" val="7780707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1-kicker">
            <a:extLst xmlns:a="http://schemas.openxmlformats.org/drawingml/2006/main">
              <a:ext uri="{FF2B5EF4-FFF2-40B4-BE49-F238E27FC236}">
                <a16:creationId xmlns:a16="http://schemas.microsoft.com/office/drawing/2014/main" id="{8102DB29-5E3C-461E-B61F-E6A43A01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THE V1 EVIDENCE PACKAGE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95472CF7-5AB4-4CEB-A77F-5BBF5BF5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By 116 minutes, submit this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CE27E4AC-C6B3-4838-A3C4-FB218665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field-number">
            <a:extLst xmlns:a="http://schemas.openxmlformats.org/drawingml/2006/main">
              <a:ext uri="{FF2B5EF4-FFF2-40B4-BE49-F238E27FC236}">
                <a16:creationId xmlns:a16="http://schemas.microsoft.com/office/drawing/2014/main" id="{90AD4F4E-D2EA-4217-9D23-91D1C1DB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01</a:t>
            </a:r>
          </a:p>
        </p:txBody>
      </p:sp>
      <p:sp>
        <p:nvSpPr>
          <p:cNvPr id="5" name="05-field-rule">
            <a:extLst xmlns:a="http://schemas.openxmlformats.org/drawingml/2006/main">
              <a:ext uri="{FF2B5EF4-FFF2-40B4-BE49-F238E27FC236}">
                <a16:creationId xmlns:a16="http://schemas.microsoft.com/office/drawing/2014/main" id="{AFB1B0DF-7D9C-4278-AE3A-ED727F76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717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6" name="06-field-label">
            <a:extLst xmlns:a="http://schemas.openxmlformats.org/drawingml/2006/main">
              <a:ext uri="{FF2B5EF4-FFF2-40B4-BE49-F238E27FC236}">
                <a16:creationId xmlns:a16="http://schemas.microsoft.com/office/drawing/2014/main" id="{C954A206-792F-4BE2-90DF-3FA672B4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05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250" b="1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product + sources</a:t>
            </a:r>
          </a:p>
        </p:txBody>
      </p:sp>
      <p:sp>
        <p:nvSpPr>
          <p:cNvPr id="7" name="07-field-number">
            <a:extLst xmlns:a="http://schemas.openxmlformats.org/drawingml/2006/main">
              <a:ext uri="{FF2B5EF4-FFF2-40B4-BE49-F238E27FC236}">
                <a16:creationId xmlns:a16="http://schemas.microsoft.com/office/drawing/2014/main" id="{10A84A4C-55E2-41DC-B7D2-F78FA0E5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02</a:t>
            </a:r>
          </a:p>
        </p:txBody>
      </p:sp>
      <p:sp>
        <p:nvSpPr>
          <p:cNvPr id="8" name="08-field-rule">
            <a:extLst xmlns:a="http://schemas.openxmlformats.org/drawingml/2006/main">
              <a:ext uri="{FF2B5EF4-FFF2-40B4-BE49-F238E27FC236}">
                <a16:creationId xmlns:a16="http://schemas.microsoft.com/office/drawing/2014/main" id="{CA9BC4F7-EF93-4D5C-B007-EF72BE70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9718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9" name="09-field-label">
            <a:extLst xmlns:a="http://schemas.openxmlformats.org/drawingml/2006/main">
              <a:ext uri="{FF2B5EF4-FFF2-40B4-BE49-F238E27FC236}">
                <a16:creationId xmlns:a16="http://schemas.microsoft.com/office/drawing/2014/main" id="{06440854-0305-46F9-A9DB-9D1238D0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051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250" b="1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feature contract + first prompt</a:t>
            </a:r>
          </a:p>
        </p:txBody>
      </p:sp>
      <p:sp>
        <p:nvSpPr>
          <p:cNvPr id="10" name="10-field-number">
            <a:extLst xmlns:a="http://schemas.openxmlformats.org/drawingml/2006/main">
              <a:ext uri="{FF2B5EF4-FFF2-40B4-BE49-F238E27FC236}">
                <a16:creationId xmlns:a16="http://schemas.microsoft.com/office/drawing/2014/main" id="{7A6D5C75-34C3-43BA-9C23-E2632137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03</a:t>
            </a:r>
          </a:p>
        </p:txBody>
      </p:sp>
      <p:sp>
        <p:nvSpPr>
          <p:cNvPr id="11" name="11-field-rule">
            <a:extLst xmlns:a="http://schemas.openxmlformats.org/drawingml/2006/main">
              <a:ext uri="{FF2B5EF4-FFF2-40B4-BE49-F238E27FC236}">
                <a16:creationId xmlns:a16="http://schemas.microsoft.com/office/drawing/2014/main" id="{14529246-A24D-41B5-9D2F-AD557C02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7719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12" name="12-field-label">
            <a:extLst xmlns:a="http://schemas.openxmlformats.org/drawingml/2006/main">
              <a:ext uri="{FF2B5EF4-FFF2-40B4-BE49-F238E27FC236}">
                <a16:creationId xmlns:a16="http://schemas.microsoft.com/office/drawing/2014/main" id="{0B223CD4-80C2-4BCC-9DB1-5DA205F8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052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250" b="1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public V1 URL</a:t>
            </a:r>
          </a:p>
        </p:txBody>
      </p:sp>
      <p:sp>
        <p:nvSpPr>
          <p:cNvPr id="13" name="13-field-number">
            <a:extLst xmlns:a="http://schemas.openxmlformats.org/drawingml/2006/main">
              <a:ext uri="{FF2B5EF4-FFF2-40B4-BE49-F238E27FC236}">
                <a16:creationId xmlns:a16="http://schemas.microsoft.com/office/drawing/2014/main" id="{A0650787-4856-46F6-B5F2-41BC050A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685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04</a:t>
            </a:r>
          </a:p>
        </p:txBody>
      </p:sp>
      <p:sp>
        <p:nvSpPr>
          <p:cNvPr id="14" name="14-field-rule">
            <a:extLst xmlns:a="http://schemas.openxmlformats.org/drawingml/2006/main">
              <a:ext uri="{FF2B5EF4-FFF2-40B4-BE49-F238E27FC236}">
                <a16:creationId xmlns:a16="http://schemas.microsoft.com/office/drawing/2014/main" id="{EB17BFB9-9D1A-402C-A853-6E972228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15" name="15-field-label">
            <a:extLst xmlns:a="http://schemas.openxmlformats.org/drawingml/2006/main">
              <a:ext uri="{FF2B5EF4-FFF2-40B4-BE49-F238E27FC236}">
                <a16:creationId xmlns:a16="http://schemas.microsoft.com/office/drawing/2014/main" id="{46122CA1-905D-4807-B79C-88E317A7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053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250" b="1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acceptance-test evidence</a:t>
            </a:r>
          </a:p>
        </p:txBody>
      </p:sp>
      <p:sp>
        <p:nvSpPr>
          <p:cNvPr id="16" name="16-submission-truth">
            <a:extLst xmlns:a="http://schemas.openxmlformats.org/drawingml/2006/main">
              <a:ext uri="{FF2B5EF4-FFF2-40B4-BE49-F238E27FC236}">
                <a16:creationId xmlns:a16="http://schemas.microsoft.com/office/drawing/2014/main" id="{B80B4FD3-94F8-4617-95BB-5276B1DB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721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1">
                <a:solidFill>
                  <a:srgbClr val="5C5046"/>
                </a:solidFill>
                <a:latin typeface="Fraunces 9pt"/>
                <a:ea typeface="Fraunces 9pt"/>
                <a:cs typeface="Fraunces 9pt"/>
              </a:defRPr>
            </a:pPr>
            <a:r>
              <a:rPr sz="1800" b="0" i="1">
                <a:solidFill>
                  <a:srgbClr val="5C5046"/>
                </a:solidFill>
                <a:latin typeface="Fraunces 9pt"/>
                <a:ea typeface="Fraunces 9pt"/>
                <a:cs typeface="Fraunces 9pt"/>
              </a:rPr>
              <a:t>A truthful failed test is evidence. A pretty URL without tests is not.</a:t>
            </a:r>
          </a:p>
        </p:txBody>
      </p:sp>
      <p:sp>
        <p:nvSpPr>
          <p:cNvPr id="17" name="17-footer-rule">
            <a:extLst xmlns:a="http://schemas.openxmlformats.org/drawingml/2006/main">
              <a:ext uri="{FF2B5EF4-FFF2-40B4-BE49-F238E27FC236}">
                <a16:creationId xmlns:a16="http://schemas.microsoft.com/office/drawing/2014/main" id="{0A79780D-0E0C-4E49-A00A-C871D71C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8" name="18-footer-left">
            <a:extLst xmlns:a="http://schemas.openxmlformats.org/drawingml/2006/main">
              <a:ext uri="{FF2B5EF4-FFF2-40B4-BE49-F238E27FC236}">
                <a16:creationId xmlns:a16="http://schemas.microsoft.com/office/drawing/2014/main" id="{51611F27-A19B-4C07-BD7C-C1B718B6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00:02-00:04</a:t>
            </a:r>
          </a:p>
        </p:txBody>
      </p:sp>
      <p:sp>
        <p:nvSpPr>
          <p:cNvPr id="19" name="19-footer-right">
            <a:extLst xmlns:a="http://schemas.openxmlformats.org/drawingml/2006/main">
              <a:ext uri="{FF2B5EF4-FFF2-40B4-BE49-F238E27FC236}">
                <a16:creationId xmlns:a16="http://schemas.microsoft.com/office/drawing/2014/main" id="{761CB988-5346-4FBB-93CC-B038A0EE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02 / 21</a:t>
            </a:r>
          </a:p>
        </p:txBody>
      </p:sp>
    </p:spTree>
    <p:extLst>
      <p:ext uri="{BB962C8B-B14F-4D97-AF65-F5344CB8AC3E}">
        <p14:creationId xmlns:p14="http://schemas.microsoft.com/office/powerpoint/2010/main" val="693169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01-kicker">
            <a:extLst xmlns:a="http://schemas.openxmlformats.org/drawingml/2006/main">
              <a:ext uri="{FF2B5EF4-FFF2-40B4-BE49-F238E27FC236}">
                <a16:creationId xmlns:a16="http://schemas.microsoft.com/office/drawing/2014/main" id="{D3110C77-85CD-4223-B0FC-E597B21B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VOTE · WRITE ONE REASON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36CF76A5-28BA-4FAD-8546-621F7EEB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What should win?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5CF262C2-78E7-49CD-9537-3AFDDEBE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choice-rule">
            <a:extLst xmlns:a="http://schemas.openxmlformats.org/drawingml/2006/main">
              <a:ext uri="{FF2B5EF4-FFF2-40B4-BE49-F238E27FC236}">
                <a16:creationId xmlns:a16="http://schemas.microsoft.com/office/drawing/2014/main" id="{B80345F6-51DE-4E6D-B4E1-57BA6596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581A"/>
            </a:solidFill>
            <a:prstDash val="solid"/>
          </a:ln>
        </p:spPr>
      </p:sp>
      <p:sp>
        <p:nvSpPr>
          <p:cNvPr id="5" name="05-choice-number">
            <a:extLst xmlns:a="http://schemas.openxmlformats.org/drawingml/2006/main">
              <a:ext uri="{FF2B5EF4-FFF2-40B4-BE49-F238E27FC236}">
                <a16:creationId xmlns:a16="http://schemas.microsoft.com/office/drawing/2014/main" id="{A7AD7E1D-53CA-4C9D-8839-D2B54329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C4581A"/>
                </a:solidFill>
                <a:latin typeface="Fraunces 9pt"/>
                <a:ea typeface="Fraunces 9pt"/>
                <a:cs typeface="Fraunces 9pt"/>
              </a:defRPr>
            </a:pPr>
            <a:r>
              <a:rPr sz="3150" b="1" i="0">
                <a:solidFill>
                  <a:srgbClr val="C4581A"/>
                </a:solidFill>
                <a:latin typeface="Fraunces 9pt"/>
                <a:ea typeface="Fraunces 9pt"/>
                <a:cs typeface="Fraunces 9pt"/>
              </a:rPr>
              <a:t>01</a:t>
            </a:r>
          </a:p>
        </p:txBody>
      </p:sp>
      <p:sp>
        <p:nvSpPr>
          <p:cNvPr id="6" name="06-choice-label">
            <a:extLst xmlns:a="http://schemas.openxmlformats.org/drawingml/2006/main">
              <a:ext uri="{FF2B5EF4-FFF2-40B4-BE49-F238E27FC236}">
                <a16:creationId xmlns:a16="http://schemas.microsoft.com/office/drawing/2014/main" id="{7E9DFE0C-6011-4FB2-910A-F95B07AA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2933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175" b="1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Highest revenue</a:t>
            </a:r>
          </a:p>
        </p:txBody>
      </p:sp>
      <p:sp>
        <p:nvSpPr>
          <p:cNvPr id="7" name="07-choice-rule">
            <a:extLst xmlns:a="http://schemas.openxmlformats.org/drawingml/2006/main">
              <a:ext uri="{FF2B5EF4-FFF2-40B4-BE49-F238E27FC236}">
                <a16:creationId xmlns:a16="http://schemas.microsoft.com/office/drawing/2014/main" id="{7320DBEC-DB86-4FF2-8BD1-DAE3D646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12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581A"/>
            </a:solidFill>
            <a:prstDash val="solid"/>
          </a:ln>
        </p:spPr>
      </p:sp>
      <p:sp>
        <p:nvSpPr>
          <p:cNvPr id="8" name="08-choice-number">
            <a:extLst xmlns:a="http://schemas.openxmlformats.org/drawingml/2006/main">
              <a:ext uri="{FF2B5EF4-FFF2-40B4-BE49-F238E27FC236}">
                <a16:creationId xmlns:a16="http://schemas.microsoft.com/office/drawing/2014/main" id="{1C0DC192-5124-4AEC-9BB6-B8DBFBBE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C4581A"/>
                </a:solidFill>
                <a:latin typeface="Fraunces 9pt"/>
                <a:ea typeface="Fraunces 9pt"/>
                <a:cs typeface="Fraunces 9pt"/>
              </a:defRPr>
            </a:pPr>
            <a:r>
              <a:rPr sz="3150" b="1" i="0">
                <a:solidFill>
                  <a:srgbClr val="C4581A"/>
                </a:solidFill>
                <a:latin typeface="Fraunces 9pt"/>
                <a:ea typeface="Fraunces 9pt"/>
                <a:cs typeface="Fraunces 9pt"/>
              </a:rPr>
              <a:t>02</a:t>
            </a:r>
          </a:p>
        </p:txBody>
      </p:sp>
      <p:sp>
        <p:nvSpPr>
          <p:cNvPr id="9" name="09-choice-label">
            <a:extLst xmlns:a="http://schemas.openxmlformats.org/drawingml/2006/main">
              <a:ext uri="{FF2B5EF4-FFF2-40B4-BE49-F238E27FC236}">
                <a16:creationId xmlns:a16="http://schemas.microsoft.com/office/drawing/2014/main" id="{C01554F3-E702-4F80-9510-75C44540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00400"/>
            <a:ext cx="2933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175" b="1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Easiest interface</a:t>
            </a:r>
          </a:p>
        </p:txBody>
      </p:sp>
      <p:sp>
        <p:nvSpPr>
          <p:cNvPr id="10" name="10-choice-rule">
            <a:extLst xmlns:a="http://schemas.openxmlformats.org/drawingml/2006/main">
              <a:ext uri="{FF2B5EF4-FFF2-40B4-BE49-F238E27FC236}">
                <a16:creationId xmlns:a16="http://schemas.microsoft.com/office/drawing/2014/main" id="{7D68A8AC-3537-43E0-94FA-3D5E6ACB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81200"/>
            <a:ext cx="327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4581A"/>
            </a:solidFill>
            <a:prstDash val="solid"/>
          </a:ln>
        </p:spPr>
      </p:sp>
      <p:sp>
        <p:nvSpPr>
          <p:cNvPr id="11" name="11-choice-number">
            <a:extLst xmlns:a="http://schemas.openxmlformats.org/drawingml/2006/main">
              <a:ext uri="{FF2B5EF4-FFF2-40B4-BE49-F238E27FC236}">
                <a16:creationId xmlns:a16="http://schemas.microsoft.com/office/drawing/2014/main" id="{88634E44-1668-4F69-A5BC-5AA1C89C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28850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C4581A"/>
                </a:solidFill>
                <a:latin typeface="Fraunces 9pt"/>
                <a:ea typeface="Fraunces 9pt"/>
                <a:cs typeface="Fraunces 9pt"/>
              </a:defRPr>
            </a:pPr>
            <a:r>
              <a:rPr sz="3150" b="1" i="0">
                <a:solidFill>
                  <a:srgbClr val="C4581A"/>
                </a:solidFill>
                <a:latin typeface="Fraunces 9pt"/>
                <a:ea typeface="Fraunces 9pt"/>
                <a:cs typeface="Fraunces 9pt"/>
              </a:rPr>
              <a:t>03</a:t>
            </a:r>
          </a:p>
        </p:txBody>
      </p:sp>
      <p:sp>
        <p:nvSpPr>
          <p:cNvPr id="12" name="12-choice-label">
            <a:extLst xmlns:a="http://schemas.openxmlformats.org/drawingml/2006/main">
              <a:ext uri="{FF2B5EF4-FFF2-40B4-BE49-F238E27FC236}">
                <a16:creationId xmlns:a16="http://schemas.microsoft.com/office/drawing/2014/main" id="{B0E5B09B-8C0A-4A8A-851B-6A1B216F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00400"/>
            <a:ext cx="2933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175" b="1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Strongest one-hour proof</a:t>
            </a:r>
          </a:p>
        </p:txBody>
      </p:sp>
      <p:sp>
        <p:nvSpPr>
          <p:cNvPr id="13" name="13-vote-hold">
            <a:extLst xmlns:a="http://schemas.openxmlformats.org/drawingml/2006/main">
              <a:ext uri="{FF2B5EF4-FFF2-40B4-BE49-F238E27FC236}">
                <a16:creationId xmlns:a16="http://schemas.microsoft.com/office/drawing/2014/main" id="{7511879E-BB60-4A7D-A3DF-FCAB20EF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720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5C5046"/>
                </a:solidFill>
                <a:latin typeface="Geist"/>
                <a:ea typeface="Geist"/>
                <a:cs typeface="Geist"/>
              </a:defRPr>
            </a:pPr>
            <a:r>
              <a:rPr sz="1875" b="0" i="1">
                <a:solidFill>
                  <a:srgbClr val="5C5046"/>
                </a:solidFill>
                <a:latin typeface="Geist"/>
                <a:ea typeface="Geist"/>
                <a:cs typeface="Geist"/>
              </a:rPr>
              <a:t>Hold the answer. Method and evidence beat a confident output.</a:t>
            </a:r>
          </a:p>
        </p:txBody>
      </p:sp>
      <p:sp>
        <p:nvSpPr>
          <p:cNvPr id="14" name="14-footer-rule">
            <a:extLst xmlns:a="http://schemas.openxmlformats.org/drawingml/2006/main">
              <a:ext uri="{FF2B5EF4-FFF2-40B4-BE49-F238E27FC236}">
                <a16:creationId xmlns:a16="http://schemas.microsoft.com/office/drawing/2014/main" id="{E8FE4117-5A88-45E1-A077-C79F1FE3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5" name="15-footer-left">
            <a:extLst xmlns:a="http://schemas.openxmlformats.org/drawingml/2006/main">
              <a:ext uri="{FF2B5EF4-FFF2-40B4-BE49-F238E27FC236}">
                <a16:creationId xmlns:a16="http://schemas.microsoft.com/office/drawing/2014/main" id="{31AA2B61-967E-4310-B180-5E2354C9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00:04-00:10</a:t>
            </a:r>
          </a:p>
        </p:txBody>
      </p:sp>
      <p:sp>
        <p:nvSpPr>
          <p:cNvPr id="16" name="16-footer-right">
            <a:extLst xmlns:a="http://schemas.openxmlformats.org/drawingml/2006/main">
              <a:ext uri="{FF2B5EF4-FFF2-40B4-BE49-F238E27FC236}">
                <a16:creationId xmlns:a16="http://schemas.microsoft.com/office/drawing/2014/main" id="{2CE973C3-D3A9-413C-8B01-A544D34B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03 / 21</a:t>
            </a:r>
          </a:p>
        </p:txBody>
      </p:sp>
    </p:spTree>
    <p:extLst>
      <p:ext uri="{BB962C8B-B14F-4D97-AF65-F5344CB8AC3E}">
        <p14:creationId xmlns:p14="http://schemas.microsoft.com/office/powerpoint/2010/main" val="7083287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01-kicker">
            <a:extLst xmlns:a="http://schemas.openxmlformats.org/drawingml/2006/main">
              <a:ext uri="{FF2B5EF4-FFF2-40B4-BE49-F238E27FC236}">
                <a16:creationId xmlns:a16="http://schemas.microsoft.com/office/drawing/2014/main" id="{251185B4-303F-4A01-9C1D-BF24655A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PUBLIC SOURCE CHECK · 30 JUL 2026 · METRICS MOVE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F35690FB-4B5E-4392-AA72-93F4EA6C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Three credible products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6093F0A4-3CA8-4549-8B72-1D225F5A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table-head-bg">
            <a:extLst xmlns:a="http://schemas.openxmlformats.org/drawingml/2006/main">
              <a:ext uri="{FF2B5EF4-FFF2-40B4-BE49-F238E27FC236}">
                <a16:creationId xmlns:a16="http://schemas.microsoft.com/office/drawing/2014/main" id="{A3F607DB-861A-499E-890C-199BC019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65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table-head">
            <a:extLst xmlns:a="http://schemas.openxmlformats.org/drawingml/2006/main">
              <a:ext uri="{FF2B5EF4-FFF2-40B4-BE49-F238E27FC236}">
                <a16:creationId xmlns:a16="http://schemas.microsoft.com/office/drawing/2014/main" id="{69768A40-CBFA-4037-87E8-A91889F2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339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275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LIINKS</a:t>
            </a:r>
          </a:p>
        </p:txBody>
      </p:sp>
      <p:sp>
        <p:nvSpPr>
          <p:cNvPr id="6" name="06-table-head-bg">
            <a:extLst xmlns:a="http://schemas.openxmlformats.org/drawingml/2006/main">
              <a:ext uri="{FF2B5EF4-FFF2-40B4-BE49-F238E27FC236}">
                <a16:creationId xmlns:a16="http://schemas.microsoft.com/office/drawing/2014/main" id="{ABEFC9F7-DA53-4FD2-8723-9E6F1503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38350"/>
            <a:ext cx="365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07-table-head">
            <a:extLst xmlns:a="http://schemas.openxmlformats.org/drawingml/2006/main">
              <a:ext uri="{FF2B5EF4-FFF2-40B4-BE49-F238E27FC236}">
                <a16:creationId xmlns:a16="http://schemas.microsoft.com/office/drawing/2014/main" id="{2439115A-1004-47E5-9834-985612A9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14550"/>
            <a:ext cx="339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275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HABITKIT</a:t>
            </a:r>
          </a:p>
        </p:txBody>
      </p:sp>
      <p:sp>
        <p:nvSpPr>
          <p:cNvPr id="8" name="08-table-head-bg">
            <a:extLst xmlns:a="http://schemas.openxmlformats.org/drawingml/2006/main">
              <a:ext uri="{FF2B5EF4-FFF2-40B4-BE49-F238E27FC236}">
                <a16:creationId xmlns:a16="http://schemas.microsoft.com/office/drawing/2014/main" id="{2A62EC19-3D82-4ED1-8A18-3FEBA52E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365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9-table-head">
            <a:extLst xmlns:a="http://schemas.openxmlformats.org/drawingml/2006/main">
              <a:ext uri="{FF2B5EF4-FFF2-40B4-BE49-F238E27FC236}">
                <a16:creationId xmlns:a16="http://schemas.microsoft.com/office/drawing/2014/main" id="{DD6DC87A-CF1B-4DBD-B10C-45DEB096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14550"/>
            <a:ext cx="3390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275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QR CODE AI</a:t>
            </a:r>
          </a:p>
        </p:txBody>
      </p:sp>
      <p:sp>
        <p:nvSpPr>
          <p:cNvPr id="10" name="10-table-cell-bg">
            <a:extLst xmlns:a="http://schemas.openxmlformats.org/drawingml/2006/main">
              <a:ext uri="{FF2B5EF4-FFF2-40B4-BE49-F238E27FC236}">
                <a16:creationId xmlns:a16="http://schemas.microsoft.com/office/drawing/2014/main" id="{9829C0F0-513A-4ED6-B1FA-94B8D17F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65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1" name="11-table-cell">
            <a:extLst xmlns:a="http://schemas.openxmlformats.org/drawingml/2006/main">
              <a:ext uri="{FF2B5EF4-FFF2-40B4-BE49-F238E27FC236}">
                <a16:creationId xmlns:a16="http://schemas.microsoft.com/office/drawing/2014/main" id="{734CA16A-92F5-4960-A9FC-03799FF6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80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≈$30K MRR</a:t>
            </a:r>
          </a:p>
        </p:txBody>
      </p:sp>
      <p:sp>
        <p:nvSpPr>
          <p:cNvPr id="12" name="12-table-cell-bg">
            <a:extLst xmlns:a="http://schemas.openxmlformats.org/drawingml/2006/main">
              <a:ext uri="{FF2B5EF4-FFF2-40B4-BE49-F238E27FC236}">
                <a16:creationId xmlns:a16="http://schemas.microsoft.com/office/drawing/2014/main" id="{2BACB6F0-AAA3-42B1-971D-EF96BB01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28950"/>
            <a:ext cx="365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3" name="13-table-cell">
            <a:extLst xmlns:a="http://schemas.openxmlformats.org/drawingml/2006/main">
              <a:ext uri="{FF2B5EF4-FFF2-40B4-BE49-F238E27FC236}">
                <a16:creationId xmlns:a16="http://schemas.microsoft.com/office/drawing/2014/main" id="{8E8AB757-D457-47AB-A154-EE73C770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9562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80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≈$30K MRR</a:t>
            </a:r>
          </a:p>
        </p:txBody>
      </p:sp>
      <p:sp>
        <p:nvSpPr>
          <p:cNvPr id="14" name="14-table-cell-bg">
            <a:extLst xmlns:a="http://schemas.openxmlformats.org/drawingml/2006/main">
              <a:ext uri="{FF2B5EF4-FFF2-40B4-BE49-F238E27FC236}">
                <a16:creationId xmlns:a16="http://schemas.microsoft.com/office/drawing/2014/main" id="{5468740B-BCCE-48BA-8786-2108C833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28950"/>
            <a:ext cx="365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5" name="15-table-cell">
            <a:extLst xmlns:a="http://schemas.openxmlformats.org/drawingml/2006/main">
              <a:ext uri="{FF2B5EF4-FFF2-40B4-BE49-F238E27FC236}">
                <a16:creationId xmlns:a16="http://schemas.microsoft.com/office/drawing/2014/main" id="{5D60D29E-E548-4D83-8BBB-47143A97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9562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80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≈$14K MRR</a:t>
            </a:r>
          </a:p>
        </p:txBody>
      </p:sp>
      <p:sp>
        <p:nvSpPr>
          <p:cNvPr id="16" name="16-table-cell-bg">
            <a:extLst xmlns:a="http://schemas.openxmlformats.org/drawingml/2006/main">
              <a:ext uri="{FF2B5EF4-FFF2-40B4-BE49-F238E27FC236}">
                <a16:creationId xmlns:a16="http://schemas.microsoft.com/office/drawing/2014/main" id="{6FF8E076-12D6-425D-9447-1C5DBF2B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65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7" name="17-table-cell">
            <a:extLst xmlns:a="http://schemas.openxmlformats.org/drawingml/2006/main">
              <a:ext uri="{FF2B5EF4-FFF2-40B4-BE49-F238E27FC236}">
                <a16:creationId xmlns:a16="http://schemas.microsoft.com/office/drawing/2014/main" id="{4293FD3A-5BB2-43AD-B219-9E536340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622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80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creator page builder</a:t>
            </a:r>
          </a:p>
        </p:txBody>
      </p:sp>
      <p:sp>
        <p:nvSpPr>
          <p:cNvPr id="18" name="18-table-cell-bg">
            <a:extLst xmlns:a="http://schemas.openxmlformats.org/drawingml/2006/main">
              <a:ext uri="{FF2B5EF4-FFF2-40B4-BE49-F238E27FC236}">
                <a16:creationId xmlns:a16="http://schemas.microsoft.com/office/drawing/2014/main" id="{A14B7BD9-EDE3-4270-8235-26FF8293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19550"/>
            <a:ext cx="365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9" name="19-table-cell">
            <a:extLst xmlns:a="http://schemas.openxmlformats.org/drawingml/2006/main">
              <a:ext uri="{FF2B5EF4-FFF2-40B4-BE49-F238E27FC236}">
                <a16:creationId xmlns:a16="http://schemas.microsoft.com/office/drawing/2014/main" id="{A7A808DB-E9A8-4E4E-8DF9-42D8E1B7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8622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80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habit tracker</a:t>
            </a:r>
          </a:p>
        </p:txBody>
      </p:sp>
      <p:sp>
        <p:nvSpPr>
          <p:cNvPr id="20" name="20-table-cell-bg">
            <a:extLst xmlns:a="http://schemas.openxmlformats.org/drawingml/2006/main">
              <a:ext uri="{FF2B5EF4-FFF2-40B4-BE49-F238E27FC236}">
                <a16:creationId xmlns:a16="http://schemas.microsoft.com/office/drawing/2014/main" id="{0F64E017-142F-4F47-B70C-9E5504A0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19550"/>
            <a:ext cx="365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E8"/>
          </a:solidFill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21" name="21-table-cell">
            <a:extLst xmlns:a="http://schemas.openxmlformats.org/drawingml/2006/main">
              <a:ext uri="{FF2B5EF4-FFF2-40B4-BE49-F238E27FC236}">
                <a16:creationId xmlns:a16="http://schemas.microsoft.com/office/drawing/2014/main" id="{EAFD910F-8BD1-46E9-9CDB-1F1603CC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86225"/>
            <a:ext cx="3390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80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branded QR platform</a:t>
            </a:r>
          </a:p>
        </p:txBody>
      </p:sp>
      <p:sp>
        <p:nvSpPr>
          <p:cNvPr id="22" name="22-metrics-note">
            <a:extLst xmlns:a="http://schemas.openxmlformats.org/drawingml/2006/main">
              <a:ext uri="{FF2B5EF4-FFF2-40B4-BE49-F238E27FC236}">
                <a16:creationId xmlns:a16="http://schemas.microsoft.com/office/drawing/2014/main" id="{74AECD27-448D-4304-9937-0F2913D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863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135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Rounded current snapshots · original text only · no logos or screenshots</a:t>
            </a:r>
          </a:p>
        </p:txBody>
      </p:sp>
      <p:sp>
        <p:nvSpPr>
          <p:cNvPr id="23" name="23-footer-rule">
            <a:extLst xmlns:a="http://schemas.openxmlformats.org/drawingml/2006/main">
              <a:ext uri="{FF2B5EF4-FFF2-40B4-BE49-F238E27FC236}">
                <a16:creationId xmlns:a16="http://schemas.microsoft.com/office/drawing/2014/main" id="{0B66B9FF-A575-45F1-BAC5-4D928BCB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24" name="24-footer-left">
            <a:extLst xmlns:a="http://schemas.openxmlformats.org/drawingml/2006/main">
              <a:ext uri="{FF2B5EF4-FFF2-40B4-BE49-F238E27FC236}">
                <a16:creationId xmlns:a16="http://schemas.microsoft.com/office/drawing/2014/main" id="{3C22B894-53EA-49E5-999E-C45D68FB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00:10-00:13</a:t>
            </a:r>
          </a:p>
        </p:txBody>
      </p:sp>
      <p:sp>
        <p:nvSpPr>
          <p:cNvPr id="25" name="25-footer-right">
            <a:extLst xmlns:a="http://schemas.openxmlformats.org/drawingml/2006/main">
              <a:ext uri="{FF2B5EF4-FFF2-40B4-BE49-F238E27FC236}">
                <a16:creationId xmlns:a16="http://schemas.microsoft.com/office/drawing/2014/main" id="{FF527C39-17D3-4484-BF80-B70ECB9F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04 / 21</a:t>
            </a:r>
          </a:p>
        </p:txBody>
      </p:sp>
    </p:spTree>
    <p:extLst>
      <p:ext uri="{BB962C8B-B14F-4D97-AF65-F5344CB8AC3E}">
        <p14:creationId xmlns:p14="http://schemas.microsoft.com/office/powerpoint/2010/main" val="11865986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01-kicker">
            <a:extLst xmlns:a="http://schemas.openxmlformats.org/drawingml/2006/main">
              <a:ext uri="{FF2B5EF4-FFF2-40B4-BE49-F238E27FC236}">
                <a16:creationId xmlns:a16="http://schemas.microsoft.com/office/drawing/2014/main" id="{E0D120BD-C917-4B9B-B17E-FB880B7B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REVENUE IS 20 OF 100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D8428C2D-2875-4D83-B0AE-9C0E2061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Liinks leads: 96† / 100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7B56F715-53E7-4EB6-8ECA-E6603CD8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score-segment">
            <a:extLst xmlns:a="http://schemas.openxmlformats.org/drawingml/2006/main">
              <a:ext uri="{FF2B5EF4-FFF2-40B4-BE49-F238E27FC236}">
                <a16:creationId xmlns:a16="http://schemas.microsoft.com/office/drawing/2014/main" id="{FB144727-4051-45B2-B3B9-666BA4B6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200787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score-value">
            <a:extLst xmlns:a="http://schemas.openxmlformats.org/drawingml/2006/main">
              <a:ext uri="{FF2B5EF4-FFF2-40B4-BE49-F238E27FC236}">
                <a16:creationId xmlns:a16="http://schemas.microsoft.com/office/drawing/2014/main" id="{F3C77CE8-EC75-435C-8CFA-921F4300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8173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21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19</a:t>
            </a:r>
          </a:p>
        </p:txBody>
      </p:sp>
      <p:sp>
        <p:nvSpPr>
          <p:cNvPr id="6" name="06-score-label">
            <a:extLst xmlns:a="http://schemas.openxmlformats.org/drawingml/2006/main">
              <a:ext uri="{FF2B5EF4-FFF2-40B4-BE49-F238E27FC236}">
                <a16:creationId xmlns:a16="http://schemas.microsoft.com/office/drawing/2014/main" id="{3721A8EB-1BF5-42FD-B4F7-4E44BE39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18173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Revenue</a:t>
            </a:r>
          </a:p>
        </p:txBody>
      </p:sp>
      <p:sp>
        <p:nvSpPr>
          <p:cNvPr id="7" name="07-score-segment">
            <a:extLst xmlns:a="http://schemas.openxmlformats.org/drawingml/2006/main">
              <a:ext uri="{FF2B5EF4-FFF2-40B4-BE49-F238E27FC236}">
                <a16:creationId xmlns:a16="http://schemas.microsoft.com/office/drawing/2014/main" id="{C743CEDC-B2AF-4289-9033-D96DE60B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9395" y="2438400"/>
            <a:ext cx="225552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8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8-score-value">
            <a:extLst xmlns:a="http://schemas.openxmlformats.org/drawingml/2006/main">
              <a:ext uri="{FF2B5EF4-FFF2-40B4-BE49-F238E27FC236}">
                <a16:creationId xmlns:a16="http://schemas.microsoft.com/office/drawing/2014/main" id="{AE723862-8B72-4F69-817B-51D7C1EA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645" y="2571750"/>
            <a:ext cx="20650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21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24</a:t>
            </a:r>
          </a:p>
        </p:txBody>
      </p:sp>
      <p:sp>
        <p:nvSpPr>
          <p:cNvPr id="9" name="09-score-label">
            <a:extLst xmlns:a="http://schemas.openxmlformats.org/drawingml/2006/main">
              <a:ext uri="{FF2B5EF4-FFF2-40B4-BE49-F238E27FC236}">
                <a16:creationId xmlns:a16="http://schemas.microsoft.com/office/drawing/2014/main" id="{96ACE05E-5CBA-4353-8A01-0D0CF16B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4645" y="2990850"/>
            <a:ext cx="20650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Feasibility†</a:t>
            </a:r>
          </a:p>
        </p:txBody>
      </p:sp>
      <p:sp>
        <p:nvSpPr>
          <p:cNvPr id="10" name="10-score-segment">
            <a:extLst xmlns:a="http://schemas.openxmlformats.org/drawingml/2006/main">
              <a:ext uri="{FF2B5EF4-FFF2-40B4-BE49-F238E27FC236}">
                <a16:creationId xmlns:a16="http://schemas.microsoft.com/office/drawing/2014/main" id="{AA02ADFE-1095-44F8-8697-FAA5A5A3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438400"/>
            <a:ext cx="2057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1-score-value">
            <a:extLst xmlns:a="http://schemas.openxmlformats.org/drawingml/2006/main">
              <a:ext uri="{FF2B5EF4-FFF2-40B4-BE49-F238E27FC236}">
                <a16:creationId xmlns:a16="http://schemas.microsoft.com/office/drawing/2014/main" id="{AC0D0A22-BB6F-47E7-9AED-4AAE5C85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790" y="257175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21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20</a:t>
            </a:r>
          </a:p>
        </p:txBody>
      </p:sp>
      <p:sp>
        <p:nvSpPr>
          <p:cNvPr id="12" name="12-score-label">
            <a:extLst xmlns:a="http://schemas.openxmlformats.org/drawingml/2006/main">
              <a:ext uri="{FF2B5EF4-FFF2-40B4-BE49-F238E27FC236}">
                <a16:creationId xmlns:a16="http://schemas.microsoft.com/office/drawing/2014/main" id="{BE9739AB-155B-4BF6-BE80-11F1F6CA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7790" y="29908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Teachability</a:t>
            </a:r>
          </a:p>
        </p:txBody>
      </p:sp>
      <p:sp>
        <p:nvSpPr>
          <p:cNvPr id="13" name="13-score-segment">
            <a:extLst xmlns:a="http://schemas.openxmlformats.org/drawingml/2006/main">
              <a:ext uri="{FF2B5EF4-FFF2-40B4-BE49-F238E27FC236}">
                <a16:creationId xmlns:a16="http://schemas.microsoft.com/office/drawing/2014/main" id="{7946E2AD-2FEB-43C5-ACEE-AEFA51C1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565" y="2438400"/>
            <a:ext cx="176022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14-score-value">
            <a:extLst xmlns:a="http://schemas.openxmlformats.org/drawingml/2006/main">
              <a:ext uri="{FF2B5EF4-FFF2-40B4-BE49-F238E27FC236}">
                <a16:creationId xmlns:a16="http://schemas.microsoft.com/office/drawing/2014/main" id="{A9CF8D9C-4521-4532-B3E0-56FEDC0C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815" y="2571750"/>
            <a:ext cx="156972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21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14</a:t>
            </a:r>
          </a:p>
        </p:txBody>
      </p:sp>
      <p:sp>
        <p:nvSpPr>
          <p:cNvPr id="15" name="15-score-label">
            <a:extLst xmlns:a="http://schemas.openxmlformats.org/drawingml/2006/main">
              <a:ext uri="{FF2B5EF4-FFF2-40B4-BE49-F238E27FC236}">
                <a16:creationId xmlns:a16="http://schemas.microsoft.com/office/drawing/2014/main" id="{02BBC445-CDBD-4B58-A1C2-7587E3EB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815" y="2990850"/>
            <a:ext cx="15697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Free-credit fit†</a:t>
            </a:r>
          </a:p>
        </p:txBody>
      </p:sp>
      <p:sp>
        <p:nvSpPr>
          <p:cNvPr id="16" name="16-score-segment">
            <a:extLst xmlns:a="http://schemas.openxmlformats.org/drawingml/2006/main">
              <a:ext uri="{FF2B5EF4-FFF2-40B4-BE49-F238E27FC236}">
                <a16:creationId xmlns:a16="http://schemas.microsoft.com/office/drawing/2014/main" id="{759BD776-384A-4C8E-8EA8-19A28AB1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5410" y="2438400"/>
            <a:ext cx="151257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17-score-value">
            <a:extLst xmlns:a="http://schemas.openxmlformats.org/drawingml/2006/main">
              <a:ext uri="{FF2B5EF4-FFF2-40B4-BE49-F238E27FC236}">
                <a16:creationId xmlns:a16="http://schemas.microsoft.com/office/drawing/2014/main" id="{56CD470B-1D3B-4BDE-AB58-AF7A4A52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660" y="2571750"/>
            <a:ext cx="13220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21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9</a:t>
            </a:r>
          </a:p>
        </p:txBody>
      </p:sp>
      <p:sp>
        <p:nvSpPr>
          <p:cNvPr id="18" name="18-score-label">
            <a:extLst xmlns:a="http://schemas.openxmlformats.org/drawingml/2006/main">
              <a:ext uri="{FF2B5EF4-FFF2-40B4-BE49-F238E27FC236}">
                <a16:creationId xmlns:a16="http://schemas.microsoft.com/office/drawing/2014/main" id="{0B47E7FC-2EED-4AA3-8CF1-43A8B5AC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0660" y="2990850"/>
            <a:ext cx="13220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Integration fit</a:t>
            </a:r>
          </a:p>
        </p:txBody>
      </p:sp>
      <p:sp>
        <p:nvSpPr>
          <p:cNvPr id="19" name="19-score-segment">
            <a:extLst xmlns:a="http://schemas.openxmlformats.org/drawingml/2006/main">
              <a:ext uri="{FF2B5EF4-FFF2-40B4-BE49-F238E27FC236}">
                <a16:creationId xmlns:a16="http://schemas.microsoft.com/office/drawing/2014/main" id="{222ED4D1-0AEE-4054-8094-FC6D6875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605" y="2438400"/>
            <a:ext cx="1562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20-score-value">
            <a:extLst xmlns:a="http://schemas.openxmlformats.org/drawingml/2006/main">
              <a:ext uri="{FF2B5EF4-FFF2-40B4-BE49-F238E27FC236}">
                <a16:creationId xmlns:a16="http://schemas.microsoft.com/office/drawing/2014/main" id="{002D1279-E540-46F8-80A5-5603E6EF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855" y="257175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21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10</a:t>
            </a:r>
          </a:p>
        </p:txBody>
      </p:sp>
      <p:sp>
        <p:nvSpPr>
          <p:cNvPr id="21" name="21-score-label">
            <a:extLst xmlns:a="http://schemas.openxmlformats.org/drawingml/2006/main">
              <a:ext uri="{FF2B5EF4-FFF2-40B4-BE49-F238E27FC236}">
                <a16:creationId xmlns:a16="http://schemas.microsoft.com/office/drawing/2014/main" id="{4A6B8719-1EDB-4E81-A50C-43794E5A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855" y="29908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Testability</a:t>
            </a:r>
          </a:p>
        </p:txBody>
      </p:sp>
      <p:sp>
        <p:nvSpPr>
          <p:cNvPr id="22" name="22-comparison-1">
            <a:extLst xmlns:a="http://schemas.openxmlformats.org/drawingml/2006/main">
              <a:ext uri="{FF2B5EF4-FFF2-40B4-BE49-F238E27FC236}">
                <a16:creationId xmlns:a16="http://schemas.microsoft.com/office/drawing/2014/main" id="{5EF160CB-706E-44DF-9D9A-9B7390E1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5C5046"/>
                </a:solidFill>
                <a:latin typeface="Fraunces 9pt"/>
                <a:ea typeface="Fraunces 9pt"/>
                <a:cs typeface="Fraunces 9pt"/>
              </a:defRPr>
            </a:pPr>
            <a:r>
              <a:rPr sz="2250" b="1" i="0">
                <a:solidFill>
                  <a:srgbClr val="5C5046"/>
                </a:solidFill>
                <a:latin typeface="Fraunces 9pt"/>
                <a:ea typeface="Fraunces 9pt"/>
                <a:cs typeface="Fraunces 9pt"/>
              </a:rPr>
              <a:t>HabitKit 89</a:t>
            </a:r>
          </a:p>
        </p:txBody>
      </p:sp>
      <p:sp>
        <p:nvSpPr>
          <p:cNvPr id="23" name="23-comparison-2">
            <a:extLst xmlns:a="http://schemas.openxmlformats.org/drawingml/2006/main">
              <a:ext uri="{FF2B5EF4-FFF2-40B4-BE49-F238E27FC236}">
                <a16:creationId xmlns:a16="http://schemas.microsoft.com/office/drawing/2014/main" id="{5E12936B-46CE-4C59-BF92-835098BF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862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5C5046"/>
                </a:solidFill>
                <a:latin typeface="Fraunces 9pt"/>
                <a:ea typeface="Fraunces 9pt"/>
                <a:cs typeface="Fraunces 9pt"/>
              </a:defRPr>
            </a:pPr>
            <a:r>
              <a:rPr sz="2250" b="1" i="0">
                <a:solidFill>
                  <a:srgbClr val="5C5046"/>
                </a:solidFill>
                <a:latin typeface="Fraunces 9pt"/>
                <a:ea typeface="Fraunces 9pt"/>
                <a:cs typeface="Fraunces 9pt"/>
              </a:rPr>
              <a:t>QR Code AI 71</a:t>
            </a:r>
          </a:p>
        </p:txBody>
      </p:sp>
      <p:sp>
        <p:nvSpPr>
          <p:cNvPr id="24" name="24-release-gate">
            <a:extLst xmlns:a="http://schemas.openxmlformats.org/drawingml/2006/main">
              <a:ext uri="{FF2B5EF4-FFF2-40B4-BE49-F238E27FC236}">
                <a16:creationId xmlns:a16="http://schemas.microsoft.com/office/drawing/2014/main" id="{87A241F1-74CD-4210-9D64-C3A31949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006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27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† Classroom feasibility release-gated by the golden run</a:t>
            </a:r>
          </a:p>
        </p:txBody>
      </p:sp>
      <p:sp>
        <p:nvSpPr>
          <p:cNvPr id="25" name="25-footer-rule">
            <a:extLst xmlns:a="http://schemas.openxmlformats.org/drawingml/2006/main">
              <a:ext uri="{FF2B5EF4-FFF2-40B4-BE49-F238E27FC236}">
                <a16:creationId xmlns:a16="http://schemas.microsoft.com/office/drawing/2014/main" id="{A5344212-0E16-4C49-ACDF-789F7144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26" name="26-footer-left">
            <a:extLst xmlns:a="http://schemas.openxmlformats.org/drawingml/2006/main">
              <a:ext uri="{FF2B5EF4-FFF2-40B4-BE49-F238E27FC236}">
                <a16:creationId xmlns:a16="http://schemas.microsoft.com/office/drawing/2014/main" id="{157012FA-DC3A-4BB4-8734-30884181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00:13-00:17</a:t>
            </a:r>
          </a:p>
        </p:txBody>
      </p:sp>
      <p:sp>
        <p:nvSpPr>
          <p:cNvPr id="27" name="27-footer-right">
            <a:extLst xmlns:a="http://schemas.openxmlformats.org/drawingml/2006/main">
              <a:ext uri="{FF2B5EF4-FFF2-40B4-BE49-F238E27FC236}">
                <a16:creationId xmlns:a16="http://schemas.microsoft.com/office/drawing/2014/main" id="{846AB015-AE4D-425F-8C49-CCBDF852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05 / 21</a:t>
            </a:r>
          </a:p>
        </p:txBody>
      </p:sp>
    </p:spTree>
    <p:extLst>
      <p:ext uri="{BB962C8B-B14F-4D97-AF65-F5344CB8AC3E}">
        <p14:creationId xmlns:p14="http://schemas.microsoft.com/office/powerpoint/2010/main" val="21102843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1-kicker">
            <a:extLst xmlns:a="http://schemas.openxmlformats.org/drawingml/2006/main">
              <a:ext uri="{FF2B5EF4-FFF2-40B4-BE49-F238E27FC236}">
                <a16:creationId xmlns:a16="http://schemas.microsoft.com/office/drawing/2014/main" id="{EC607E87-3EDE-40C8-B65E-D3854316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CRUD · PUBLIC CONSUMPTION · BEHAVIORAL EVIDENCE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6FB96DAD-8777-48B3-947E-968C0599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One app. Three roles.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14A67391-C36A-459A-ABA2-C36981DD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arrow">
            <a:extLst xmlns:a="http://schemas.openxmlformats.org/drawingml/2006/main">
              <a:ext uri="{FF2B5EF4-FFF2-40B4-BE49-F238E27FC236}">
                <a16:creationId xmlns:a16="http://schemas.microsoft.com/office/drawing/2014/main" id="{56A99E7C-06C7-4AAA-AD73-C170FF8F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067050"/>
            <a:ext cx="1181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arrow">
            <a:extLst xmlns:a="http://schemas.openxmlformats.org/drawingml/2006/main">
              <a:ext uri="{FF2B5EF4-FFF2-40B4-BE49-F238E27FC236}">
                <a16:creationId xmlns:a16="http://schemas.microsoft.com/office/drawing/2014/main" id="{3BBD5A0A-DA0F-496C-ABA4-D010C1A2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67050"/>
            <a:ext cx="11811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6-node-bg">
            <a:extLst xmlns:a="http://schemas.openxmlformats.org/drawingml/2006/main">
              <a:ext uri="{FF2B5EF4-FFF2-40B4-BE49-F238E27FC236}">
                <a16:creationId xmlns:a16="http://schemas.microsoft.com/office/drawing/2014/main" id="{4E26B462-A4E0-4C89-B7E3-6D8A9E29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193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E"/>
          </a:solidFill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7" name="07-node-label">
            <a:extLst xmlns:a="http://schemas.openxmlformats.org/drawingml/2006/main">
              <a:ext uri="{FF2B5EF4-FFF2-40B4-BE49-F238E27FC236}">
                <a16:creationId xmlns:a16="http://schemas.microsoft.com/office/drawing/2014/main" id="{D209B940-B121-4BEB-8153-A99DB779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26289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21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CREATOR</a:t>
            </a:r>
          </a:p>
          <a:p xmlns:a="http://schemas.openxmlformats.org/drawingml/2006/main">
            <a:pPr algn="ctr">
              <a:defRPr sz="21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21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edit</a:t>
            </a:r>
          </a:p>
        </p:txBody>
      </p:sp>
      <p:sp>
        <p:nvSpPr>
          <p:cNvPr id="8" name="08-node-bg">
            <a:extLst xmlns:a="http://schemas.openxmlformats.org/drawingml/2006/main">
              <a:ext uri="{FF2B5EF4-FFF2-40B4-BE49-F238E27FC236}">
                <a16:creationId xmlns:a16="http://schemas.microsoft.com/office/drawing/2014/main" id="{41536D1B-C32A-4BB5-8215-8D8E609D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581A"/>
            </a:solidFill>
            <a:prstDash val="solid"/>
          </a:ln>
        </p:spPr>
      </p:sp>
      <p:sp>
        <p:nvSpPr>
          <p:cNvPr id="9" name="09-node-label">
            <a:extLst xmlns:a="http://schemas.openxmlformats.org/drawingml/2006/main">
              <a:ext uri="{FF2B5EF4-FFF2-40B4-BE49-F238E27FC236}">
                <a16:creationId xmlns:a16="http://schemas.microsoft.com/office/drawing/2014/main" id="{5125F0CC-6B10-4BB9-BAAB-757B2906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95550"/>
            <a:ext cx="26289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20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PUBLIC VISITOR</a:t>
            </a:r>
          </a:p>
          <a:p xmlns:a="http://schemas.openxmlformats.org/drawingml/2006/main">
            <a:pPr algn="ctr">
              <a:defRPr sz="20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20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click</a:t>
            </a:r>
          </a:p>
        </p:txBody>
      </p:sp>
      <p:sp>
        <p:nvSpPr>
          <p:cNvPr id="10" name="10-node-bg">
            <a:extLst xmlns:a="http://schemas.openxmlformats.org/drawingml/2006/main">
              <a:ext uri="{FF2B5EF4-FFF2-40B4-BE49-F238E27FC236}">
                <a16:creationId xmlns:a16="http://schemas.microsoft.com/office/drawing/2014/main" id="{1E7767F2-E31A-45C9-A101-0211FE51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E"/>
          </a:solidFill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11" name="11-node-label">
            <a:extLst xmlns:a="http://schemas.openxmlformats.org/drawingml/2006/main">
              <a:ext uri="{FF2B5EF4-FFF2-40B4-BE49-F238E27FC236}">
                <a16:creationId xmlns:a16="http://schemas.microsoft.com/office/drawing/2014/main" id="{E2E33960-41E2-4BD8-B733-CF5283E1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95550"/>
            <a:ext cx="26289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21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OPERATOR</a:t>
            </a:r>
          </a:p>
          <a:p xmlns:a="http://schemas.openxmlformats.org/drawingml/2006/main">
            <a:pPr algn="ctr">
              <a:defRPr sz="21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21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learn</a:t>
            </a:r>
          </a:p>
        </p:txBody>
      </p:sp>
      <p:sp>
        <p:nvSpPr>
          <p:cNvPr id="12" name="12-roles-takeaway">
            <a:extLst xmlns:a="http://schemas.openxmlformats.org/drawingml/2006/main">
              <a:ext uri="{FF2B5EF4-FFF2-40B4-BE49-F238E27FC236}">
                <a16:creationId xmlns:a16="http://schemas.microsoft.com/office/drawing/2014/main" id="{172883D9-4016-4E49-8258-3BF66611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1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2175" b="0" i="1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Rich enough to teach state, consumption, and evidence - bounded enough to ship.</a:t>
            </a:r>
          </a:p>
        </p:txBody>
      </p:sp>
      <p:sp>
        <p:nvSpPr>
          <p:cNvPr id="13" name="13-footer-rule">
            <a:extLst xmlns:a="http://schemas.openxmlformats.org/drawingml/2006/main">
              <a:ext uri="{FF2B5EF4-FFF2-40B4-BE49-F238E27FC236}">
                <a16:creationId xmlns:a16="http://schemas.microsoft.com/office/drawing/2014/main" id="{AD50004B-4F9C-4FC7-8BEB-69C9CD74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4" name="14-footer-left">
            <a:extLst xmlns:a="http://schemas.openxmlformats.org/drawingml/2006/main">
              <a:ext uri="{FF2B5EF4-FFF2-40B4-BE49-F238E27FC236}">
                <a16:creationId xmlns:a16="http://schemas.microsoft.com/office/drawing/2014/main" id="{C8416583-49FA-4EB9-9A76-52945193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00:17-00:20</a:t>
            </a:r>
          </a:p>
        </p:txBody>
      </p:sp>
      <p:sp>
        <p:nvSpPr>
          <p:cNvPr id="15" name="15-footer-right">
            <a:extLst xmlns:a="http://schemas.openxmlformats.org/drawingml/2006/main">
              <a:ext uri="{FF2B5EF4-FFF2-40B4-BE49-F238E27FC236}">
                <a16:creationId xmlns:a16="http://schemas.microsoft.com/office/drawing/2014/main" id="{79F510CC-4D81-47FB-A915-319B970E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06 / 21</a:t>
            </a:r>
          </a:p>
        </p:txBody>
      </p:sp>
    </p:spTree>
    <p:extLst>
      <p:ext uri="{BB962C8B-B14F-4D97-AF65-F5344CB8AC3E}">
        <p14:creationId xmlns:p14="http://schemas.microsoft.com/office/powerpoint/2010/main" val="555894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E3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01-kicker">
            <a:extLst xmlns:a="http://schemas.openxmlformats.org/drawingml/2006/main">
              <a:ext uri="{FF2B5EF4-FFF2-40B4-BE49-F238E27FC236}">
                <a16:creationId xmlns:a16="http://schemas.microsoft.com/office/drawing/2014/main" id="{B7232542-9340-481B-A634-70B30509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rPr>
              <a:t>NON-AFFILIATION · HARD BOUNDARIES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1946BBFD-B2DB-4FAF-8DF5-F1ED2C42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F5F0E8"/>
                </a:solidFill>
                <a:latin typeface="Fraunces 9pt"/>
                <a:ea typeface="Fraunces 9pt"/>
                <a:cs typeface="Fraunces 9pt"/>
              </a:defRPr>
            </a:pPr>
            <a:r>
              <a:rPr sz="3600" b="1" i="0">
                <a:solidFill>
                  <a:srgbClr val="F5F0E8"/>
                </a:solidFill>
                <a:latin typeface="Fraunces 9pt"/>
                <a:ea typeface="Fraunces 9pt"/>
                <a:cs typeface="Fraunces 9pt"/>
              </a:rPr>
              <a:t>Study behavior. Do not borrow identity.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8DAC201B-F94D-4CC9-86E6-96297EF6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581A"/>
            </a:solidFill>
            <a:prstDash val="solid"/>
          </a:ln>
        </p:spPr>
      </p:sp>
      <p:sp>
        <p:nvSpPr>
          <p:cNvPr id="4" name="04-boundary-label-1">
            <a:extLst xmlns:a="http://schemas.openxmlformats.org/drawingml/2006/main">
              <a:ext uri="{FF2B5EF4-FFF2-40B4-BE49-F238E27FC236}">
                <a16:creationId xmlns:a16="http://schemas.microsoft.com/office/drawing/2014/main" id="{9F2A480F-1023-48C6-8C12-4000D123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5F0E8"/>
                </a:solidFill>
                <a:latin typeface="Geist"/>
                <a:ea typeface="Geist"/>
                <a:cs typeface="Geist"/>
              </a:defRPr>
            </a:pPr>
            <a:r>
              <a:rPr sz="2100" b="1" i="0">
                <a:solidFill>
                  <a:srgbClr val="F5F0E8"/>
                </a:solidFill>
                <a:latin typeface="Geist"/>
                <a:ea typeface="Geist"/>
                <a:cs typeface="Geist"/>
              </a:rPr>
              <a:t>Functional benchmark</a:t>
            </a:r>
          </a:p>
        </p:txBody>
      </p:sp>
      <p:sp>
        <p:nvSpPr>
          <p:cNvPr id="5" name="05-boundary-value-1">
            <a:extLst xmlns:a="http://schemas.openxmlformats.org/drawingml/2006/main">
              <a:ext uri="{FF2B5EF4-FFF2-40B4-BE49-F238E27FC236}">
                <a16:creationId xmlns:a16="http://schemas.microsoft.com/office/drawing/2014/main" id="{62844086-3B09-4907-93F7-550218AA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defRPr>
            </a:pPr>
            <a:r>
              <a:rPr sz="180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rPr>
              <a:t>YES</a:t>
            </a:r>
          </a:p>
        </p:txBody>
      </p:sp>
      <p:sp>
        <p:nvSpPr>
          <p:cNvPr id="6" name="06-boundary-rule-1">
            <a:extLst xmlns:a="http://schemas.openxmlformats.org/drawingml/2006/main">
              <a:ext uri="{FF2B5EF4-FFF2-40B4-BE49-F238E27FC236}">
                <a16:creationId xmlns:a16="http://schemas.microsoft.com/office/drawing/2014/main" id="{76F4E9C0-0EA2-46CC-8D75-783B17B8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35D"/>
            </a:solidFill>
            <a:prstDash val="solid"/>
          </a:ln>
        </p:spPr>
      </p:sp>
      <p:sp>
        <p:nvSpPr>
          <p:cNvPr id="7" name="07-boundary-label-2">
            <a:extLst xmlns:a="http://schemas.openxmlformats.org/drawingml/2006/main">
              <a:ext uri="{FF2B5EF4-FFF2-40B4-BE49-F238E27FC236}">
                <a16:creationId xmlns:a16="http://schemas.microsoft.com/office/drawing/2014/main" id="{E39DF894-0DB7-4558-A065-418C4310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790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5F0E8"/>
                </a:solidFill>
                <a:latin typeface="Geist"/>
                <a:ea typeface="Geist"/>
                <a:cs typeface="Geist"/>
              </a:defRPr>
            </a:pPr>
            <a:r>
              <a:rPr sz="1875" b="1" i="0">
                <a:solidFill>
                  <a:srgbClr val="F5F0E8"/>
                </a:solidFill>
                <a:latin typeface="Geist"/>
                <a:ea typeface="Geist"/>
                <a:cs typeface="Geist"/>
              </a:rPr>
              <a:t>Name, logo, copy, assets, code, customer data, trade dress</a:t>
            </a:r>
          </a:p>
        </p:txBody>
      </p:sp>
      <p:sp>
        <p:nvSpPr>
          <p:cNvPr id="8" name="08-boundary-value-2">
            <a:extLst xmlns:a="http://schemas.openxmlformats.org/drawingml/2006/main">
              <a:ext uri="{FF2B5EF4-FFF2-40B4-BE49-F238E27FC236}">
                <a16:creationId xmlns:a16="http://schemas.microsoft.com/office/drawing/2014/main" id="{85E2B116-2E20-423F-A715-9B53ACAA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8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NO</a:t>
            </a:r>
          </a:p>
        </p:txBody>
      </p:sp>
      <p:sp>
        <p:nvSpPr>
          <p:cNvPr id="9" name="09-boundary-rule-2">
            <a:extLst xmlns:a="http://schemas.openxmlformats.org/drawingml/2006/main">
              <a:ext uri="{FF2B5EF4-FFF2-40B4-BE49-F238E27FC236}">
                <a16:creationId xmlns:a16="http://schemas.microsoft.com/office/drawing/2014/main" id="{1D94FC5C-8838-4330-8D12-762B49D6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022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35D"/>
            </a:solidFill>
            <a:prstDash val="solid"/>
          </a:ln>
        </p:spPr>
      </p:sp>
      <p:sp>
        <p:nvSpPr>
          <p:cNvPr id="10" name="10-boundary-label-3">
            <a:extLst xmlns:a="http://schemas.openxmlformats.org/drawingml/2006/main">
              <a:ext uri="{FF2B5EF4-FFF2-40B4-BE49-F238E27FC236}">
                <a16:creationId xmlns:a16="http://schemas.microsoft.com/office/drawing/2014/main" id="{AE7ED74D-CEA6-4974-A0D6-07A2EE18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5F0E8"/>
                </a:solidFill>
                <a:latin typeface="Geist"/>
                <a:ea typeface="Geist"/>
                <a:cs typeface="Geist"/>
              </a:defRPr>
            </a:pPr>
            <a:r>
              <a:rPr sz="2100" b="1" i="0">
                <a:solidFill>
                  <a:srgbClr val="F5F0E8"/>
                </a:solidFill>
                <a:latin typeface="Geist"/>
                <a:ea typeface="Geist"/>
                <a:cs typeface="Geist"/>
              </a:rPr>
              <a:t>Unlabelled fake integration</a:t>
            </a:r>
          </a:p>
        </p:txBody>
      </p:sp>
      <p:sp>
        <p:nvSpPr>
          <p:cNvPr id="11" name="11-boundary-value-3">
            <a:extLst xmlns:a="http://schemas.openxmlformats.org/drawingml/2006/main">
              <a:ext uri="{FF2B5EF4-FFF2-40B4-BE49-F238E27FC236}">
                <a16:creationId xmlns:a16="http://schemas.microsoft.com/office/drawing/2014/main" id="{7C2F5581-B04A-4E55-9DFB-1A4673E6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8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NO</a:t>
            </a:r>
          </a:p>
        </p:txBody>
      </p:sp>
      <p:sp>
        <p:nvSpPr>
          <p:cNvPr id="12" name="12-footer-rule">
            <a:extLst xmlns:a="http://schemas.openxmlformats.org/drawingml/2006/main">
              <a:ext uri="{FF2B5EF4-FFF2-40B4-BE49-F238E27FC236}">
                <a16:creationId xmlns:a16="http://schemas.microsoft.com/office/drawing/2014/main" id="{2784C50E-5EFE-4A55-8156-2FAB8FA5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35D"/>
            </a:solidFill>
            <a:prstDash val="solid"/>
          </a:ln>
        </p:spPr>
      </p:sp>
      <p:sp>
        <p:nvSpPr>
          <p:cNvPr id="13" name="13-footer-left">
            <a:extLst xmlns:a="http://schemas.openxmlformats.org/drawingml/2006/main">
              <a:ext uri="{FF2B5EF4-FFF2-40B4-BE49-F238E27FC236}">
                <a16:creationId xmlns:a16="http://schemas.microsoft.com/office/drawing/2014/main" id="{B3D8088C-3CF7-484A-B889-9BBE61DE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SESSION 04  /  00:20-00:24</a:t>
            </a:r>
          </a:p>
        </p:txBody>
      </p:sp>
      <p:sp>
        <p:nvSpPr>
          <p:cNvPr id="14" name="14-footer-right">
            <a:extLst xmlns:a="http://schemas.openxmlformats.org/drawingml/2006/main">
              <a:ext uri="{FF2B5EF4-FFF2-40B4-BE49-F238E27FC236}">
                <a16:creationId xmlns:a16="http://schemas.microsoft.com/office/drawing/2014/main" id="{D14F7CE5-528A-4CF0-966B-13157090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07 / 21</a:t>
            </a:r>
          </a:p>
        </p:txBody>
      </p:sp>
    </p:spTree>
    <p:extLst>
      <p:ext uri="{BB962C8B-B14F-4D97-AF65-F5344CB8AC3E}">
        <p14:creationId xmlns:p14="http://schemas.microsoft.com/office/powerpoint/2010/main" val="13980168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01-kicker">
            <a:extLst xmlns:a="http://schemas.openxmlformats.org/drawingml/2006/main">
              <a:ext uri="{FF2B5EF4-FFF2-40B4-BE49-F238E27FC236}">
                <a16:creationId xmlns:a16="http://schemas.microsoft.com/office/drawing/2014/main" id="{38668A0B-61ED-42B2-9BF9-1B86D8A8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SELECT A VERTICAL SLICE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FF445D08-88A4-4440-BD95-B9AD322C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36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The commercial surface is larger than one hour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7E5960CF-DD87-45B5-994B-970724A9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capability-link">
            <a:extLst xmlns:a="http://schemas.openxmlformats.org/drawingml/2006/main">
              <a:ext uri="{FF2B5EF4-FFF2-40B4-BE49-F238E27FC236}">
                <a16:creationId xmlns:a16="http://schemas.microsoft.com/office/drawing/2014/main" id="{F30F9335-FF09-4CDE-ACC5-83366865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4795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5" name="05-capability">
            <a:extLst xmlns:a="http://schemas.openxmlformats.org/drawingml/2006/main">
              <a:ext uri="{FF2B5EF4-FFF2-40B4-BE49-F238E27FC236}">
                <a16:creationId xmlns:a16="http://schemas.microsoft.com/office/drawing/2014/main" id="{04195F1D-A388-498C-9F05-97873907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5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BLOCKS</a:t>
            </a:r>
          </a:p>
        </p:txBody>
      </p:sp>
      <p:sp>
        <p:nvSpPr>
          <p:cNvPr id="6" name="06-capability-link">
            <a:extLst xmlns:a="http://schemas.openxmlformats.org/drawingml/2006/main">
              <a:ext uri="{FF2B5EF4-FFF2-40B4-BE49-F238E27FC236}">
                <a16:creationId xmlns:a16="http://schemas.microsoft.com/office/drawing/2014/main" id="{5E515DD8-186A-49F5-8B60-E1C251C0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5052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7" name="07-capability">
            <a:extLst xmlns:a="http://schemas.openxmlformats.org/drawingml/2006/main">
              <a:ext uri="{FF2B5EF4-FFF2-40B4-BE49-F238E27FC236}">
                <a16:creationId xmlns:a16="http://schemas.microsoft.com/office/drawing/2014/main" id="{2F6E0FF7-D456-43CD-8641-0C59512D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5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MEDIA</a:t>
            </a:r>
          </a:p>
        </p:txBody>
      </p:sp>
      <p:sp>
        <p:nvSpPr>
          <p:cNvPr id="8" name="08-capability-link">
            <a:extLst xmlns:a="http://schemas.openxmlformats.org/drawingml/2006/main">
              <a:ext uri="{FF2B5EF4-FFF2-40B4-BE49-F238E27FC236}">
                <a16:creationId xmlns:a16="http://schemas.microsoft.com/office/drawing/2014/main" id="{EE0436FF-D9E8-441F-BC61-F159DC24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6245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9" name="09-capability">
            <a:extLst xmlns:a="http://schemas.openxmlformats.org/drawingml/2006/main">
              <a:ext uri="{FF2B5EF4-FFF2-40B4-BE49-F238E27FC236}">
                <a16:creationId xmlns:a16="http://schemas.microsoft.com/office/drawing/2014/main" id="{07B97437-69EC-486F-AE75-F93F90E3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5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FORMS</a:t>
            </a:r>
          </a:p>
        </p:txBody>
      </p:sp>
      <p:sp>
        <p:nvSpPr>
          <p:cNvPr id="10" name="10-capability-link">
            <a:extLst xmlns:a="http://schemas.openxmlformats.org/drawingml/2006/main">
              <a:ext uri="{FF2B5EF4-FFF2-40B4-BE49-F238E27FC236}">
                <a16:creationId xmlns:a16="http://schemas.microsoft.com/office/drawing/2014/main" id="{E4F12397-2DFF-4234-8BFE-ED48BA5E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197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11" name="11-capability">
            <a:extLst xmlns:a="http://schemas.openxmlformats.org/drawingml/2006/main">
              <a:ext uri="{FF2B5EF4-FFF2-40B4-BE49-F238E27FC236}">
                <a16:creationId xmlns:a16="http://schemas.microsoft.com/office/drawing/2014/main" id="{C059FF22-0E62-44B0-9A42-7825FF09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57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AUDIENCE</a:t>
            </a:r>
          </a:p>
        </p:txBody>
      </p:sp>
      <p:sp>
        <p:nvSpPr>
          <p:cNvPr id="12" name="12-capability-link">
            <a:extLst xmlns:a="http://schemas.openxmlformats.org/drawingml/2006/main">
              <a:ext uri="{FF2B5EF4-FFF2-40B4-BE49-F238E27FC236}">
                <a16:creationId xmlns:a16="http://schemas.microsoft.com/office/drawing/2014/main" id="{B0FC442E-2259-4315-998E-C3680581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13" name="13-capability">
            <a:extLst xmlns:a="http://schemas.openxmlformats.org/drawingml/2006/main">
              <a:ext uri="{FF2B5EF4-FFF2-40B4-BE49-F238E27FC236}">
                <a16:creationId xmlns:a16="http://schemas.microsoft.com/office/drawing/2014/main" id="{E1BFEF7D-B235-4DEB-8082-D5C4E046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1575" b="1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ANALYTICS</a:t>
            </a:r>
          </a:p>
        </p:txBody>
      </p:sp>
      <p:sp>
        <p:nvSpPr>
          <p:cNvPr id="14" name="14-capability-link">
            <a:extLst xmlns:a="http://schemas.openxmlformats.org/drawingml/2006/main">
              <a:ext uri="{FF2B5EF4-FFF2-40B4-BE49-F238E27FC236}">
                <a16:creationId xmlns:a16="http://schemas.microsoft.com/office/drawing/2014/main" id="{944FFD76-E986-4302-94DE-E8B9882C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052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15" name="15-capability">
            <a:extLst xmlns:a="http://schemas.openxmlformats.org/drawingml/2006/main">
              <a:ext uri="{FF2B5EF4-FFF2-40B4-BE49-F238E27FC236}">
                <a16:creationId xmlns:a16="http://schemas.microsoft.com/office/drawing/2014/main" id="{10752926-D76E-44DE-8480-FBB8C75B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1575" b="1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DOMAINS</a:t>
            </a:r>
          </a:p>
        </p:txBody>
      </p:sp>
      <p:sp>
        <p:nvSpPr>
          <p:cNvPr id="16" name="16-capability-link">
            <a:extLst xmlns:a="http://schemas.openxmlformats.org/drawingml/2006/main">
              <a:ext uri="{FF2B5EF4-FFF2-40B4-BE49-F238E27FC236}">
                <a16:creationId xmlns:a16="http://schemas.microsoft.com/office/drawing/2014/main" id="{D7BED2E6-798C-4BAB-BF71-380A6564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17" name="17-capability">
            <a:extLst xmlns:a="http://schemas.openxmlformats.org/drawingml/2006/main">
              <a:ext uri="{FF2B5EF4-FFF2-40B4-BE49-F238E27FC236}">
                <a16:creationId xmlns:a16="http://schemas.microsoft.com/office/drawing/2014/main" id="{0D4EAB5F-8AC5-4797-BAF5-1064A061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957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1575" b="1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PROFILES</a:t>
            </a:r>
          </a:p>
        </p:txBody>
      </p:sp>
      <p:sp>
        <p:nvSpPr>
          <p:cNvPr id="18" name="18-capability-link">
            <a:extLst xmlns:a="http://schemas.openxmlformats.org/drawingml/2006/main">
              <a:ext uri="{FF2B5EF4-FFF2-40B4-BE49-F238E27FC236}">
                <a16:creationId xmlns:a16="http://schemas.microsoft.com/office/drawing/2014/main" id="{094FF0B2-5BF5-41BE-AABC-7C98BC7A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1970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19" name="19-capability">
            <a:extLst xmlns:a="http://schemas.openxmlformats.org/drawingml/2006/main">
              <a:ext uri="{FF2B5EF4-FFF2-40B4-BE49-F238E27FC236}">
                <a16:creationId xmlns:a16="http://schemas.microsoft.com/office/drawing/2014/main" id="{E7B69CA7-404E-47F1-8239-3DB47C7C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530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1575" b="1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API</a:t>
            </a:r>
          </a:p>
        </p:txBody>
      </p:sp>
      <p:sp>
        <p:nvSpPr>
          <p:cNvPr id="20" name="20-creator-page-bg">
            <a:extLst xmlns:a="http://schemas.openxmlformats.org/drawingml/2006/main">
              <a:ext uri="{FF2B5EF4-FFF2-40B4-BE49-F238E27FC236}">
                <a16:creationId xmlns:a16="http://schemas.microsoft.com/office/drawing/2014/main" id="{F40FD247-E4E4-4AED-895A-41FFAB61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76550"/>
            <a:ext cx="43053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21-creator-page">
            <a:extLst xmlns:a="http://schemas.openxmlformats.org/drawingml/2006/main">
              <a:ext uri="{FF2B5EF4-FFF2-40B4-BE49-F238E27FC236}">
                <a16:creationId xmlns:a16="http://schemas.microsoft.com/office/drawing/2014/main" id="{F7C3063A-9EBE-41DC-9F02-3600054A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354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225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CREATOR PAGE</a:t>
            </a:r>
          </a:p>
        </p:txBody>
      </p:sp>
      <p:sp>
        <p:nvSpPr>
          <p:cNvPr id="22" name="22-creator-page-sub">
            <a:extLst xmlns:a="http://schemas.openxmlformats.org/drawingml/2006/main">
              <a:ext uri="{FF2B5EF4-FFF2-40B4-BE49-F238E27FC236}">
                <a16:creationId xmlns:a16="http://schemas.microsoft.com/office/drawing/2014/main" id="{6B610130-5A20-4B95-999E-ACF31CBC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57650"/>
            <a:ext cx="335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F0D478"/>
                </a:solidFill>
                <a:latin typeface="Geist"/>
                <a:ea typeface="Geist"/>
                <a:cs typeface="Geist"/>
              </a:defRPr>
            </a:pPr>
            <a:r>
              <a:rPr sz="1650" b="0" i="0">
                <a:solidFill>
                  <a:srgbClr val="F0D478"/>
                </a:solidFill>
                <a:latin typeface="Geist"/>
                <a:ea typeface="Geist"/>
                <a:cs typeface="Geist"/>
              </a:rPr>
              <a:t>core six in contract</a:t>
            </a:r>
          </a:p>
          <a:p xmlns:a="http://schemas.openxmlformats.org/drawingml/2006/main">
            <a:pPr algn="ctr">
              <a:defRPr sz="1650" b="0" i="0">
                <a:solidFill>
                  <a:srgbClr val="F0D478"/>
                </a:solidFill>
                <a:latin typeface="Geist"/>
                <a:ea typeface="Geist"/>
                <a:cs typeface="Geist"/>
              </a:defRPr>
            </a:pPr>
            <a:r>
              <a:rPr sz="1650" b="0" i="0">
                <a:solidFill>
                  <a:srgbClr val="F0D478"/>
                </a:solidFill>
                <a:latin typeface="Geist"/>
                <a:ea typeface="Geist"/>
                <a:cs typeface="Geist"/>
              </a:rPr>
              <a:t>external boundaries named</a:t>
            </a:r>
          </a:p>
        </p:txBody>
      </p:sp>
      <p:sp>
        <p:nvSpPr>
          <p:cNvPr id="23" name="23-footer-rule">
            <a:extLst xmlns:a="http://schemas.openxmlformats.org/drawingml/2006/main">
              <a:ext uri="{FF2B5EF4-FFF2-40B4-BE49-F238E27FC236}">
                <a16:creationId xmlns:a16="http://schemas.microsoft.com/office/drawing/2014/main" id="{23524F7B-99CD-4C91-810C-B8545123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24" name="24-footer-left">
            <a:extLst xmlns:a="http://schemas.openxmlformats.org/drawingml/2006/main">
              <a:ext uri="{FF2B5EF4-FFF2-40B4-BE49-F238E27FC236}">
                <a16:creationId xmlns:a16="http://schemas.microsoft.com/office/drawing/2014/main" id="{ABA33F77-7CCC-4C8E-95EB-2282F8EB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00:24-00:27</a:t>
            </a:r>
          </a:p>
        </p:txBody>
      </p:sp>
      <p:sp>
        <p:nvSpPr>
          <p:cNvPr id="25" name="25-footer-right">
            <a:extLst xmlns:a="http://schemas.openxmlformats.org/drawingml/2006/main">
              <a:ext uri="{FF2B5EF4-FFF2-40B4-BE49-F238E27FC236}">
                <a16:creationId xmlns:a16="http://schemas.microsoft.com/office/drawing/2014/main" id="{CBA597F4-1D9C-44AF-A318-84C5AAC6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08 / 21</a:t>
            </a:r>
          </a:p>
        </p:txBody>
      </p:sp>
    </p:spTree>
    <p:extLst>
      <p:ext uri="{BB962C8B-B14F-4D97-AF65-F5344CB8AC3E}">
        <p14:creationId xmlns:p14="http://schemas.microsoft.com/office/powerpoint/2010/main" val="18075034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01-kicker">
            <a:extLst xmlns:a="http://schemas.openxmlformats.org/drawingml/2006/main">
              <a:ext uri="{FF2B5EF4-FFF2-40B4-BE49-F238E27FC236}">
                <a16:creationId xmlns:a16="http://schemas.microsoft.com/office/drawing/2014/main" id="{1BF56855-818F-44FB-B1D6-D0D18EDA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THE CLASSROOM CONTRACT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A57F89EB-F16E-4890-8F4E-473B1626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Scope is a promise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C1C534D6-0558-4137-8EB6-2E72EBAA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contract-page">
            <a:extLst xmlns:a="http://schemas.openxmlformats.org/drawingml/2006/main">
              <a:ext uri="{FF2B5EF4-FFF2-40B4-BE49-F238E27FC236}">
                <a16:creationId xmlns:a16="http://schemas.microsoft.com/office/drawing/2014/main" id="{C78F3BCF-E8FE-41D9-9ED5-F04BC20B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19300"/>
            <a:ext cx="10172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5" name="05-contract-claim">
            <a:extLst xmlns:a="http://schemas.openxmlformats.org/drawingml/2006/main">
              <a:ext uri="{FF2B5EF4-FFF2-40B4-BE49-F238E27FC236}">
                <a16:creationId xmlns:a16="http://schemas.microsoft.com/office/drawing/2014/main" id="{385FF474-32D8-4290-A6FD-A35C567B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81250"/>
            <a:ext cx="9258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285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Build an original creator page builder whose agreed core works end to end.</a:t>
            </a:r>
          </a:p>
        </p:txBody>
      </p:sp>
      <p:sp>
        <p:nvSpPr>
          <p:cNvPr id="6" name="06-contract-fields">
            <a:extLst xmlns:a="http://schemas.openxmlformats.org/drawingml/2006/main">
              <a:ext uri="{FF2B5EF4-FFF2-40B4-BE49-F238E27FC236}">
                <a16:creationId xmlns:a16="http://schemas.microsoft.com/office/drawing/2014/main" id="{DBD9E03E-3413-4174-8798-DD19EBB4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944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IDENTITY · SIX BLOCKS · ORDERING · DESIGN · SHARE · DEMO ANALYTICS · FAILURES</a:t>
            </a:r>
          </a:p>
        </p:txBody>
      </p:sp>
      <p:sp>
        <p:nvSpPr>
          <p:cNvPr id="7" name="07-signature-line">
            <a:extLst xmlns:a="http://schemas.openxmlformats.org/drawingml/2006/main">
              <a:ext uri="{FF2B5EF4-FFF2-40B4-BE49-F238E27FC236}">
                <a16:creationId xmlns:a16="http://schemas.microsoft.com/office/drawing/2014/main" id="{992D0B91-09CF-4B1D-B7E6-08278B35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911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8" name="08-signature-label">
            <a:extLst xmlns:a="http://schemas.openxmlformats.org/drawingml/2006/main">
              <a:ext uri="{FF2B5EF4-FFF2-40B4-BE49-F238E27FC236}">
                <a16:creationId xmlns:a16="http://schemas.microsoft.com/office/drawing/2014/main" id="{6D53FDEA-9418-4326-A4FA-CA8AEC81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105400"/>
            <a:ext cx="445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1275" b="0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CORE · MOCKED · OUT OF SCOPE</a:t>
            </a:r>
          </a:p>
        </p:txBody>
      </p:sp>
      <p:sp>
        <p:nvSpPr>
          <p:cNvPr id="9" name="09-footer-rule">
            <a:extLst xmlns:a="http://schemas.openxmlformats.org/drawingml/2006/main">
              <a:ext uri="{FF2B5EF4-FFF2-40B4-BE49-F238E27FC236}">
                <a16:creationId xmlns:a16="http://schemas.microsoft.com/office/drawing/2014/main" id="{3E3D0B82-EBF9-4DB6-B0D9-839E9A9E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0" name="10-footer-left">
            <a:extLst xmlns:a="http://schemas.openxmlformats.org/drawingml/2006/main">
              <a:ext uri="{FF2B5EF4-FFF2-40B4-BE49-F238E27FC236}">
                <a16:creationId xmlns:a16="http://schemas.microsoft.com/office/drawing/2014/main" id="{C6F792A8-D7BC-43CA-B215-968A6403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00:27-00:30</a:t>
            </a:r>
          </a:p>
        </p:txBody>
      </p:sp>
      <p:sp>
        <p:nvSpPr>
          <p:cNvPr id="11" name="11-footer-right">
            <a:extLst xmlns:a="http://schemas.openxmlformats.org/drawingml/2006/main">
              <a:ext uri="{FF2B5EF4-FFF2-40B4-BE49-F238E27FC236}">
                <a16:creationId xmlns:a16="http://schemas.microsoft.com/office/drawing/2014/main" id="{51E3DA2D-B0F7-47E8-844D-DF9333F2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09 / 21</a:t>
            </a:r>
          </a:p>
        </p:txBody>
      </p:sp>
    </p:spTree>
    <p:extLst>
      <p:ext uri="{BB962C8B-B14F-4D97-AF65-F5344CB8AC3E}">
        <p14:creationId xmlns:p14="http://schemas.microsoft.com/office/powerpoint/2010/main" val="15770564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1-kicker">
            <a:extLst xmlns:a="http://schemas.openxmlformats.org/drawingml/2006/main">
              <a:ext uri="{FF2B5EF4-FFF2-40B4-BE49-F238E27FC236}">
                <a16:creationId xmlns:a16="http://schemas.microsoft.com/office/drawing/2014/main" id="{1648008A-E59E-4352-959E-5336B466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RELEASE CHECKPOINT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35D89C0E-AD33-4022-A6CF-8B610DBF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Proof comes before polish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D9743685-0E5A-4020-828F-2F38A92EB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test-count">
            <a:extLst xmlns:a="http://schemas.openxmlformats.org/drawingml/2006/main">
              <a:ext uri="{FF2B5EF4-FFF2-40B4-BE49-F238E27FC236}">
                <a16:creationId xmlns:a16="http://schemas.microsoft.com/office/drawing/2014/main" id="{E8A4C807-D388-420C-A0F1-D7670126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57400"/>
            <a:ext cx="4095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20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18</a:t>
            </a:r>
          </a:p>
        </p:txBody>
      </p:sp>
      <p:sp>
        <p:nvSpPr>
          <p:cNvPr id="5" name="05-test-label">
            <a:extLst xmlns:a="http://schemas.openxmlformats.org/drawingml/2006/main">
              <a:ext uri="{FF2B5EF4-FFF2-40B4-BE49-F238E27FC236}">
                <a16:creationId xmlns:a16="http://schemas.microsoft.com/office/drawing/2014/main" id="{50D6E607-B1BF-43BC-AFA3-76A1CAB7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44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1725" b="1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TESTS</a:t>
            </a:r>
          </a:p>
        </p:txBody>
      </p:sp>
      <p:sp>
        <p:nvSpPr>
          <p:cNvPr id="6" name="06-test-divider">
            <a:extLst xmlns:a="http://schemas.openxmlformats.org/drawingml/2006/main">
              <a:ext uri="{FF2B5EF4-FFF2-40B4-BE49-F238E27FC236}">
                <a16:creationId xmlns:a16="http://schemas.microsoft.com/office/drawing/2014/main" id="{E041835D-C034-4190-AD82-09E57805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764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7" name="07-core-tests">
            <a:extLst xmlns:a="http://schemas.openxmlformats.org/drawingml/2006/main">
              <a:ext uri="{FF2B5EF4-FFF2-40B4-BE49-F238E27FC236}">
                <a16:creationId xmlns:a16="http://schemas.microsoft.com/office/drawing/2014/main" id="{B9C23EF4-385E-4613-BE02-1CEF857C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479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E3A35"/>
                </a:solidFill>
                <a:latin typeface="Fraunces 9pt"/>
                <a:ea typeface="Fraunces 9pt"/>
                <a:cs typeface="Fraunces 9pt"/>
              </a:defRPr>
            </a:pPr>
            <a:r>
              <a:rPr sz="3150" b="1" i="0">
                <a:solidFill>
                  <a:srgbClr val="1E3A35"/>
                </a:solidFill>
                <a:latin typeface="Fraunces 9pt"/>
                <a:ea typeface="Fraunces 9pt"/>
                <a:cs typeface="Fraunces 9pt"/>
              </a:rPr>
              <a:t>15 core</a:t>
            </a:r>
          </a:p>
        </p:txBody>
      </p:sp>
      <p:sp>
        <p:nvSpPr>
          <p:cNvPr id="8" name="08-access-tests">
            <a:extLst xmlns:a="http://schemas.openxmlformats.org/drawingml/2006/main">
              <a:ext uri="{FF2B5EF4-FFF2-40B4-BE49-F238E27FC236}">
                <a16:creationId xmlns:a16="http://schemas.microsoft.com/office/drawing/2014/main" id="{FBE8A396-752D-4332-AFD3-13B445D9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8610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 i="1">
                <a:solidFill>
                  <a:srgbClr val="C4581A"/>
                </a:solidFill>
                <a:latin typeface="Fraunces 9pt"/>
                <a:ea typeface="Fraunces 9pt"/>
                <a:cs typeface="Fraunces 9pt"/>
              </a:defRPr>
            </a:pPr>
            <a:r>
              <a:rPr sz="3150" b="0" i="1">
                <a:solidFill>
                  <a:srgbClr val="C4581A"/>
                </a:solidFill>
                <a:latin typeface="Fraunces 9pt"/>
                <a:ea typeface="Fraunces 9pt"/>
                <a:cs typeface="Fraunces 9pt"/>
              </a:rPr>
              <a:t>3 publish / access</a:t>
            </a:r>
          </a:p>
        </p:txBody>
      </p:sp>
      <p:sp>
        <p:nvSpPr>
          <p:cNvPr id="9" name="09-test-examples">
            <a:extLst xmlns:a="http://schemas.openxmlformats.org/drawingml/2006/main">
              <a:ext uri="{FF2B5EF4-FFF2-40B4-BE49-F238E27FC236}">
                <a16:creationId xmlns:a16="http://schemas.microsoft.com/office/drawing/2014/main" id="{07B5F30B-C6D1-4144-A5F1-C702188B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148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150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invalid URL · hide block · refresh · incognito · keyboard</a:t>
            </a:r>
          </a:p>
        </p:txBody>
      </p:sp>
      <p:sp>
        <p:nvSpPr>
          <p:cNvPr id="10" name="10-footer-rule">
            <a:extLst xmlns:a="http://schemas.openxmlformats.org/drawingml/2006/main">
              <a:ext uri="{FF2B5EF4-FFF2-40B4-BE49-F238E27FC236}">
                <a16:creationId xmlns:a16="http://schemas.microsoft.com/office/drawing/2014/main" id="{6105EE9E-256E-4766-A9B4-3A113961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1" name="11-footer-left">
            <a:extLst xmlns:a="http://schemas.openxmlformats.org/drawingml/2006/main">
              <a:ext uri="{FF2B5EF4-FFF2-40B4-BE49-F238E27FC236}">
                <a16:creationId xmlns:a16="http://schemas.microsoft.com/office/drawing/2014/main" id="{0FAC755E-1B51-4200-BE2A-10E79200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00:30-00:32</a:t>
            </a:r>
          </a:p>
        </p:txBody>
      </p:sp>
      <p:sp>
        <p:nvSpPr>
          <p:cNvPr id="12" name="12-footer-right">
            <a:extLst xmlns:a="http://schemas.openxmlformats.org/drawingml/2006/main">
              <a:ext uri="{FF2B5EF4-FFF2-40B4-BE49-F238E27FC236}">
                <a16:creationId xmlns:a16="http://schemas.microsoft.com/office/drawing/2014/main" id="{424ADBDA-EA75-40DA-8ADE-81021D0E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10 / 21</a:t>
            </a:r>
          </a:p>
        </p:txBody>
      </p:sp>
    </p:spTree>
    <p:extLst>
      <p:ext uri="{BB962C8B-B14F-4D97-AF65-F5344CB8AC3E}">
        <p14:creationId xmlns:p14="http://schemas.microsoft.com/office/powerpoint/2010/main" val="16289691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01-kicker">
            <a:extLst xmlns:a="http://schemas.openxmlformats.org/drawingml/2006/main">
              <a:ext uri="{FF2B5EF4-FFF2-40B4-BE49-F238E27FC236}">
                <a16:creationId xmlns:a16="http://schemas.microsoft.com/office/drawing/2014/main" id="{D9F65534-8D57-46AF-814E-40E6ABB9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INSTRUCTOR-ONLY REVEAL · AFTER CHECKPOINT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6A65C74C-DA52-4D44-BA71-69A0CB17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36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A first prompt is an operating contract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54594110-64C1-4BE4-955F-41A11903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prompt-page-bg">
            <a:extLst xmlns:a="http://schemas.openxmlformats.org/drawingml/2006/main">
              <a:ext uri="{FF2B5EF4-FFF2-40B4-BE49-F238E27FC236}">
                <a16:creationId xmlns:a16="http://schemas.microsoft.com/office/drawing/2014/main" id="{1F39D21E-53E5-4B4C-A922-79401420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09900"/>
            <a:ext cx="4038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prompt-page-title">
            <a:extLst xmlns:a="http://schemas.openxmlformats.org/drawingml/2006/main">
              <a:ext uri="{FF2B5EF4-FFF2-40B4-BE49-F238E27FC236}">
                <a16:creationId xmlns:a16="http://schemas.microsoft.com/office/drawing/2014/main" id="{C5F16A08-CF2C-4ACE-8571-DC9DD4C7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52800"/>
            <a:ext cx="3276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2175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FIRST PROMPT</a:t>
            </a:r>
          </a:p>
        </p:txBody>
      </p:sp>
      <p:sp>
        <p:nvSpPr>
          <p:cNvPr id="6" name="06-prompt-page-sub">
            <a:extLst xmlns:a="http://schemas.openxmlformats.org/drawingml/2006/main">
              <a:ext uri="{FF2B5EF4-FFF2-40B4-BE49-F238E27FC236}">
                <a16:creationId xmlns:a16="http://schemas.microsoft.com/office/drawing/2014/main" id="{529F814F-F26D-4AE2-9CD4-3AFDBCBE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F0D478"/>
                </a:solidFill>
                <a:latin typeface="Fraunces 9pt"/>
                <a:ea typeface="Fraunces 9pt"/>
                <a:cs typeface="Fraunces 9pt"/>
              </a:defRPr>
            </a:pPr>
            <a:r>
              <a:rPr sz="1500" b="0" i="1">
                <a:solidFill>
                  <a:srgbClr val="F0D478"/>
                </a:solidFill>
                <a:latin typeface="Fraunces 9pt"/>
                <a:ea typeface="Fraunces 9pt"/>
                <a:cs typeface="Fraunces 9pt"/>
              </a:rPr>
              <a:t>operating contract</a:t>
            </a:r>
          </a:p>
        </p:txBody>
      </p:sp>
      <p:sp>
        <p:nvSpPr>
          <p:cNvPr id="7" name="07-prompt-label">
            <a:extLst xmlns:a="http://schemas.openxmlformats.org/drawingml/2006/main">
              <a:ext uri="{FF2B5EF4-FFF2-40B4-BE49-F238E27FC236}">
                <a16:creationId xmlns:a16="http://schemas.microsoft.com/office/drawing/2014/main" id="{1D8E5FE3-2F33-4841-87A7-DBC84973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USER</a:t>
            </a:r>
          </a:p>
        </p:txBody>
      </p:sp>
      <p:sp>
        <p:nvSpPr>
          <p:cNvPr id="8" name="08-prompt-link">
            <a:extLst xmlns:a="http://schemas.openxmlformats.org/drawingml/2006/main">
              <a:ext uri="{FF2B5EF4-FFF2-40B4-BE49-F238E27FC236}">
                <a16:creationId xmlns:a16="http://schemas.microsoft.com/office/drawing/2014/main" id="{41851B86-C036-4D6B-8A64-ADF96068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813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9" name="09-prompt-label">
            <a:extLst xmlns:a="http://schemas.openxmlformats.org/drawingml/2006/main">
              <a:ext uri="{FF2B5EF4-FFF2-40B4-BE49-F238E27FC236}">
                <a16:creationId xmlns:a16="http://schemas.microsoft.com/office/drawing/2014/main" id="{D664FC56-1116-4250-9BC6-46B784D2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JOB</a:t>
            </a:r>
          </a:p>
        </p:txBody>
      </p:sp>
      <p:sp>
        <p:nvSpPr>
          <p:cNvPr id="10" name="10-prompt-link">
            <a:extLst xmlns:a="http://schemas.openxmlformats.org/drawingml/2006/main">
              <a:ext uri="{FF2B5EF4-FFF2-40B4-BE49-F238E27FC236}">
                <a16:creationId xmlns:a16="http://schemas.microsoft.com/office/drawing/2014/main" id="{7DEBD508-3714-47C6-87BE-CB1046DA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11" name="11-prompt-label">
            <a:extLst xmlns:a="http://schemas.openxmlformats.org/drawingml/2006/main">
              <a:ext uri="{FF2B5EF4-FFF2-40B4-BE49-F238E27FC236}">
                <a16:creationId xmlns:a16="http://schemas.microsoft.com/office/drawing/2014/main" id="{2FF3FB59-06DE-4ABC-87F1-D60DDA5F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STATE</a:t>
            </a:r>
          </a:p>
        </p:txBody>
      </p:sp>
      <p:sp>
        <p:nvSpPr>
          <p:cNvPr id="12" name="12-prompt-link">
            <a:extLst xmlns:a="http://schemas.openxmlformats.org/drawingml/2006/main">
              <a:ext uri="{FF2B5EF4-FFF2-40B4-BE49-F238E27FC236}">
                <a16:creationId xmlns:a16="http://schemas.microsoft.com/office/drawing/2014/main" id="{92494FAD-A543-45C6-8FA0-216C189B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13" name="13-prompt-label">
            <a:extLst xmlns:a="http://schemas.openxmlformats.org/drawingml/2006/main">
              <a:ext uri="{FF2B5EF4-FFF2-40B4-BE49-F238E27FC236}">
                <a16:creationId xmlns:a16="http://schemas.microsoft.com/office/drawing/2014/main" id="{24BF73BA-D6B7-40E1-92A1-D35C8158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669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INTERACTIONS</a:t>
            </a:r>
          </a:p>
        </p:txBody>
      </p:sp>
      <p:sp>
        <p:nvSpPr>
          <p:cNvPr id="14" name="14-prompt-link">
            <a:extLst xmlns:a="http://schemas.openxmlformats.org/drawingml/2006/main">
              <a:ext uri="{FF2B5EF4-FFF2-40B4-BE49-F238E27FC236}">
                <a16:creationId xmlns:a16="http://schemas.microsoft.com/office/drawing/2014/main" id="{06875A8D-E7DB-4B7C-909A-9D280EF9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813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15" name="15-prompt-label">
            <a:extLst xmlns:a="http://schemas.openxmlformats.org/drawingml/2006/main">
              <a:ext uri="{FF2B5EF4-FFF2-40B4-BE49-F238E27FC236}">
                <a16:creationId xmlns:a16="http://schemas.microsoft.com/office/drawing/2014/main" id="{A39540E1-8DE3-483F-96E7-43903DE9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FAILURES</a:t>
            </a:r>
          </a:p>
        </p:txBody>
      </p:sp>
      <p:sp>
        <p:nvSpPr>
          <p:cNvPr id="16" name="16-prompt-link">
            <a:extLst xmlns:a="http://schemas.openxmlformats.org/drawingml/2006/main">
              <a:ext uri="{FF2B5EF4-FFF2-40B4-BE49-F238E27FC236}">
                <a16:creationId xmlns:a16="http://schemas.microsoft.com/office/drawing/2014/main" id="{C1C9C4BC-F00E-4D53-AC47-57026EC3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4577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17" name="17-prompt-label">
            <a:extLst xmlns:a="http://schemas.openxmlformats.org/drawingml/2006/main">
              <a:ext uri="{FF2B5EF4-FFF2-40B4-BE49-F238E27FC236}">
                <a16:creationId xmlns:a16="http://schemas.microsoft.com/office/drawing/2014/main" id="{FF5E1503-B736-4036-ACE3-7269EC6F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720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BOUNDARIES</a:t>
            </a:r>
          </a:p>
        </p:txBody>
      </p:sp>
      <p:sp>
        <p:nvSpPr>
          <p:cNvPr id="18" name="18-prompt-link">
            <a:extLst xmlns:a="http://schemas.openxmlformats.org/drawingml/2006/main">
              <a:ext uri="{FF2B5EF4-FFF2-40B4-BE49-F238E27FC236}">
                <a16:creationId xmlns:a16="http://schemas.microsoft.com/office/drawing/2014/main" id="{74037DD4-BB0C-46CE-BF66-43937654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577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19" name="19-prompt-label">
            <a:extLst xmlns:a="http://schemas.openxmlformats.org/drawingml/2006/main">
              <a:ext uri="{FF2B5EF4-FFF2-40B4-BE49-F238E27FC236}">
                <a16:creationId xmlns:a16="http://schemas.microsoft.com/office/drawing/2014/main" id="{8941E54B-F8B2-4EBC-8DF6-85AF3FD8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720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ACCESS</a:t>
            </a:r>
          </a:p>
        </p:txBody>
      </p:sp>
      <p:sp>
        <p:nvSpPr>
          <p:cNvPr id="20" name="20-prompt-link">
            <a:extLst xmlns:a="http://schemas.openxmlformats.org/drawingml/2006/main">
              <a:ext uri="{FF2B5EF4-FFF2-40B4-BE49-F238E27FC236}">
                <a16:creationId xmlns:a16="http://schemas.microsoft.com/office/drawing/2014/main" id="{F997E268-C5A8-45A3-82BD-BDCF1B56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4577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21" name="21-prompt-label">
            <a:extLst xmlns:a="http://schemas.openxmlformats.org/drawingml/2006/main">
              <a:ext uri="{FF2B5EF4-FFF2-40B4-BE49-F238E27FC236}">
                <a16:creationId xmlns:a16="http://schemas.microsoft.com/office/drawing/2014/main" id="{E332AA48-06B0-4651-BEB9-62394340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72050"/>
            <a:ext cx="2362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20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TESTS</a:t>
            </a:r>
          </a:p>
        </p:txBody>
      </p:sp>
      <p:sp>
        <p:nvSpPr>
          <p:cNvPr id="22" name="22-prompt-link">
            <a:extLst xmlns:a="http://schemas.openxmlformats.org/drawingml/2006/main">
              <a:ext uri="{FF2B5EF4-FFF2-40B4-BE49-F238E27FC236}">
                <a16:creationId xmlns:a16="http://schemas.microsoft.com/office/drawing/2014/main" id="{3483924A-52FF-4681-A26B-E6F526AA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577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23" name="23-footer-rule">
            <a:extLst xmlns:a="http://schemas.openxmlformats.org/drawingml/2006/main">
              <a:ext uri="{FF2B5EF4-FFF2-40B4-BE49-F238E27FC236}">
                <a16:creationId xmlns:a16="http://schemas.microsoft.com/office/drawing/2014/main" id="{4B5FF95F-E930-4DCA-92B6-E2D187F0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24" name="24-footer-left">
            <a:extLst xmlns:a="http://schemas.openxmlformats.org/drawingml/2006/main">
              <a:ext uri="{FF2B5EF4-FFF2-40B4-BE49-F238E27FC236}">
                <a16:creationId xmlns:a16="http://schemas.microsoft.com/office/drawing/2014/main" id="{3642613B-B80B-4474-A174-F8D08ED8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00:32-00:35</a:t>
            </a:r>
          </a:p>
        </p:txBody>
      </p:sp>
      <p:sp>
        <p:nvSpPr>
          <p:cNvPr id="25" name="25-footer-right">
            <a:extLst xmlns:a="http://schemas.openxmlformats.org/drawingml/2006/main">
              <a:ext uri="{FF2B5EF4-FFF2-40B4-BE49-F238E27FC236}">
                <a16:creationId xmlns:a16="http://schemas.microsoft.com/office/drawing/2014/main" id="{A80CD0E6-C1F4-42AF-87BF-6AE64739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11 / 21</a:t>
            </a:r>
          </a:p>
        </p:txBody>
      </p:sp>
    </p:spTree>
    <p:extLst>
      <p:ext uri="{BB962C8B-B14F-4D97-AF65-F5344CB8AC3E}">
        <p14:creationId xmlns:p14="http://schemas.microsoft.com/office/powerpoint/2010/main" val="521365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E3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1-kicker">
            <a:extLst xmlns:a="http://schemas.openxmlformats.org/drawingml/2006/main">
              <a:ext uri="{FF2B5EF4-FFF2-40B4-BE49-F238E27FC236}">
                <a16:creationId xmlns:a16="http://schemas.microsoft.com/office/drawing/2014/main" id="{7C93EF9D-30F1-45F6-80B9-6843DF9E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rPr>
              <a:t>SHIP CLOCK STARTS NOW</a:t>
            </a:r>
          </a:p>
        </p:txBody>
      </p:sp>
      <p:sp>
        <p:nvSpPr>
          <p:cNvPr id="2" name="02-timer">
            <a:extLst xmlns:a="http://schemas.openxmlformats.org/drawingml/2006/main">
              <a:ext uri="{FF2B5EF4-FFF2-40B4-BE49-F238E27FC236}">
                <a16:creationId xmlns:a16="http://schemas.microsoft.com/office/drawing/2014/main" id="{F256B7A6-2756-4F8C-ACC9-67EB2A88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125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60:00</a:t>
            </a:r>
          </a:p>
        </p:txBody>
      </p:sp>
      <p:sp>
        <p:nvSpPr>
          <p:cNvPr id="3" name="03-timer-track">
            <a:extLst xmlns:a="http://schemas.openxmlformats.org/drawingml/2006/main">
              <a:ext uri="{FF2B5EF4-FFF2-40B4-BE49-F238E27FC236}">
                <a16:creationId xmlns:a16="http://schemas.microsoft.com/office/drawing/2014/main" id="{36A172B3-6829-47EA-A64B-1E658108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4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4-timer-progress">
            <a:extLst xmlns:a="http://schemas.openxmlformats.org/drawingml/2006/main">
              <a:ext uri="{FF2B5EF4-FFF2-40B4-BE49-F238E27FC236}">
                <a16:creationId xmlns:a16="http://schemas.microsoft.com/office/drawing/2014/main" id="{74281B74-9EBC-45CF-83A4-E947359A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381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8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timer-footer">
            <a:extLst xmlns:a="http://schemas.openxmlformats.org/drawingml/2006/main">
              <a:ext uri="{FF2B5EF4-FFF2-40B4-BE49-F238E27FC236}">
                <a16:creationId xmlns:a16="http://schemas.microsoft.com/office/drawing/2014/main" id="{8901D831-21A0-46AF-AB08-56F17FCA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C7D3CE"/>
                </a:solidFill>
                <a:latin typeface="Geist"/>
                <a:ea typeface="Geist"/>
                <a:cs typeface="Geist"/>
              </a:defRPr>
            </a:pPr>
            <a:r>
              <a:rPr sz="1800" b="0" i="0">
                <a:solidFill>
                  <a:srgbClr val="C7D3CE"/>
                </a:solidFill>
                <a:latin typeface="Geist"/>
                <a:ea typeface="Geist"/>
                <a:cs typeface="Geist"/>
              </a:rPr>
              <a:t>No new features after minute 49 · last 11 minutes = truth + publication</a:t>
            </a:r>
          </a:p>
        </p:txBody>
      </p:sp>
      <p:sp>
        <p:nvSpPr>
          <p:cNvPr id="6" name="06-footer-rule">
            <a:extLst xmlns:a="http://schemas.openxmlformats.org/drawingml/2006/main">
              <a:ext uri="{FF2B5EF4-FFF2-40B4-BE49-F238E27FC236}">
                <a16:creationId xmlns:a16="http://schemas.microsoft.com/office/drawing/2014/main" id="{A8C1662A-CE0A-40A0-A996-B679AE37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35D"/>
            </a:solidFill>
            <a:prstDash val="solid"/>
          </a:ln>
        </p:spPr>
      </p:sp>
      <p:sp>
        <p:nvSpPr>
          <p:cNvPr id="7" name="07-footer-left">
            <a:extLst xmlns:a="http://schemas.openxmlformats.org/drawingml/2006/main">
              <a:ext uri="{FF2B5EF4-FFF2-40B4-BE49-F238E27FC236}">
                <a16:creationId xmlns:a16="http://schemas.microsoft.com/office/drawing/2014/main" id="{3B4BA5DA-FA5D-4766-91BE-0CF64A4D7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SESSION 04  /  00:35-00:37</a:t>
            </a:r>
          </a:p>
        </p:txBody>
      </p:sp>
      <p:sp>
        <p:nvSpPr>
          <p:cNvPr id="8" name="08-footer-right">
            <a:extLst xmlns:a="http://schemas.openxmlformats.org/drawingml/2006/main">
              <a:ext uri="{FF2B5EF4-FFF2-40B4-BE49-F238E27FC236}">
                <a16:creationId xmlns:a16="http://schemas.microsoft.com/office/drawing/2014/main" id="{FF0B9EBA-4694-4196-A248-CFD1CF3F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12 / 21</a:t>
            </a:r>
          </a:p>
        </p:txBody>
      </p:sp>
    </p:spTree>
    <p:extLst>
      <p:ext uri="{BB962C8B-B14F-4D97-AF65-F5344CB8AC3E}">
        <p14:creationId xmlns:p14="http://schemas.microsoft.com/office/powerpoint/2010/main" val="2022015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01-kicker">
            <a:extLst xmlns:a="http://schemas.openxmlformats.org/drawingml/2006/main">
              <a:ext uri="{FF2B5EF4-FFF2-40B4-BE49-F238E27FC236}">
                <a16:creationId xmlns:a16="http://schemas.microsoft.com/office/drawing/2014/main" id="{57E9823F-2C36-43C7-B4E7-D24D77AE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ONE BOUNDED PLAN PASS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8D1214A9-0138-45C6-9050-E6A06B7F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Plan once. Edit directly. Approve.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832DB006-371F-4AAF-8EA3-93EC83582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arrow">
            <a:extLst xmlns:a="http://schemas.openxmlformats.org/drawingml/2006/main">
              <a:ext uri="{FF2B5EF4-FFF2-40B4-BE49-F238E27FC236}">
                <a16:creationId xmlns:a16="http://schemas.microsoft.com/office/drawing/2014/main" id="{8E81DC10-EBFC-417F-A5BD-78BB421E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48000"/>
            <a:ext cx="1009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arrow">
            <a:extLst xmlns:a="http://schemas.openxmlformats.org/drawingml/2006/main">
              <a:ext uri="{FF2B5EF4-FFF2-40B4-BE49-F238E27FC236}">
                <a16:creationId xmlns:a16="http://schemas.microsoft.com/office/drawing/2014/main" id="{ECDABB54-7BA0-475D-B949-E9378546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48000"/>
            <a:ext cx="1009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6-node-bg">
            <a:extLst xmlns:a="http://schemas.openxmlformats.org/drawingml/2006/main">
              <a:ext uri="{FF2B5EF4-FFF2-40B4-BE49-F238E27FC236}">
                <a16:creationId xmlns:a16="http://schemas.microsoft.com/office/drawing/2014/main" id="{5105973C-C5A4-47D0-B4DA-62DE66F8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09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E"/>
          </a:solidFill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7" name="07-node-label">
            <a:extLst xmlns:a="http://schemas.openxmlformats.org/drawingml/2006/main">
              <a:ext uri="{FF2B5EF4-FFF2-40B4-BE49-F238E27FC236}">
                <a16:creationId xmlns:a16="http://schemas.microsoft.com/office/drawing/2014/main" id="{2897FB98-03CF-49D1-833B-7093BF78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E3A35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1E3A35"/>
                </a:solidFill>
                <a:latin typeface="Geist"/>
                <a:ea typeface="Geist"/>
                <a:cs typeface="Geist"/>
              </a:rPr>
              <a:t>PLAN MODE</a:t>
            </a:r>
          </a:p>
          <a:p xmlns:a="http://schemas.openxmlformats.org/drawingml/2006/main">
            <a:pPr algn="ctr">
              <a:defRPr sz="1950" b="1" i="0">
                <a:solidFill>
                  <a:srgbClr val="1E3A35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1E3A35"/>
                </a:solidFill>
                <a:latin typeface="Geist"/>
                <a:ea typeface="Geist"/>
                <a:cs typeface="Geist"/>
              </a:rPr>
              <a:t>1 credit / message</a:t>
            </a:r>
          </a:p>
        </p:txBody>
      </p:sp>
      <p:sp>
        <p:nvSpPr>
          <p:cNvPr id="8" name="08-node-bg">
            <a:extLst xmlns:a="http://schemas.openxmlformats.org/drawingml/2006/main">
              <a:ext uri="{FF2B5EF4-FFF2-40B4-BE49-F238E27FC236}">
                <a16:creationId xmlns:a16="http://schemas.microsoft.com/office/drawing/2014/main" id="{BB6FF265-29F0-4D3F-847D-D6CCB9370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00300"/>
            <a:ext cx="3009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581A"/>
            </a:solidFill>
            <a:prstDash val="solid"/>
          </a:ln>
        </p:spPr>
      </p:sp>
      <p:sp>
        <p:nvSpPr>
          <p:cNvPr id="9" name="09-node-label">
            <a:extLst xmlns:a="http://schemas.openxmlformats.org/drawingml/2006/main">
              <a:ext uri="{FF2B5EF4-FFF2-40B4-BE49-F238E27FC236}">
                <a16:creationId xmlns:a16="http://schemas.microsoft.com/office/drawing/2014/main" id="{BCC37C0E-E84D-41AE-8362-9C4F2F75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765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EDIT</a:t>
            </a:r>
          </a:p>
          <a:p xmlns:a="http://schemas.openxmlformats.org/drawingml/2006/main">
            <a:pPr algn="ctr">
              <a:defRPr sz="1950" b="1" i="0">
                <a:solidFill>
                  <a:srgbClr val="C4581A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C4581A"/>
                </a:solidFill>
                <a:latin typeface="Geist"/>
                <a:ea typeface="Geist"/>
                <a:cs typeface="Geist"/>
              </a:rPr>
              <a:t>the formal plan</a:t>
            </a:r>
          </a:p>
        </p:txBody>
      </p:sp>
      <p:sp>
        <p:nvSpPr>
          <p:cNvPr id="10" name="10-node-bg">
            <a:extLst xmlns:a="http://schemas.openxmlformats.org/drawingml/2006/main">
              <a:ext uri="{FF2B5EF4-FFF2-40B4-BE49-F238E27FC236}">
                <a16:creationId xmlns:a16="http://schemas.microsoft.com/office/drawing/2014/main" id="{CAB612B4-45E3-4D0F-8DF0-15C5BD45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3009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EE"/>
          </a:solidFill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11" name="11-node-label">
            <a:extLst xmlns:a="http://schemas.openxmlformats.org/drawingml/2006/main">
              <a:ext uri="{FF2B5EF4-FFF2-40B4-BE49-F238E27FC236}">
                <a16:creationId xmlns:a16="http://schemas.microsoft.com/office/drawing/2014/main" id="{A0979CBE-04B1-4A64-AABB-7F448283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781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E3A35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1E3A35"/>
                </a:solidFill>
                <a:latin typeface="Geist"/>
                <a:ea typeface="Geist"/>
                <a:cs typeface="Geist"/>
              </a:rPr>
              <a:t>APPROVE</a:t>
            </a:r>
          </a:p>
          <a:p xmlns:a="http://schemas.openxmlformats.org/drawingml/2006/main">
            <a:pPr algn="ctr">
              <a:defRPr sz="1950" b="1" i="0">
                <a:solidFill>
                  <a:srgbClr val="1E3A35"/>
                </a:solidFill>
                <a:latin typeface="Geist"/>
                <a:ea typeface="Geist"/>
                <a:cs typeface="Geist"/>
              </a:defRPr>
            </a:pPr>
            <a:r>
              <a:rPr sz="1950" b="1" i="0">
                <a:solidFill>
                  <a:srgbClr val="1E3A35"/>
                </a:solidFill>
                <a:latin typeface="Geist"/>
                <a:ea typeface="Geist"/>
                <a:cs typeface="Geist"/>
              </a:rPr>
              <a:t>then build</a:t>
            </a:r>
          </a:p>
        </p:txBody>
      </p:sp>
      <p:sp>
        <p:nvSpPr>
          <p:cNvPr id="12" name="12-plan-rule">
            <a:extLst xmlns:a="http://schemas.openxmlformats.org/drawingml/2006/main">
              <a:ext uri="{FF2B5EF4-FFF2-40B4-BE49-F238E27FC236}">
                <a16:creationId xmlns:a16="http://schemas.microsoft.com/office/drawing/2014/main" id="{8553D672-BAFD-431C-B86E-025C8ABF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476750"/>
            <a:ext cx="6553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1">
                <a:solidFill>
                  <a:srgbClr val="5C5046"/>
                </a:solidFill>
                <a:latin typeface="Fraunces 9pt"/>
                <a:ea typeface="Fraunces 9pt"/>
                <a:cs typeface="Fraunces 9pt"/>
              </a:defRPr>
            </a:pPr>
            <a:r>
              <a:rPr sz="2100" b="0" i="1">
                <a:solidFill>
                  <a:srgbClr val="5C5046"/>
                </a:solidFill>
                <a:latin typeface="Fraunces 9pt"/>
                <a:ea typeface="Fraunces 9pt"/>
                <a:cs typeface="Fraunces 9pt"/>
              </a:rPr>
              <a:t>Code changes: none until approval</a:t>
            </a:r>
          </a:p>
        </p:txBody>
      </p:sp>
      <p:sp>
        <p:nvSpPr>
          <p:cNvPr id="13" name="13-footer-rule">
            <a:extLst xmlns:a="http://schemas.openxmlformats.org/drawingml/2006/main">
              <a:ext uri="{FF2B5EF4-FFF2-40B4-BE49-F238E27FC236}">
                <a16:creationId xmlns:a16="http://schemas.microsoft.com/office/drawing/2014/main" id="{F8242B0F-8BCA-4E86-B5F6-E4995E2C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4" name="14-footer-left">
            <a:extLst xmlns:a="http://schemas.openxmlformats.org/drawingml/2006/main">
              <a:ext uri="{FF2B5EF4-FFF2-40B4-BE49-F238E27FC236}">
                <a16:creationId xmlns:a16="http://schemas.microsoft.com/office/drawing/2014/main" id="{6078688E-F197-4376-B8D9-30BE3EE4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00:37-00:40</a:t>
            </a:r>
          </a:p>
        </p:txBody>
      </p:sp>
      <p:sp>
        <p:nvSpPr>
          <p:cNvPr id="15" name="15-footer-right">
            <a:extLst xmlns:a="http://schemas.openxmlformats.org/drawingml/2006/main">
              <a:ext uri="{FF2B5EF4-FFF2-40B4-BE49-F238E27FC236}">
                <a16:creationId xmlns:a16="http://schemas.microsoft.com/office/drawing/2014/main" id="{16CC4D31-1B18-4A9F-A909-7BFEB7BC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13 / 21</a:t>
            </a:r>
          </a:p>
        </p:txBody>
      </p:sp>
    </p:spTree>
    <p:extLst>
      <p:ext uri="{BB962C8B-B14F-4D97-AF65-F5344CB8AC3E}">
        <p14:creationId xmlns:p14="http://schemas.microsoft.com/office/powerpoint/2010/main" val="12218930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01-kicker">
            <a:extLst xmlns:a="http://schemas.openxmlformats.org/drawingml/2006/main">
              <a:ext uri="{FF2B5EF4-FFF2-40B4-BE49-F238E27FC236}">
                <a16:creationId xmlns:a16="http://schemas.microsoft.com/office/drawing/2014/main" id="{865A8178-33C4-4AD4-A308-DA06FB03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EDIT THE PLAN DIRECTLY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4C9C411F-0A85-4CCF-A5DD-7C9D2EA1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The six plan questions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ABCDB829-9A87-40AB-A1FE-0F034628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bullet-marker">
            <a:extLst xmlns:a="http://schemas.openxmlformats.org/drawingml/2006/main">
              <a:ext uri="{FF2B5EF4-FFF2-40B4-BE49-F238E27FC236}">
                <a16:creationId xmlns:a16="http://schemas.microsoft.com/office/drawing/2014/main" id="{91BC2684-DAFE-48A2-AD55-D5039F05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01</a:t>
            </a:r>
          </a:p>
        </p:txBody>
      </p:sp>
      <p:sp>
        <p:nvSpPr>
          <p:cNvPr id="5" name="05-bullet-copy">
            <a:extLst xmlns:a="http://schemas.openxmlformats.org/drawingml/2006/main">
              <a:ext uri="{FF2B5EF4-FFF2-40B4-BE49-F238E27FC236}">
                <a16:creationId xmlns:a16="http://schemas.microsoft.com/office/drawing/2014/main" id="{7E5C46A1-1CF4-4656-9FFC-018F703F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28800"/>
            <a:ext cx="916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10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Truth?</a:t>
            </a:r>
          </a:p>
        </p:txBody>
      </p:sp>
      <p:sp>
        <p:nvSpPr>
          <p:cNvPr id="6" name="06-bullet-marker">
            <a:extLst xmlns:a="http://schemas.openxmlformats.org/drawingml/2006/main">
              <a:ext uri="{FF2B5EF4-FFF2-40B4-BE49-F238E27FC236}">
                <a16:creationId xmlns:a16="http://schemas.microsoft.com/office/drawing/2014/main" id="{CA30813F-1A1E-4647-ACA2-52F7F145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02</a:t>
            </a:r>
          </a:p>
        </p:txBody>
      </p:sp>
      <p:sp>
        <p:nvSpPr>
          <p:cNvPr id="7" name="07-bullet-copy">
            <a:extLst xmlns:a="http://schemas.openxmlformats.org/drawingml/2006/main">
              <a:ext uri="{FF2B5EF4-FFF2-40B4-BE49-F238E27FC236}">
                <a16:creationId xmlns:a16="http://schemas.microsoft.com/office/drawing/2014/main" id="{5B4388E7-CD3D-4682-BA71-E57CD7D4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81250"/>
            <a:ext cx="916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10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All ATs?</a:t>
            </a:r>
          </a:p>
        </p:txBody>
      </p:sp>
      <p:sp>
        <p:nvSpPr>
          <p:cNvPr id="8" name="08-bullet-marker">
            <a:extLst xmlns:a="http://schemas.openxmlformats.org/drawingml/2006/main">
              <a:ext uri="{FF2B5EF4-FFF2-40B4-BE49-F238E27FC236}">
                <a16:creationId xmlns:a16="http://schemas.microsoft.com/office/drawing/2014/main" id="{152EE03D-9A91-419E-96A1-6E04C967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03</a:t>
            </a:r>
          </a:p>
        </p:txBody>
      </p:sp>
      <p:sp>
        <p:nvSpPr>
          <p:cNvPr id="9" name="09-bullet-copy">
            <a:extLst xmlns:a="http://schemas.openxmlformats.org/drawingml/2006/main">
              <a:ext uri="{FF2B5EF4-FFF2-40B4-BE49-F238E27FC236}">
                <a16:creationId xmlns:a16="http://schemas.microsoft.com/office/drawing/2014/main" id="{7DCD92BC-3BA8-4FBA-8C10-622C8D2D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33700"/>
            <a:ext cx="916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10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State explicit?</a:t>
            </a:r>
          </a:p>
        </p:txBody>
      </p:sp>
      <p:sp>
        <p:nvSpPr>
          <p:cNvPr id="10" name="10-bullet-marker">
            <a:extLst xmlns:a="http://schemas.openxmlformats.org/drawingml/2006/main">
              <a:ext uri="{FF2B5EF4-FFF2-40B4-BE49-F238E27FC236}">
                <a16:creationId xmlns:a16="http://schemas.microsoft.com/office/drawing/2014/main" id="{502CE6A8-A112-42D9-A077-2914C8D4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04</a:t>
            </a:r>
          </a:p>
        </p:txBody>
      </p:sp>
      <p:sp>
        <p:nvSpPr>
          <p:cNvPr id="11" name="11-bullet-copy">
            <a:extLst xmlns:a="http://schemas.openxmlformats.org/drawingml/2006/main">
              <a:ext uri="{FF2B5EF4-FFF2-40B4-BE49-F238E27FC236}">
                <a16:creationId xmlns:a16="http://schemas.microsoft.com/office/drawing/2014/main" id="{46EFAD23-4F6F-41DE-A2F5-070A9033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86150"/>
            <a:ext cx="916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10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Failures named?</a:t>
            </a:r>
          </a:p>
        </p:txBody>
      </p:sp>
      <p:sp>
        <p:nvSpPr>
          <p:cNvPr id="12" name="12-bullet-marker">
            <a:extLst xmlns:a="http://schemas.openxmlformats.org/drawingml/2006/main">
              <a:ext uri="{FF2B5EF4-FFF2-40B4-BE49-F238E27FC236}">
                <a16:creationId xmlns:a16="http://schemas.microsoft.com/office/drawing/2014/main" id="{5610CA89-818A-43A7-B443-905F49AC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05</a:t>
            </a:r>
          </a:p>
        </p:txBody>
      </p:sp>
      <p:sp>
        <p:nvSpPr>
          <p:cNvPr id="13" name="13-bullet-copy">
            <a:extLst xmlns:a="http://schemas.openxmlformats.org/drawingml/2006/main">
              <a:ext uri="{FF2B5EF4-FFF2-40B4-BE49-F238E27FC236}">
                <a16:creationId xmlns:a16="http://schemas.microsoft.com/office/drawing/2014/main" id="{DAC2F19A-E38D-46B3-BCEE-05753F8F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38600"/>
            <a:ext cx="916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10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Keyboard path?</a:t>
            </a:r>
          </a:p>
        </p:txBody>
      </p:sp>
      <p:sp>
        <p:nvSpPr>
          <p:cNvPr id="14" name="14-bullet-marker">
            <a:extLst xmlns:a="http://schemas.openxmlformats.org/drawingml/2006/main">
              <a:ext uri="{FF2B5EF4-FFF2-40B4-BE49-F238E27FC236}">
                <a16:creationId xmlns:a16="http://schemas.microsoft.com/office/drawing/2014/main" id="{9675640E-D646-48A9-A7D2-C0D1EFEF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06</a:t>
            </a:r>
          </a:p>
        </p:txBody>
      </p:sp>
      <p:sp>
        <p:nvSpPr>
          <p:cNvPr id="15" name="15-bullet-copy">
            <a:extLst xmlns:a="http://schemas.openxmlformats.org/drawingml/2006/main">
              <a:ext uri="{FF2B5EF4-FFF2-40B4-BE49-F238E27FC236}">
                <a16:creationId xmlns:a16="http://schemas.microsoft.com/office/drawing/2014/main" id="{01240D35-8B0E-48FA-927D-B0035CAF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91050"/>
            <a:ext cx="916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210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Core first?</a:t>
            </a:r>
          </a:p>
        </p:txBody>
      </p:sp>
      <p:sp>
        <p:nvSpPr>
          <p:cNvPr id="16" name="16-footer-rule">
            <a:extLst xmlns:a="http://schemas.openxmlformats.org/drawingml/2006/main">
              <a:ext uri="{FF2B5EF4-FFF2-40B4-BE49-F238E27FC236}">
                <a16:creationId xmlns:a16="http://schemas.microsoft.com/office/drawing/2014/main" id="{762DA600-BD73-4821-B8A3-D4CB4C7D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7" name="17-footer-left">
            <a:extLst xmlns:a="http://schemas.openxmlformats.org/drawingml/2006/main">
              <a:ext uri="{FF2B5EF4-FFF2-40B4-BE49-F238E27FC236}">
                <a16:creationId xmlns:a16="http://schemas.microsoft.com/office/drawing/2014/main" id="{B88C747F-9D6E-4525-8F23-FC5935C9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00:40-00:45</a:t>
            </a:r>
          </a:p>
        </p:txBody>
      </p:sp>
      <p:sp>
        <p:nvSpPr>
          <p:cNvPr id="18" name="18-footer-right">
            <a:extLst xmlns:a="http://schemas.openxmlformats.org/drawingml/2006/main">
              <a:ext uri="{FF2B5EF4-FFF2-40B4-BE49-F238E27FC236}">
                <a16:creationId xmlns:a16="http://schemas.microsoft.com/office/drawing/2014/main" id="{C0317FDA-90B6-433E-A0C0-8C2C460A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14 / 21</a:t>
            </a:r>
          </a:p>
        </p:txBody>
      </p:sp>
    </p:spTree>
    <p:extLst>
      <p:ext uri="{BB962C8B-B14F-4D97-AF65-F5344CB8AC3E}">
        <p14:creationId xmlns:p14="http://schemas.microsoft.com/office/powerpoint/2010/main" val="3545614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01-kicker">
            <a:extLst xmlns:a="http://schemas.openxmlformats.org/drawingml/2006/main">
              <a:ext uri="{FF2B5EF4-FFF2-40B4-BE49-F238E27FC236}">
                <a16:creationId xmlns:a16="http://schemas.microsoft.com/office/drawing/2014/main" id="{9F1C692A-D0A6-43E1-9257-72F072A8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39 MINUTES · KEEP THIS VISIBLE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0BC79790-7BA3-499C-8773-91FF563F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Build the vertical slice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3012BFA5-6B8F-4861-B614-839DE046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build-timer">
            <a:extLst xmlns:a="http://schemas.openxmlformats.org/drawingml/2006/main">
              <a:ext uri="{FF2B5EF4-FFF2-40B4-BE49-F238E27FC236}">
                <a16:creationId xmlns:a16="http://schemas.microsoft.com/office/drawing/2014/main" id="{4BB8A155-0765-4C81-8C13-7801389E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6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2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22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39:00</a:t>
            </a:r>
          </a:p>
        </p:txBody>
      </p:sp>
      <p:sp>
        <p:nvSpPr>
          <p:cNvPr id="5" name="05-build-track">
            <a:extLst xmlns:a="http://schemas.openxmlformats.org/drawingml/2006/main">
              <a:ext uri="{FF2B5EF4-FFF2-40B4-BE49-F238E27FC236}">
                <a16:creationId xmlns:a16="http://schemas.microsoft.com/office/drawing/2014/main" id="{342E9B92-5CCB-491A-BAAF-65698993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EDE5D8"/>
            </a:solidFill>
            <a:prstDash val="solid"/>
          </a:ln>
        </p:spPr>
      </p:sp>
      <p:sp>
        <p:nvSpPr>
          <p:cNvPr id="6" name="06-build-tick">
            <a:extLst xmlns:a="http://schemas.openxmlformats.org/drawingml/2006/main">
              <a:ext uri="{FF2B5EF4-FFF2-40B4-BE49-F238E27FC236}">
                <a16:creationId xmlns:a16="http://schemas.microsoft.com/office/drawing/2014/main" id="{76AC1E9F-F822-4909-8F7B-99422BCE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07-build-step">
            <a:extLst xmlns:a="http://schemas.openxmlformats.org/drawingml/2006/main">
              <a:ext uri="{FF2B5EF4-FFF2-40B4-BE49-F238E27FC236}">
                <a16:creationId xmlns:a16="http://schemas.microsoft.com/office/drawing/2014/main" id="{0D930273-429C-47CC-9A57-33E19F2C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1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ROUTES</a:t>
            </a:r>
          </a:p>
        </p:txBody>
      </p:sp>
      <p:sp>
        <p:nvSpPr>
          <p:cNvPr id="8" name="08-build-tick">
            <a:extLst xmlns:a="http://schemas.openxmlformats.org/drawingml/2006/main">
              <a:ext uri="{FF2B5EF4-FFF2-40B4-BE49-F238E27FC236}">
                <a16:creationId xmlns:a16="http://schemas.microsoft.com/office/drawing/2014/main" id="{BC6C4053-4030-4BA8-B444-0B437CB0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9-build-step">
            <a:extLst xmlns:a="http://schemas.openxmlformats.org/drawingml/2006/main">
              <a:ext uri="{FF2B5EF4-FFF2-40B4-BE49-F238E27FC236}">
                <a16:creationId xmlns:a16="http://schemas.microsoft.com/office/drawing/2014/main" id="{EDCACE12-1A49-46E1-AF96-E43A9FEB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290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1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STATE</a:t>
            </a:r>
          </a:p>
        </p:txBody>
      </p:sp>
      <p:sp>
        <p:nvSpPr>
          <p:cNvPr id="10" name="10-build-tick">
            <a:extLst xmlns:a="http://schemas.openxmlformats.org/drawingml/2006/main">
              <a:ext uri="{FF2B5EF4-FFF2-40B4-BE49-F238E27FC236}">
                <a16:creationId xmlns:a16="http://schemas.microsoft.com/office/drawing/2014/main" id="{FD46B89D-DF3E-40E8-9369-BEF7862C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00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1-build-step">
            <a:extLst xmlns:a="http://schemas.openxmlformats.org/drawingml/2006/main">
              <a:ext uri="{FF2B5EF4-FFF2-40B4-BE49-F238E27FC236}">
                <a16:creationId xmlns:a16="http://schemas.microsoft.com/office/drawing/2014/main" id="{593E7C1E-0A49-4708-AF0E-B0A10E1C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1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BLOCK LOOP</a:t>
            </a:r>
          </a:p>
        </p:txBody>
      </p:sp>
      <p:sp>
        <p:nvSpPr>
          <p:cNvPr id="12" name="12-build-tick">
            <a:extLst xmlns:a="http://schemas.openxmlformats.org/drawingml/2006/main">
              <a:ext uri="{FF2B5EF4-FFF2-40B4-BE49-F238E27FC236}">
                <a16:creationId xmlns:a16="http://schemas.microsoft.com/office/drawing/2014/main" id="{01E186B7-E266-4941-8DD4-75337679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00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13-build-step">
            <a:extLst xmlns:a="http://schemas.openxmlformats.org/drawingml/2006/main">
              <a:ext uri="{FF2B5EF4-FFF2-40B4-BE49-F238E27FC236}">
                <a16:creationId xmlns:a16="http://schemas.microsoft.com/office/drawing/2014/main" id="{373B86C4-2DBC-4093-963C-47A0659E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1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DESIGN</a:t>
            </a:r>
          </a:p>
        </p:txBody>
      </p:sp>
      <p:sp>
        <p:nvSpPr>
          <p:cNvPr id="14" name="14-build-tick">
            <a:extLst xmlns:a="http://schemas.openxmlformats.org/drawingml/2006/main">
              <a:ext uri="{FF2B5EF4-FFF2-40B4-BE49-F238E27FC236}">
                <a16:creationId xmlns:a16="http://schemas.microsoft.com/office/drawing/2014/main" id="{4AB9C052-A625-4E88-9D7C-2F00124C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00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15-build-step">
            <a:extLst xmlns:a="http://schemas.openxmlformats.org/drawingml/2006/main">
              <a:ext uri="{FF2B5EF4-FFF2-40B4-BE49-F238E27FC236}">
                <a16:creationId xmlns:a16="http://schemas.microsoft.com/office/drawing/2014/main" id="{9BBE4AD0-8417-4320-B6FB-2DDEE2FC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290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1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FAILURES</a:t>
            </a:r>
          </a:p>
        </p:txBody>
      </p:sp>
      <p:sp>
        <p:nvSpPr>
          <p:cNvPr id="16" name="16-build-tick">
            <a:extLst xmlns:a="http://schemas.openxmlformats.org/drawingml/2006/main">
              <a:ext uri="{FF2B5EF4-FFF2-40B4-BE49-F238E27FC236}">
                <a16:creationId xmlns:a16="http://schemas.microsoft.com/office/drawing/2014/main" id="{EC4891E0-30D8-4865-9A3D-31D7AE1F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00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8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17-build-step">
            <a:extLst xmlns:a="http://schemas.openxmlformats.org/drawingml/2006/main">
              <a:ext uri="{FF2B5EF4-FFF2-40B4-BE49-F238E27FC236}">
                <a16:creationId xmlns:a16="http://schemas.microsoft.com/office/drawing/2014/main" id="{7626C3D6-29BB-48C7-870E-5091AAAF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429000"/>
            <a:ext cx="1276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1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SHARE</a:t>
            </a:r>
          </a:p>
        </p:txBody>
      </p:sp>
      <p:sp>
        <p:nvSpPr>
          <p:cNvPr id="18" name="18-build-mantra">
            <a:extLst xmlns:a="http://schemas.openxmlformats.org/drawingml/2006/main">
              <a:ext uri="{FF2B5EF4-FFF2-40B4-BE49-F238E27FC236}">
                <a16:creationId xmlns:a16="http://schemas.microsoft.com/office/drawing/2014/main" id="{E58480F8-DFD3-4E14-852B-538D689B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1650" b="1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CONTRACT / EVIDENCE / SMALLEST NEXT CHANGE</a:t>
            </a:r>
          </a:p>
        </p:txBody>
      </p:sp>
      <p:sp>
        <p:nvSpPr>
          <p:cNvPr id="19" name="19-footer-rule">
            <a:extLst xmlns:a="http://schemas.openxmlformats.org/drawingml/2006/main">
              <a:ext uri="{FF2B5EF4-FFF2-40B4-BE49-F238E27FC236}">
                <a16:creationId xmlns:a16="http://schemas.microsoft.com/office/drawing/2014/main" id="{FBF4D78D-36A7-4C8E-A7C5-CD878E99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20" name="20-footer-left">
            <a:extLst xmlns:a="http://schemas.openxmlformats.org/drawingml/2006/main">
              <a:ext uri="{FF2B5EF4-FFF2-40B4-BE49-F238E27FC236}">
                <a16:creationId xmlns:a16="http://schemas.microsoft.com/office/drawing/2014/main" id="{7FB21968-5350-436D-A3E7-DB0549DD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00:45-01:24</a:t>
            </a:r>
          </a:p>
        </p:txBody>
      </p:sp>
      <p:sp>
        <p:nvSpPr>
          <p:cNvPr id="21" name="21-footer-right">
            <a:extLst xmlns:a="http://schemas.openxmlformats.org/drawingml/2006/main">
              <a:ext uri="{FF2B5EF4-FFF2-40B4-BE49-F238E27FC236}">
                <a16:creationId xmlns:a16="http://schemas.microsoft.com/office/drawing/2014/main" id="{6612BE6F-9CDB-4DA0-AEF5-F83C81DA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15 / 21</a:t>
            </a:r>
          </a:p>
        </p:txBody>
      </p:sp>
    </p:spTree>
    <p:extLst>
      <p:ext uri="{BB962C8B-B14F-4D97-AF65-F5344CB8AC3E}">
        <p14:creationId xmlns:p14="http://schemas.microsoft.com/office/powerpoint/2010/main" val="8954377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01-kicker">
            <a:extLst xmlns:a="http://schemas.openxmlformats.org/drawingml/2006/main">
              <a:ext uri="{FF2B5EF4-FFF2-40B4-BE49-F238E27FC236}">
                <a16:creationId xmlns:a16="http://schemas.microsoft.com/office/drawing/2014/main" id="{41DCB2D1-BA9E-4313-85F9-98E82923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EXACT UI LABELS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466639A6-0BE4-4C85-B7AC-246121EA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A mock must say what it is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80E6F4E7-87D1-4F98-8E37-32D1A8D4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mock-label-bg">
            <a:extLst xmlns:a="http://schemas.openxmlformats.org/drawingml/2006/main">
              <a:ext uri="{FF2B5EF4-FFF2-40B4-BE49-F238E27FC236}">
                <a16:creationId xmlns:a16="http://schemas.microsoft.com/office/drawing/2014/main" id="{CC958818-A1CE-4A67-B986-A6C2A09A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81200"/>
            <a:ext cx="1002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5" name="05-mock-label">
            <a:extLst xmlns:a="http://schemas.openxmlformats.org/drawingml/2006/main">
              <a:ext uri="{FF2B5EF4-FFF2-40B4-BE49-F238E27FC236}">
                <a16:creationId xmlns:a16="http://schemas.microsoft.com/office/drawing/2014/main" id="{F6B1D1C6-3A9D-40B4-B507-AF4839CA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76450"/>
            <a:ext cx="944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F1A14"/>
                </a:solidFill>
                <a:latin typeface="Geist Mono"/>
                <a:ea typeface="Geist Mono"/>
                <a:cs typeface="Geist Mono"/>
              </a:defRPr>
            </a:pPr>
            <a:r>
              <a:rPr sz="1725" b="0" i="0">
                <a:solidFill>
                  <a:srgbClr val="1F1A14"/>
                </a:solidFill>
                <a:latin typeface="Geist Mono"/>
                <a:ea typeface="Geist Mono"/>
                <a:cs typeface="Geist Mono"/>
              </a:rPr>
              <a:t>Demo import - no Instagram connection</a:t>
            </a:r>
          </a:p>
        </p:txBody>
      </p:sp>
      <p:sp>
        <p:nvSpPr>
          <p:cNvPr id="6" name="06-mock-label-bg">
            <a:extLst xmlns:a="http://schemas.openxmlformats.org/drawingml/2006/main">
              <a:ext uri="{FF2B5EF4-FFF2-40B4-BE49-F238E27FC236}">
                <a16:creationId xmlns:a16="http://schemas.microsoft.com/office/drawing/2014/main" id="{C6EAC808-A0A6-4B1A-870A-ABEE0E9D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1002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7" name="07-mock-label">
            <a:extLst xmlns:a="http://schemas.openxmlformats.org/drawingml/2006/main">
              <a:ext uri="{FF2B5EF4-FFF2-40B4-BE49-F238E27FC236}">
                <a16:creationId xmlns:a16="http://schemas.microsoft.com/office/drawing/2014/main" id="{058DED07-6955-433C-BCCE-86CA75D9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19400"/>
            <a:ext cx="944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F1A14"/>
                </a:solidFill>
                <a:latin typeface="Geist Mono"/>
                <a:ea typeface="Geist Mono"/>
                <a:cs typeface="Geist Mono"/>
              </a:defRPr>
            </a:pPr>
            <a:r>
              <a:rPr sz="1725" b="0" i="0">
                <a:solidFill>
                  <a:srgbClr val="1F1A14"/>
                </a:solidFill>
                <a:latin typeface="Geist Mono"/>
                <a:ea typeface="Geist Mono"/>
                <a:cs typeface="Geist Mono"/>
              </a:rPr>
              <a:t>Demo signup - stored only in this browser</a:t>
            </a:r>
          </a:p>
        </p:txBody>
      </p:sp>
      <p:sp>
        <p:nvSpPr>
          <p:cNvPr id="8" name="08-mock-label-bg">
            <a:extLst xmlns:a="http://schemas.openxmlformats.org/drawingml/2006/main">
              <a:ext uri="{FF2B5EF4-FFF2-40B4-BE49-F238E27FC236}">
                <a16:creationId xmlns:a16="http://schemas.microsoft.com/office/drawing/2014/main" id="{797C7C9B-8AB8-4ABC-8285-ECC89AE5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67100"/>
            <a:ext cx="1002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DE5D8"/>
            </a:solidFill>
            <a:prstDash val="solid"/>
          </a:ln>
        </p:spPr>
      </p:sp>
      <p:sp>
        <p:nvSpPr>
          <p:cNvPr id="9" name="09-mock-label">
            <a:extLst xmlns:a="http://schemas.openxmlformats.org/drawingml/2006/main">
              <a:ext uri="{FF2B5EF4-FFF2-40B4-BE49-F238E27FC236}">
                <a16:creationId xmlns:a16="http://schemas.microsoft.com/office/drawing/2014/main" id="{A59DA07B-97E0-49A5-84E5-ACE6E7F5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62350"/>
            <a:ext cx="944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F1A14"/>
                </a:solidFill>
                <a:latin typeface="Geist Mono"/>
                <a:ea typeface="Geist Mono"/>
                <a:cs typeface="Geist Mono"/>
              </a:defRPr>
            </a:pPr>
            <a:r>
              <a:rPr sz="1725" b="0" i="0">
                <a:solidFill>
                  <a:srgbClr val="1F1A14"/>
                </a:solidFill>
                <a:latin typeface="Geist Mono"/>
                <a:ea typeface="Geist Mono"/>
                <a:cs typeface="Geist Mono"/>
              </a:rPr>
              <a:t>Demo analytics · this browser only</a:t>
            </a:r>
          </a:p>
        </p:txBody>
      </p:sp>
      <p:sp>
        <p:nvSpPr>
          <p:cNvPr id="10" name="10-mock-label-bg">
            <a:extLst xmlns:a="http://schemas.openxmlformats.org/drawingml/2006/main">
              <a:ext uri="{FF2B5EF4-FFF2-40B4-BE49-F238E27FC236}">
                <a16:creationId xmlns:a16="http://schemas.microsoft.com/office/drawing/2014/main" id="{DACD07AE-0766-4DE5-AE69-03588A27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1002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E7"/>
          </a:solidFill>
          <a:ln xmlns:a="http://schemas.openxmlformats.org/drawingml/2006/main" w="14288">
            <a:solidFill>
              <a:srgbClr val="C4581A"/>
            </a:solidFill>
            <a:prstDash val="solid"/>
          </a:ln>
        </p:spPr>
      </p:sp>
      <p:sp>
        <p:nvSpPr>
          <p:cNvPr id="11" name="11-mock-label">
            <a:extLst xmlns:a="http://schemas.openxmlformats.org/drawingml/2006/main">
              <a:ext uri="{FF2B5EF4-FFF2-40B4-BE49-F238E27FC236}">
                <a16:creationId xmlns:a16="http://schemas.microsoft.com/office/drawing/2014/main" id="{97E6B679-6A49-4A45-B160-9D7B90C8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05300"/>
            <a:ext cx="944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7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Build agent ≠ AI feature inside the live app</a:t>
            </a:r>
          </a:p>
        </p:txBody>
      </p:sp>
      <p:sp>
        <p:nvSpPr>
          <p:cNvPr id="12" name="12-footer-rule">
            <a:extLst xmlns:a="http://schemas.openxmlformats.org/drawingml/2006/main">
              <a:ext uri="{FF2B5EF4-FFF2-40B4-BE49-F238E27FC236}">
                <a16:creationId xmlns:a16="http://schemas.microsoft.com/office/drawing/2014/main" id="{5C7C0940-3669-49ED-824D-E21F02BE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3" name="13-footer-left">
            <a:extLst xmlns:a="http://schemas.openxmlformats.org/drawingml/2006/main">
              <a:ext uri="{FF2B5EF4-FFF2-40B4-BE49-F238E27FC236}">
                <a16:creationId xmlns:a16="http://schemas.microsoft.com/office/drawing/2014/main" id="{84329308-26B0-4921-93D7-6008D263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01:24-01:30</a:t>
            </a:r>
          </a:p>
        </p:txBody>
      </p:sp>
      <p:sp>
        <p:nvSpPr>
          <p:cNvPr id="14" name="14-footer-right">
            <a:extLst xmlns:a="http://schemas.openxmlformats.org/drawingml/2006/main">
              <a:ext uri="{FF2B5EF4-FFF2-40B4-BE49-F238E27FC236}">
                <a16:creationId xmlns:a16="http://schemas.microsoft.com/office/drawing/2014/main" id="{CCC08398-63E8-48E7-A678-EA3C5D2E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16 / 21</a:t>
            </a:r>
          </a:p>
        </p:txBody>
      </p:sp>
    </p:spTree>
    <p:extLst>
      <p:ext uri="{BB962C8B-B14F-4D97-AF65-F5344CB8AC3E}">
        <p14:creationId xmlns:p14="http://schemas.microsoft.com/office/powerpoint/2010/main" val="13769159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01-kicker">
            <a:extLst xmlns:a="http://schemas.openxmlformats.org/drawingml/2006/main">
              <a:ext uri="{FF2B5EF4-FFF2-40B4-BE49-F238E27FC236}">
                <a16:creationId xmlns:a16="http://schemas.microsoft.com/office/drawing/2014/main" id="{A29B2E14-03C4-46AF-8D94-9D15E2F1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DIALOG PATH · 0 BUILD CREDITS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92461A91-976B-45A2-B784-3BD9586F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Publish is not “ask the chat”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ACF668F1-BC72-4AAB-A1BE-4B6A122C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arrow">
            <a:extLst xmlns:a="http://schemas.openxmlformats.org/drawingml/2006/main">
              <a:ext uri="{FF2B5EF4-FFF2-40B4-BE49-F238E27FC236}">
                <a16:creationId xmlns:a16="http://schemas.microsoft.com/office/drawing/2014/main" id="{56715449-885A-4A3D-B9C7-246991D4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24200"/>
            <a:ext cx="781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node-bg">
            <a:extLst xmlns:a="http://schemas.openxmlformats.org/drawingml/2006/main">
              <a:ext uri="{FF2B5EF4-FFF2-40B4-BE49-F238E27FC236}">
                <a16:creationId xmlns:a16="http://schemas.microsoft.com/office/drawing/2014/main" id="{66498009-D358-424F-B13F-E0FA4611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238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6" name="06-node-label">
            <a:extLst xmlns:a="http://schemas.openxmlformats.org/drawingml/2006/main">
              <a:ext uri="{FF2B5EF4-FFF2-40B4-BE49-F238E27FC236}">
                <a16:creationId xmlns:a16="http://schemas.microsoft.com/office/drawing/2014/main" id="{FD05F155-D80A-47F2-9D85-90094D68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152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PUBLISH DIALOG</a:t>
            </a:r>
          </a:p>
        </p:txBody>
      </p:sp>
      <p:sp>
        <p:nvSpPr>
          <p:cNvPr id="7" name="07-arrow">
            <a:extLst xmlns:a="http://schemas.openxmlformats.org/drawingml/2006/main">
              <a:ext uri="{FF2B5EF4-FFF2-40B4-BE49-F238E27FC236}">
                <a16:creationId xmlns:a16="http://schemas.microsoft.com/office/drawing/2014/main" id="{D88924D1-F9D8-4435-BDEB-64D9DE26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24200"/>
            <a:ext cx="781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8-node-bg">
            <a:extLst xmlns:a="http://schemas.openxmlformats.org/drawingml/2006/main">
              <a:ext uri="{FF2B5EF4-FFF2-40B4-BE49-F238E27FC236}">
                <a16:creationId xmlns:a16="http://schemas.microsoft.com/office/drawing/2014/main" id="{1DACF29A-C9A6-47B6-B36C-1196F822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09850"/>
            <a:ext cx="238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9" name="09-node-label">
            <a:extLst xmlns:a="http://schemas.openxmlformats.org/drawingml/2006/main">
              <a:ext uri="{FF2B5EF4-FFF2-40B4-BE49-F238E27FC236}">
                <a16:creationId xmlns:a16="http://schemas.microsoft.com/office/drawing/2014/main" id="{F2B1108B-C82C-4455-A137-5C887042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86050"/>
            <a:ext cx="2152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SECURITY SCAN</a:t>
            </a:r>
          </a:p>
        </p:txBody>
      </p:sp>
      <p:sp>
        <p:nvSpPr>
          <p:cNvPr id="10" name="10-arrow">
            <a:extLst xmlns:a="http://schemas.openxmlformats.org/drawingml/2006/main">
              <a:ext uri="{FF2B5EF4-FFF2-40B4-BE49-F238E27FC236}">
                <a16:creationId xmlns:a16="http://schemas.microsoft.com/office/drawing/2014/main" id="{D12701AA-EBBB-430A-864B-5B091F25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7810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1-node-bg">
            <a:extLst xmlns:a="http://schemas.openxmlformats.org/drawingml/2006/main">
              <a:ext uri="{FF2B5EF4-FFF2-40B4-BE49-F238E27FC236}">
                <a16:creationId xmlns:a16="http://schemas.microsoft.com/office/drawing/2014/main" id="{C4F95CE5-EC2A-47BA-9B78-5F9AC37C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09850"/>
            <a:ext cx="238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3A35"/>
            </a:solidFill>
            <a:prstDash val="solid"/>
          </a:ln>
        </p:spPr>
      </p:sp>
      <p:sp>
        <p:nvSpPr>
          <p:cNvPr id="12" name="12-node-label">
            <a:extLst xmlns:a="http://schemas.openxmlformats.org/drawingml/2006/main">
              <a:ext uri="{FF2B5EF4-FFF2-40B4-BE49-F238E27FC236}">
                <a16:creationId xmlns:a16="http://schemas.microsoft.com/office/drawing/2014/main" id="{72A61BE7-338E-4D61-9C34-2C41F4F1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2152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PUBLIC URL</a:t>
            </a:r>
          </a:p>
        </p:txBody>
      </p:sp>
      <p:sp>
        <p:nvSpPr>
          <p:cNvPr id="13" name="13-node-bg">
            <a:extLst xmlns:a="http://schemas.openxmlformats.org/drawingml/2006/main">
              <a:ext uri="{FF2B5EF4-FFF2-40B4-BE49-F238E27FC236}">
                <a16:creationId xmlns:a16="http://schemas.microsoft.com/office/drawing/2014/main" id="{75C89508-4B95-4C3E-8ABE-3FF0E4E7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09850"/>
            <a:ext cx="2381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E7"/>
          </a:solidFill>
          <a:ln xmlns:a="http://schemas.openxmlformats.org/drawingml/2006/main" w="14288">
            <a:solidFill>
              <a:srgbClr val="C4581A"/>
            </a:solidFill>
            <a:prstDash val="solid"/>
          </a:ln>
        </p:spPr>
      </p:sp>
      <p:sp>
        <p:nvSpPr>
          <p:cNvPr id="14" name="14-node-label">
            <a:extLst xmlns:a="http://schemas.openxmlformats.org/drawingml/2006/main">
              <a:ext uri="{FF2B5EF4-FFF2-40B4-BE49-F238E27FC236}">
                <a16:creationId xmlns:a16="http://schemas.microsoft.com/office/drawing/2014/main" id="{C47DDCC0-C15F-4D95-A6DE-58343600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86050"/>
            <a:ext cx="2152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4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INCOGNITO</a:t>
            </a:r>
          </a:p>
        </p:txBody>
      </p:sp>
      <p:sp>
        <p:nvSpPr>
          <p:cNvPr id="15" name="15-publish-truth">
            <a:extLst xmlns:a="http://schemas.openxmlformats.org/drawingml/2006/main">
              <a:ext uri="{FF2B5EF4-FFF2-40B4-BE49-F238E27FC236}">
                <a16:creationId xmlns:a16="http://schemas.microsoft.com/office/drawing/2014/main" id="{F9BDA45E-7C4D-41A6-B647-95FFA23B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1">
                <a:solidFill>
                  <a:srgbClr val="5C5046"/>
                </a:solidFill>
                <a:latin typeface="Fraunces 9pt"/>
                <a:ea typeface="Fraunces 9pt"/>
                <a:cs typeface="Fraunces 9pt"/>
              </a:defRPr>
            </a:pPr>
            <a:r>
              <a:rPr sz="2025" b="0" i="1">
                <a:solidFill>
                  <a:srgbClr val="5C5046"/>
                </a:solidFill>
                <a:latin typeface="Fraunces 9pt"/>
                <a:ea typeface="Fraunces 9pt"/>
                <a:cs typeface="Fraunces 9pt"/>
              </a:rPr>
              <a:t>Free / Pro public apps are accessible to anyone with the link. Use dummy data.</a:t>
            </a:r>
          </a:p>
        </p:txBody>
      </p:sp>
      <p:sp>
        <p:nvSpPr>
          <p:cNvPr id="16" name="16-footer-rule">
            <a:extLst xmlns:a="http://schemas.openxmlformats.org/drawingml/2006/main">
              <a:ext uri="{FF2B5EF4-FFF2-40B4-BE49-F238E27FC236}">
                <a16:creationId xmlns:a16="http://schemas.microsoft.com/office/drawing/2014/main" id="{99AFEEC6-8855-47D1-9708-CE77DE69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7" name="17-footer-left">
            <a:extLst xmlns:a="http://schemas.openxmlformats.org/drawingml/2006/main">
              <a:ext uri="{FF2B5EF4-FFF2-40B4-BE49-F238E27FC236}">
                <a16:creationId xmlns:a16="http://schemas.microsoft.com/office/drawing/2014/main" id="{250D474D-5BC2-4ABB-BE5E-2C809494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01:30-01:35</a:t>
            </a:r>
          </a:p>
        </p:txBody>
      </p:sp>
      <p:sp>
        <p:nvSpPr>
          <p:cNvPr id="18" name="18-footer-right">
            <a:extLst xmlns:a="http://schemas.openxmlformats.org/drawingml/2006/main">
              <a:ext uri="{FF2B5EF4-FFF2-40B4-BE49-F238E27FC236}">
                <a16:creationId xmlns:a16="http://schemas.microsoft.com/office/drawing/2014/main" id="{14383782-D458-446E-84CB-3E1A8F5B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17 / 21</a:t>
            </a:r>
          </a:p>
        </p:txBody>
      </p:sp>
    </p:spTree>
    <p:extLst>
      <p:ext uri="{BB962C8B-B14F-4D97-AF65-F5344CB8AC3E}">
        <p14:creationId xmlns:p14="http://schemas.microsoft.com/office/powerpoint/2010/main" val="5056099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01-kicker">
            <a:extLst xmlns:a="http://schemas.openxmlformats.org/drawingml/2006/main">
              <a:ext uri="{FF2B5EF4-FFF2-40B4-BE49-F238E27FC236}">
                <a16:creationId xmlns:a16="http://schemas.microsoft.com/office/drawing/2014/main" id="{FCD22946-A4A3-4CF7-ABE9-8BFC0159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REVIEWER TESTS BEFORE DESIGN OPINIONS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0F1C9190-CA8F-433A-B58A-A614DCEE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42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Swap laptops. Break the claim.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600B4BE3-8AF3-4A3F-B9CD-AA8E3DE6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device-left">
            <a:extLst xmlns:a="http://schemas.openxmlformats.org/drawingml/2006/main">
              <a:ext uri="{FF2B5EF4-FFF2-40B4-BE49-F238E27FC236}">
                <a16:creationId xmlns:a16="http://schemas.microsoft.com/office/drawing/2014/main" id="{71C5FA46-9FE3-4E8E-9984-31966FC9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38350"/>
            <a:ext cx="4095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E3A35"/>
            </a:solidFill>
            <a:prstDash val="solid"/>
          </a:ln>
        </p:spPr>
      </p:sp>
      <p:sp>
        <p:nvSpPr>
          <p:cNvPr id="5" name="05-device-right">
            <a:extLst xmlns:a="http://schemas.openxmlformats.org/drawingml/2006/main">
              <a:ext uri="{FF2B5EF4-FFF2-40B4-BE49-F238E27FC236}">
                <a16:creationId xmlns:a16="http://schemas.microsoft.com/office/drawing/2014/main" id="{42EE7E3E-820C-4B1F-B827-8E1ABCF2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38350"/>
            <a:ext cx="40957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C4581A"/>
            </a:solidFill>
            <a:prstDash val="solid"/>
          </a:ln>
        </p:spPr>
      </p:sp>
      <p:sp>
        <p:nvSpPr>
          <p:cNvPr id="6" name="06-device-left-label">
            <a:extLst xmlns:a="http://schemas.openxmlformats.org/drawingml/2006/main">
              <a:ext uri="{FF2B5EF4-FFF2-40B4-BE49-F238E27FC236}">
                <a16:creationId xmlns:a16="http://schemas.microsoft.com/office/drawing/2014/main" id="{34D1033C-82B6-4ED7-ADD4-1780DFD4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62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BUILDER</a:t>
            </a:r>
          </a:p>
        </p:txBody>
      </p:sp>
      <p:sp>
        <p:nvSpPr>
          <p:cNvPr id="7" name="07-device-right-label">
            <a:extLst xmlns:a="http://schemas.openxmlformats.org/drawingml/2006/main">
              <a:ext uri="{FF2B5EF4-FFF2-40B4-BE49-F238E27FC236}">
                <a16:creationId xmlns:a16="http://schemas.microsoft.com/office/drawing/2014/main" id="{D9858FE0-8043-40C2-9FF2-E75DD2A8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62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3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REVIEWER</a:t>
            </a:r>
          </a:p>
        </p:txBody>
      </p:sp>
      <p:sp>
        <p:nvSpPr>
          <p:cNvPr id="8" name="08-device-left-copy">
            <a:extLst xmlns:a="http://schemas.openxmlformats.org/drawingml/2006/main">
              <a:ext uri="{FF2B5EF4-FFF2-40B4-BE49-F238E27FC236}">
                <a16:creationId xmlns:a16="http://schemas.microsoft.com/office/drawing/2014/main" id="{455E3568-5DD6-4261-A8DA-57A68A0F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9146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9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Incognito</a:t>
            </a:r>
          </a:p>
          <a:p xmlns:a="http://schemas.openxmlformats.org/drawingml/2006/main">
            <a:pPr algn="ctr">
              <a:defRPr sz="19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9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390 px</a:t>
            </a:r>
          </a:p>
          <a:p xmlns:a="http://schemas.openxmlformats.org/drawingml/2006/main">
            <a:pPr algn="ctr">
              <a:defRPr sz="19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9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keyboard</a:t>
            </a:r>
          </a:p>
          <a:p xmlns:a="http://schemas.openxmlformats.org/drawingml/2006/main">
            <a:pPr algn="ctr">
              <a:defRPr sz="19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9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one invalid input</a:t>
            </a:r>
          </a:p>
        </p:txBody>
      </p:sp>
      <p:sp>
        <p:nvSpPr>
          <p:cNvPr id="9" name="09-device-right-copy">
            <a:extLst xmlns:a="http://schemas.openxmlformats.org/drawingml/2006/main">
              <a:ext uri="{FF2B5EF4-FFF2-40B4-BE49-F238E27FC236}">
                <a16:creationId xmlns:a16="http://schemas.microsoft.com/office/drawing/2014/main" id="{62D0D36C-D955-4354-B3DB-72A40180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146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9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Run the claim.</a:t>
            </a:r>
          </a:p>
          <a:p xmlns:a="http://schemas.openxmlformats.org/drawingml/2006/main">
            <a:pPr algn="ctr">
              <a:defRPr sz="19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9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Initial the log.</a:t>
            </a:r>
          </a:p>
          <a:p xmlns:a="http://schemas.openxmlformats.org/drawingml/2006/main">
            <a:pPr algn="ctr">
              <a:defRPr sz="1950" b="0" i="0">
                <a:solidFill>
                  <a:srgbClr val="1F1A14"/>
                </a:solidFill>
                <a:latin typeface="Geist"/>
                <a:ea typeface="Geist"/>
                <a:cs typeface="Geist"/>
              </a:defRPr>
            </a:pPr>
            <a:r>
              <a:rPr sz="1950" b="0" i="0">
                <a:solidFill>
                  <a:srgbClr val="1F1A14"/>
                </a:solidFill>
                <a:latin typeface="Geist"/>
                <a:ea typeface="Geist"/>
                <a:cs typeface="Geist"/>
              </a:rPr>
              <a:t>Return only evidence.</a:t>
            </a:r>
          </a:p>
        </p:txBody>
      </p:sp>
      <p:sp>
        <p:nvSpPr>
          <p:cNvPr id="10" name="10-arrow">
            <a:extLst xmlns:a="http://schemas.openxmlformats.org/drawingml/2006/main">
              <a:ext uri="{FF2B5EF4-FFF2-40B4-BE49-F238E27FC236}">
                <a16:creationId xmlns:a16="http://schemas.microsoft.com/office/drawing/2014/main" id="{7F82AE22-F3A6-4FF6-82B0-9A3CAEE9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00400"/>
            <a:ext cx="1219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11-swap-takeaway">
            <a:extLst xmlns:a="http://schemas.openxmlformats.org/drawingml/2006/main">
              <a:ext uri="{FF2B5EF4-FFF2-40B4-BE49-F238E27FC236}">
                <a16:creationId xmlns:a16="http://schemas.microsoft.com/office/drawing/2014/main" id="{490BDC6F-D0D7-4739-B151-29F031D1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1">
                <a:solidFill>
                  <a:srgbClr val="5C5046"/>
                </a:solidFill>
                <a:latin typeface="Fraunces 9pt"/>
                <a:ea typeface="Fraunces 9pt"/>
                <a:cs typeface="Fraunces 9pt"/>
              </a:defRPr>
            </a:pPr>
            <a:r>
              <a:rPr sz="2025" b="0" i="1">
                <a:solidFill>
                  <a:srgbClr val="5C5046"/>
                </a:solidFill>
                <a:latin typeface="Fraunces 9pt"/>
                <a:ea typeface="Fraunces 9pt"/>
                <a:cs typeface="Fraunces 9pt"/>
              </a:rPr>
              <a:t>Builder owns fixes.</a:t>
            </a:r>
          </a:p>
        </p:txBody>
      </p:sp>
      <p:sp>
        <p:nvSpPr>
          <p:cNvPr id="12" name="12-footer-rule">
            <a:extLst xmlns:a="http://schemas.openxmlformats.org/drawingml/2006/main">
              <a:ext uri="{FF2B5EF4-FFF2-40B4-BE49-F238E27FC236}">
                <a16:creationId xmlns:a16="http://schemas.microsoft.com/office/drawing/2014/main" id="{22546019-B09F-4974-BDF7-55D8C4A0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13" name="13-footer-left">
            <a:extLst xmlns:a="http://schemas.openxmlformats.org/drawingml/2006/main">
              <a:ext uri="{FF2B5EF4-FFF2-40B4-BE49-F238E27FC236}">
                <a16:creationId xmlns:a16="http://schemas.microsoft.com/office/drawing/2014/main" id="{AEB01E63-6A11-4149-B1DD-124E5F37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01:35-01:46</a:t>
            </a:r>
          </a:p>
        </p:txBody>
      </p:sp>
      <p:sp>
        <p:nvSpPr>
          <p:cNvPr id="14" name="14-footer-right">
            <a:extLst xmlns:a="http://schemas.openxmlformats.org/drawingml/2006/main">
              <a:ext uri="{FF2B5EF4-FFF2-40B4-BE49-F238E27FC236}">
                <a16:creationId xmlns:a16="http://schemas.microsoft.com/office/drawing/2014/main" id="{BBC2E7D4-CC48-4117-8997-D811BC949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18 / 21</a:t>
            </a:r>
          </a:p>
        </p:txBody>
      </p:sp>
    </p:spTree>
    <p:extLst>
      <p:ext uri="{BB962C8B-B14F-4D97-AF65-F5344CB8AC3E}">
        <p14:creationId xmlns:p14="http://schemas.microsoft.com/office/powerpoint/2010/main" val="191538905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-kicker">
            <a:extLst xmlns:a="http://schemas.openxmlformats.org/drawingml/2006/main">
              <a:ext uri="{FF2B5EF4-FFF2-40B4-BE49-F238E27FC236}">
                <a16:creationId xmlns:a16="http://schemas.microsoft.com/office/drawing/2014/main" id="{C89B4F27-2889-41A5-BB38-15553257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ONE BOUNDED REPAIR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BF036D37-3E17-4343-9A48-7C1A0C60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36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Repair a failed test, not your feelings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6EE2971C-37BC-4688-9234-E142A851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repair-prompt-bg">
            <a:extLst xmlns:a="http://schemas.openxmlformats.org/drawingml/2006/main">
              <a:ext uri="{FF2B5EF4-FFF2-40B4-BE49-F238E27FC236}">
                <a16:creationId xmlns:a16="http://schemas.microsoft.com/office/drawing/2014/main" id="{C048D68A-8D6E-437A-B5C8-580B08EC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02489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05-repair-prompt">
            <a:extLst xmlns:a="http://schemas.openxmlformats.org/drawingml/2006/main">
              <a:ext uri="{FF2B5EF4-FFF2-40B4-BE49-F238E27FC236}">
                <a16:creationId xmlns:a16="http://schemas.microsoft.com/office/drawing/2014/main" id="{672E5A95-35FF-4198-99AA-7288218E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00350"/>
            <a:ext cx="9296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2100" b="0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AT-07 + AT-10 fail because disabled state is not persisted.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2100" b="0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Fix only that path; preserve passing behavior; verify both.</a:t>
            </a:r>
          </a:p>
        </p:txBody>
      </p:sp>
      <p:sp>
        <p:nvSpPr>
          <p:cNvPr id="6" name="06-repair-warning">
            <a:extLst xmlns:a="http://schemas.openxmlformats.org/drawingml/2006/main">
              <a:ext uri="{FF2B5EF4-FFF2-40B4-BE49-F238E27FC236}">
                <a16:creationId xmlns:a16="http://schemas.microsoft.com/office/drawing/2014/main" id="{CCE5CA1F-C0D9-4259-8619-65E68686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578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1">
                <a:solidFill>
                  <a:srgbClr val="C4581A"/>
                </a:solidFill>
                <a:latin typeface="Fraunces 9pt"/>
                <a:ea typeface="Fraunces 9pt"/>
                <a:cs typeface="Fraunces 9pt"/>
              </a:defRPr>
            </a:pPr>
            <a:r>
              <a:rPr sz="2025" b="0" i="1">
                <a:solidFill>
                  <a:srgbClr val="C4581A"/>
                </a:solidFill>
                <a:latin typeface="Fraunces 9pt"/>
                <a:ea typeface="Fraunces 9pt"/>
                <a:cs typeface="Fraunces 9pt"/>
              </a:rPr>
              <a:t>Broad aesthetic prompts at this point are scope failure.</a:t>
            </a:r>
          </a:p>
        </p:txBody>
      </p:sp>
      <p:sp>
        <p:nvSpPr>
          <p:cNvPr id="7" name="07-footer-rule">
            <a:extLst xmlns:a="http://schemas.openxmlformats.org/drawingml/2006/main">
              <a:ext uri="{FF2B5EF4-FFF2-40B4-BE49-F238E27FC236}">
                <a16:creationId xmlns:a16="http://schemas.microsoft.com/office/drawing/2014/main" id="{0E3F4EDC-4290-4005-9A72-675AC468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8" name="08-footer-left">
            <a:extLst xmlns:a="http://schemas.openxmlformats.org/drawingml/2006/main">
              <a:ext uri="{FF2B5EF4-FFF2-40B4-BE49-F238E27FC236}">
                <a16:creationId xmlns:a16="http://schemas.microsoft.com/office/drawing/2014/main" id="{9644C7C5-54D6-4D51-A37E-8173CA95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01:46-01:52</a:t>
            </a:r>
          </a:p>
        </p:txBody>
      </p:sp>
      <p:sp>
        <p:nvSpPr>
          <p:cNvPr id="9" name="09-footer-right">
            <a:extLst xmlns:a="http://schemas.openxmlformats.org/drawingml/2006/main">
              <a:ext uri="{FF2B5EF4-FFF2-40B4-BE49-F238E27FC236}">
                <a16:creationId xmlns:a16="http://schemas.microsoft.com/office/drawing/2014/main" id="{5B4CD2B5-E807-41BA-B310-7B20D01E1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19 / 21</a:t>
            </a:r>
          </a:p>
        </p:txBody>
      </p:sp>
    </p:spTree>
    <p:extLst>
      <p:ext uri="{BB962C8B-B14F-4D97-AF65-F5344CB8AC3E}">
        <p14:creationId xmlns:p14="http://schemas.microsoft.com/office/powerpoint/2010/main" val="6772990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01-kicker">
            <a:extLst xmlns:a="http://schemas.openxmlformats.org/drawingml/2006/main">
              <a:ext uri="{FF2B5EF4-FFF2-40B4-BE49-F238E27FC236}">
                <a16:creationId xmlns:a16="http://schemas.microsoft.com/office/drawing/2014/main" id="{39855D0A-4416-474B-952B-AA1E5ED0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AUTO-GRANTED AT V1 RECEIPT · TEN-DAY REVISION ARC</a:t>
            </a:r>
          </a:p>
        </p:txBody>
      </p:sp>
      <p:sp>
        <p:nvSpPr>
          <p:cNvPr id="2" name="02-title">
            <a:extLst xmlns:a="http://schemas.openxmlformats.org/drawingml/2006/main">
              <a:ext uri="{FF2B5EF4-FFF2-40B4-BE49-F238E27FC236}">
                <a16:creationId xmlns:a16="http://schemas.microsoft.com/office/drawing/2014/main" id="{FA3D8283-665A-4295-B3DB-5F44C812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defRPr>
            </a:pPr>
            <a:r>
              <a:rPr sz="3600" b="1" i="0">
                <a:solidFill>
                  <a:srgbClr val="1F1A14"/>
                </a:solidFill>
                <a:latin typeface="Fraunces 9pt"/>
                <a:ea typeface="Fraunces 9pt"/>
                <a:cs typeface="Fraunces 9pt"/>
              </a:rPr>
              <a:t>V1 is evidence. V2 is controlled learning.</a:t>
            </a:r>
          </a:p>
        </p:txBody>
      </p:sp>
      <p:sp>
        <p:nvSpPr>
          <p:cNvPr id="3" name="03-title-rule">
            <a:extLst xmlns:a="http://schemas.openxmlformats.org/drawingml/2006/main">
              <a:ext uri="{FF2B5EF4-FFF2-40B4-BE49-F238E27FC236}">
                <a16:creationId xmlns:a16="http://schemas.microsoft.com/office/drawing/2014/main" id="{A2D853E9-5285-46D8-A2D8-EEA3D6E0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4" name="04-v2-stage">
            <a:extLst xmlns:a="http://schemas.openxmlformats.org/drawingml/2006/main">
              <a:ext uri="{FF2B5EF4-FFF2-40B4-BE49-F238E27FC236}">
                <a16:creationId xmlns:a16="http://schemas.microsoft.com/office/drawing/2014/main" id="{3AD4B3B2-B4BA-4BF1-8999-0DB37DCA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24193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5" name="05-v2-day">
            <a:extLst xmlns:a="http://schemas.openxmlformats.org/drawingml/2006/main">
              <a:ext uri="{FF2B5EF4-FFF2-40B4-BE49-F238E27FC236}">
                <a16:creationId xmlns:a16="http://schemas.microsoft.com/office/drawing/2014/main" id="{8BE05E31-299D-4414-8993-9D04E5B5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1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DAY 0</a:t>
            </a:r>
          </a:p>
        </p:txBody>
      </p:sp>
      <p:sp>
        <p:nvSpPr>
          <p:cNvPr id="6" name="06-v2-label">
            <a:extLst xmlns:a="http://schemas.openxmlformats.org/drawingml/2006/main">
              <a:ext uri="{FF2B5EF4-FFF2-40B4-BE49-F238E27FC236}">
                <a16:creationId xmlns:a16="http://schemas.microsoft.com/office/drawing/2014/main" id="{1728F4D0-20D4-4A13-9966-EC6A5E7F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5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V1 + AUTO-GRANT</a:t>
            </a:r>
          </a:p>
        </p:txBody>
      </p:sp>
      <p:sp>
        <p:nvSpPr>
          <p:cNvPr id="7" name="07-v2-sub">
            <a:extLst xmlns:a="http://schemas.openxmlformats.org/drawingml/2006/main">
              <a:ext uri="{FF2B5EF4-FFF2-40B4-BE49-F238E27FC236}">
                <a16:creationId xmlns:a16="http://schemas.microsoft.com/office/drawing/2014/main" id="{9C59EE27-0940-452A-8066-DAC33320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C5046"/>
                </a:solidFill>
                <a:latin typeface="Geist"/>
                <a:ea typeface="Geist"/>
                <a:cs typeface="Geist"/>
              </a:defRPr>
            </a:pPr>
            <a:r>
              <a:rPr sz="1275" b="0" i="0">
                <a:solidFill>
                  <a:srgbClr val="5C5046"/>
                </a:solidFill>
                <a:latin typeface="Geist"/>
                <a:ea typeface="Geist"/>
                <a:cs typeface="Geist"/>
              </a:rPr>
              <a:t>receipt starts clock</a:t>
            </a:r>
          </a:p>
        </p:txBody>
      </p:sp>
      <p:sp>
        <p:nvSpPr>
          <p:cNvPr id="8" name="08-arrow">
            <a:extLst xmlns:a="http://schemas.openxmlformats.org/drawingml/2006/main">
              <a:ext uri="{FF2B5EF4-FFF2-40B4-BE49-F238E27FC236}">
                <a16:creationId xmlns:a16="http://schemas.microsoft.com/office/drawing/2014/main" id="{DB14C6AF-311F-4CBB-B20F-74792E07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57600"/>
            <a:ext cx="3429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9-v2-stage">
            <a:extLst xmlns:a="http://schemas.openxmlformats.org/drawingml/2006/main">
              <a:ext uri="{FF2B5EF4-FFF2-40B4-BE49-F238E27FC236}">
                <a16:creationId xmlns:a16="http://schemas.microsoft.com/office/drawing/2014/main" id="{41611EE6-8B1C-4748-8221-F844F1E9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19400"/>
            <a:ext cx="24193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10" name="10-v2-day">
            <a:extLst xmlns:a="http://schemas.openxmlformats.org/drawingml/2006/main">
              <a:ext uri="{FF2B5EF4-FFF2-40B4-BE49-F238E27FC236}">
                <a16:creationId xmlns:a16="http://schemas.microsoft.com/office/drawing/2014/main" id="{B0C3617F-39A9-4AC5-88C0-325458E7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28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1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DAYS 1-8</a:t>
            </a:r>
          </a:p>
        </p:txBody>
      </p:sp>
      <p:sp>
        <p:nvSpPr>
          <p:cNvPr id="11" name="11-v2-label">
            <a:extLst xmlns:a="http://schemas.openxmlformats.org/drawingml/2006/main">
              <a:ext uri="{FF2B5EF4-FFF2-40B4-BE49-F238E27FC236}">
                <a16:creationId xmlns:a16="http://schemas.microsoft.com/office/drawing/2014/main" id="{F5D50E63-C540-4C14-870B-FC62FEDA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861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5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CHOOSE + REPAIR</a:t>
            </a:r>
          </a:p>
        </p:txBody>
      </p:sp>
      <p:sp>
        <p:nvSpPr>
          <p:cNvPr id="12" name="12-v2-sub">
            <a:extLst xmlns:a="http://schemas.openxmlformats.org/drawingml/2006/main">
              <a:ext uri="{FF2B5EF4-FFF2-40B4-BE49-F238E27FC236}">
                <a16:creationId xmlns:a16="http://schemas.microsoft.com/office/drawing/2014/main" id="{30606C90-BF52-4CA8-83C3-B31ED487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1529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C5046"/>
                </a:solidFill>
                <a:latin typeface="Geist"/>
                <a:ea typeface="Geist"/>
                <a:cs typeface="Geist"/>
              </a:defRPr>
            </a:pPr>
            <a:r>
              <a:rPr sz="1275" b="0" i="0">
                <a:solidFill>
                  <a:srgbClr val="5C5046"/>
                </a:solidFill>
                <a:latin typeface="Geist"/>
                <a:ea typeface="Geist"/>
                <a:cs typeface="Geist"/>
              </a:rPr>
              <a:t>one weakness</a:t>
            </a:r>
          </a:p>
        </p:txBody>
      </p:sp>
      <p:sp>
        <p:nvSpPr>
          <p:cNvPr id="13" name="13-arrow">
            <a:extLst xmlns:a="http://schemas.openxmlformats.org/drawingml/2006/main">
              <a:ext uri="{FF2B5EF4-FFF2-40B4-BE49-F238E27FC236}">
                <a16:creationId xmlns:a16="http://schemas.microsoft.com/office/drawing/2014/main" id="{7EAF7E90-8CA9-4FD8-A909-8E138B8A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57600"/>
            <a:ext cx="3429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14-v2-stage">
            <a:extLst xmlns:a="http://schemas.openxmlformats.org/drawingml/2006/main">
              <a:ext uri="{FF2B5EF4-FFF2-40B4-BE49-F238E27FC236}">
                <a16:creationId xmlns:a16="http://schemas.microsoft.com/office/drawing/2014/main" id="{0026BB81-E277-42D6-9EDB-091D0348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24193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DE5D8"/>
            </a:solidFill>
            <a:prstDash val="solid"/>
          </a:ln>
        </p:spPr>
      </p:sp>
      <p:sp>
        <p:nvSpPr>
          <p:cNvPr id="15" name="15-v2-day">
            <a:extLst xmlns:a="http://schemas.openxmlformats.org/drawingml/2006/main">
              <a:ext uri="{FF2B5EF4-FFF2-40B4-BE49-F238E27FC236}">
                <a16:creationId xmlns:a16="http://schemas.microsoft.com/office/drawing/2014/main" id="{CFB7DC85-8EC2-4637-B3BE-CCAE8127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1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DAY 9</a:t>
            </a:r>
          </a:p>
        </p:txBody>
      </p:sp>
      <p:sp>
        <p:nvSpPr>
          <p:cNvPr id="16" name="16-v2-label">
            <a:extLst xmlns:a="http://schemas.openxmlformats.org/drawingml/2006/main">
              <a:ext uri="{FF2B5EF4-FFF2-40B4-BE49-F238E27FC236}">
                <a16:creationId xmlns:a16="http://schemas.microsoft.com/office/drawing/2014/main" id="{00BD0A46-D7B8-4079-97C7-F35310B8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861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5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REGRESS</a:t>
            </a:r>
          </a:p>
        </p:txBody>
      </p:sp>
      <p:sp>
        <p:nvSpPr>
          <p:cNvPr id="17" name="17-v2-sub">
            <a:extLst xmlns:a="http://schemas.openxmlformats.org/drawingml/2006/main">
              <a:ext uri="{FF2B5EF4-FFF2-40B4-BE49-F238E27FC236}">
                <a16:creationId xmlns:a16="http://schemas.microsoft.com/office/drawing/2014/main" id="{543603BD-7F43-4FB6-94D3-6EBABCD8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529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C5046"/>
                </a:solidFill>
                <a:latin typeface="Geist"/>
                <a:ea typeface="Geist"/>
                <a:cs typeface="Geist"/>
              </a:defRPr>
            </a:pPr>
            <a:r>
              <a:rPr sz="1275" b="0" i="0">
                <a:solidFill>
                  <a:srgbClr val="5C5046"/>
                </a:solidFill>
                <a:latin typeface="Geist"/>
                <a:ea typeface="Geist"/>
                <a:cs typeface="Geist"/>
              </a:rPr>
              <a:t>all ATs</a:t>
            </a:r>
          </a:p>
        </p:txBody>
      </p:sp>
      <p:sp>
        <p:nvSpPr>
          <p:cNvPr id="18" name="18-arrow">
            <a:extLst xmlns:a="http://schemas.openxmlformats.org/drawingml/2006/main">
              <a:ext uri="{FF2B5EF4-FFF2-40B4-BE49-F238E27FC236}">
                <a16:creationId xmlns:a16="http://schemas.microsoft.com/office/drawing/2014/main" id="{98E04444-033C-4ADA-816F-4F0DBF1F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57600"/>
            <a:ext cx="3429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3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19-v2-stage">
            <a:extLst xmlns:a="http://schemas.openxmlformats.org/drawingml/2006/main">
              <a:ext uri="{FF2B5EF4-FFF2-40B4-BE49-F238E27FC236}">
                <a16:creationId xmlns:a16="http://schemas.microsoft.com/office/drawing/2014/main" id="{D49E48F6-5970-42F5-9C29-B3BCAAE6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19400"/>
            <a:ext cx="241935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E7"/>
          </a:solidFill>
          <a:ln xmlns:a="http://schemas.openxmlformats.org/drawingml/2006/main" w="19050">
            <a:solidFill>
              <a:srgbClr val="C4581A"/>
            </a:solidFill>
            <a:prstDash val="solid"/>
          </a:ln>
        </p:spPr>
      </p:sp>
      <p:sp>
        <p:nvSpPr>
          <p:cNvPr id="20" name="20-v2-day">
            <a:extLst xmlns:a="http://schemas.openxmlformats.org/drawingml/2006/main">
              <a:ext uri="{FF2B5EF4-FFF2-40B4-BE49-F238E27FC236}">
                <a16:creationId xmlns:a16="http://schemas.microsoft.com/office/drawing/2014/main" id="{1CD1DD7D-0950-4A9A-97B5-36432DFD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defRPr>
            </a:pPr>
            <a:r>
              <a:rPr sz="1125" b="1" i="0">
                <a:solidFill>
                  <a:srgbClr val="C4581A"/>
                </a:solidFill>
                <a:latin typeface="Geist Mono"/>
                <a:ea typeface="Geist Mono"/>
                <a:cs typeface="Geist Mono"/>
              </a:rPr>
              <a:t>DAY 10</a:t>
            </a:r>
          </a:p>
        </p:txBody>
      </p:sp>
      <p:sp>
        <p:nvSpPr>
          <p:cNvPr id="21" name="21-v2-label">
            <a:extLst xmlns:a="http://schemas.openxmlformats.org/drawingml/2006/main">
              <a:ext uri="{FF2B5EF4-FFF2-40B4-BE49-F238E27FC236}">
                <a16:creationId xmlns:a16="http://schemas.microsoft.com/office/drawing/2014/main" id="{06453BCF-6006-40E7-9BE8-1EDEF885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8615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defRPr>
            </a:pPr>
            <a:r>
              <a:rPr sz="1500" b="1" i="0">
                <a:solidFill>
                  <a:srgbClr val="1E3A35"/>
                </a:solidFill>
                <a:latin typeface="Geist Mono"/>
                <a:ea typeface="Geist Mono"/>
                <a:cs typeface="Geist Mono"/>
              </a:rPr>
              <a:t>V2</a:t>
            </a:r>
          </a:p>
        </p:txBody>
      </p:sp>
      <p:sp>
        <p:nvSpPr>
          <p:cNvPr id="22" name="22-v2-sub">
            <a:extLst xmlns:a="http://schemas.openxmlformats.org/drawingml/2006/main">
              <a:ext uri="{FF2B5EF4-FFF2-40B4-BE49-F238E27FC236}">
                <a16:creationId xmlns:a16="http://schemas.microsoft.com/office/drawing/2014/main" id="{D8D3A14F-530C-4E57-B38F-DB084162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529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C5046"/>
                </a:solidFill>
                <a:latin typeface="Geist"/>
                <a:ea typeface="Geist"/>
                <a:cs typeface="Geist"/>
              </a:defRPr>
            </a:pPr>
            <a:r>
              <a:rPr sz="1275" b="0" i="0">
                <a:solidFill>
                  <a:srgbClr val="5C5046"/>
                </a:solidFill>
                <a:latin typeface="Geist"/>
                <a:ea typeface="Geist"/>
                <a:cs typeface="Geist"/>
              </a:rPr>
              <a:t>publish + submit</a:t>
            </a:r>
          </a:p>
        </p:txBody>
      </p:sp>
      <p:sp>
        <p:nvSpPr>
          <p:cNvPr id="23" name="23-credit-fact">
            <a:extLst xmlns:a="http://schemas.openxmlformats.org/drawingml/2006/main">
              <a:ext uri="{FF2B5EF4-FFF2-40B4-BE49-F238E27FC236}">
                <a16:creationId xmlns:a16="http://schemas.microsoft.com/office/drawing/2014/main" id="{391D06C6-CE35-4E35-AF8E-93D7FAF0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defRPr>
            </a:pPr>
            <a:r>
              <a:rPr sz="1350" b="0" i="0">
                <a:solidFill>
                  <a:srgbClr val="5C5046"/>
                </a:solidFill>
                <a:latin typeface="Geist Mono"/>
                <a:ea typeface="Geist Mono"/>
                <a:cs typeface="Geist Mono"/>
              </a:rPr>
              <a:t>Verified 30 Jul 2026 · T-7 recheck: 5/day, up to 30/month · no rollover</a:t>
            </a:r>
          </a:p>
        </p:txBody>
      </p:sp>
      <p:sp>
        <p:nvSpPr>
          <p:cNvPr id="24" name="24-footer-rule">
            <a:extLst xmlns:a="http://schemas.openxmlformats.org/drawingml/2006/main">
              <a:ext uri="{FF2B5EF4-FFF2-40B4-BE49-F238E27FC236}">
                <a16:creationId xmlns:a16="http://schemas.microsoft.com/office/drawing/2014/main" id="{959A6502-3EA4-40E2-9393-6E374C2F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E5D8"/>
            </a:solidFill>
            <a:prstDash val="solid"/>
          </a:ln>
        </p:spPr>
      </p:sp>
      <p:sp>
        <p:nvSpPr>
          <p:cNvPr id="25" name="25-footer-left">
            <a:extLst xmlns:a="http://schemas.openxmlformats.org/drawingml/2006/main">
              <a:ext uri="{FF2B5EF4-FFF2-40B4-BE49-F238E27FC236}">
                <a16:creationId xmlns:a16="http://schemas.microsoft.com/office/drawing/2014/main" id="{64018FCE-A425-4F13-B0C3-6E90353C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SESSION 04  /  01:52-01:59</a:t>
            </a:r>
          </a:p>
        </p:txBody>
      </p:sp>
      <p:sp>
        <p:nvSpPr>
          <p:cNvPr id="26" name="26-footer-right">
            <a:extLst xmlns:a="http://schemas.openxmlformats.org/drawingml/2006/main">
              <a:ext uri="{FF2B5EF4-FFF2-40B4-BE49-F238E27FC236}">
                <a16:creationId xmlns:a16="http://schemas.microsoft.com/office/drawing/2014/main" id="{2C0BF4A1-6695-4E34-89D2-CDF70843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9C8E82"/>
                </a:solidFill>
                <a:latin typeface="Geist Mono"/>
                <a:ea typeface="Geist Mono"/>
                <a:cs typeface="Geist Mono"/>
              </a:rPr>
              <a:t>20 / 21</a:t>
            </a:r>
          </a:p>
        </p:txBody>
      </p:sp>
    </p:spTree>
    <p:extLst>
      <p:ext uri="{BB962C8B-B14F-4D97-AF65-F5344CB8AC3E}">
        <p14:creationId xmlns:p14="http://schemas.microsoft.com/office/powerpoint/2010/main" val="5756851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E3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01-kicker">
            <a:extLst xmlns:a="http://schemas.openxmlformats.org/drawingml/2006/main">
              <a:ext uri="{FF2B5EF4-FFF2-40B4-BE49-F238E27FC236}">
                <a16:creationId xmlns:a16="http://schemas.microsoft.com/office/drawing/2014/main" id="{7CEF6EA3-09AD-4B92-B994-74735A28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defRPr>
            </a:pPr>
            <a:r>
              <a:rPr sz="10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rPr>
              <a:t>UP NEXT · SESSION 05</a:t>
            </a:r>
          </a:p>
        </p:txBody>
      </p:sp>
      <p:sp>
        <p:nvSpPr>
          <p:cNvPr id="2" name="02-closing-title">
            <a:extLst xmlns:a="http://schemas.openxmlformats.org/drawingml/2006/main">
              <a:ext uri="{FF2B5EF4-FFF2-40B4-BE49-F238E27FC236}">
                <a16:creationId xmlns:a16="http://schemas.microsoft.com/office/drawing/2014/main" id="{148DB810-0692-4262-887D-E647A587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F5F0E8"/>
                </a:solidFill>
                <a:latin typeface="Fraunces 9pt"/>
                <a:ea typeface="Fraunces 9pt"/>
                <a:cs typeface="Fraunces 9pt"/>
              </a:defRPr>
            </a:pPr>
            <a:r>
              <a:rPr sz="5400" b="1" i="0">
                <a:solidFill>
                  <a:srgbClr val="F5F0E8"/>
                </a:solidFill>
                <a:latin typeface="Fraunces 9pt"/>
                <a:ea typeface="Fraunces 9pt"/>
                <a:cs typeface="Fraunces 9pt"/>
              </a:rPr>
              <a:t>Your app now needs a system</a:t>
            </a:r>
          </a:p>
        </p:txBody>
      </p:sp>
      <p:sp>
        <p:nvSpPr>
          <p:cNvPr id="3" name="03-app-event-bg">
            <a:extLst xmlns:a="http://schemas.openxmlformats.org/drawingml/2006/main">
              <a:ext uri="{FF2B5EF4-FFF2-40B4-BE49-F238E27FC236}">
                <a16:creationId xmlns:a16="http://schemas.microsoft.com/office/drawing/2014/main" id="{D183EBE5-92AC-46CE-8C03-E637EDAC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3105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A43"/>
          </a:solidFill>
          <a:ln xmlns:a="http://schemas.openxmlformats.org/drawingml/2006/main" w="14288">
            <a:solidFill>
              <a:srgbClr val="6B8A82"/>
            </a:solidFill>
            <a:prstDash val="solid"/>
          </a:ln>
        </p:spPr>
      </p:sp>
      <p:sp>
        <p:nvSpPr>
          <p:cNvPr id="4" name="04-app-event">
            <a:extLst xmlns:a="http://schemas.openxmlformats.org/drawingml/2006/main">
              <a:ext uri="{FF2B5EF4-FFF2-40B4-BE49-F238E27FC236}">
                <a16:creationId xmlns:a16="http://schemas.microsoft.com/office/drawing/2014/main" id="{8BFB7A26-DCE7-4623-AFD1-FAC1390D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241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defRPr>
            </a:pPr>
            <a:r>
              <a:rPr sz="1950" b="1" i="0">
                <a:solidFill>
                  <a:srgbClr val="F0D478"/>
                </a:solidFill>
                <a:latin typeface="Geist Mono"/>
                <a:ea typeface="Geist Mono"/>
                <a:cs typeface="Geist Mono"/>
              </a:rPr>
              <a:t>APP EVENT</a:t>
            </a:r>
          </a:p>
        </p:txBody>
      </p:sp>
      <p:sp>
        <p:nvSpPr>
          <p:cNvPr id="5" name="05-arrow">
            <a:extLst xmlns:a="http://schemas.openxmlformats.org/drawingml/2006/main">
              <a:ext uri="{FF2B5EF4-FFF2-40B4-BE49-F238E27FC236}">
                <a16:creationId xmlns:a16="http://schemas.microsoft.com/office/drawing/2014/main" id="{D26141BD-CDDA-407C-904A-6C64E79A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48100"/>
            <a:ext cx="2247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663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6-workflow-empty-bg">
            <a:extLst xmlns:a="http://schemas.openxmlformats.org/drawingml/2006/main">
              <a:ext uri="{FF2B5EF4-FFF2-40B4-BE49-F238E27FC236}">
                <a16:creationId xmlns:a16="http://schemas.microsoft.com/office/drawing/2014/main" id="{767D3394-905E-4463-91EC-BF79EE50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4457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581A"/>
            </a:solidFill>
            <a:prstDash val="solid"/>
          </a:ln>
        </p:spPr>
      </p:sp>
      <p:sp>
        <p:nvSpPr>
          <p:cNvPr id="7" name="07-workflow-question">
            <a:extLst xmlns:a="http://schemas.openxmlformats.org/drawingml/2006/main">
              <a:ext uri="{FF2B5EF4-FFF2-40B4-BE49-F238E27FC236}">
                <a16:creationId xmlns:a16="http://schemas.microsoft.com/office/drawing/2014/main" id="{B73E9A49-E53D-45D1-B108-12CBC6AF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3848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5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WHICH EVENT COULD ACQUIRE, SERVE,</a:t>
            </a:r>
          </a:p>
          <a:p xmlns:a="http://schemas.openxmlformats.org/drawingml/2006/main">
            <a:pPr algn="ctr">
              <a:defRPr sz="15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defRPr>
            </a:pPr>
            <a:r>
              <a:rPr sz="1500" b="1" i="0">
                <a:solidFill>
                  <a:srgbClr val="F5F0E8"/>
                </a:solidFill>
                <a:latin typeface="Geist Mono"/>
                <a:ea typeface="Geist Mono"/>
                <a:cs typeface="Geist Mono"/>
              </a:rPr>
              <a:t>RETAIN - OR RECOVER - A USER?</a:t>
            </a:r>
          </a:p>
        </p:txBody>
      </p:sp>
      <p:sp>
        <p:nvSpPr>
          <p:cNvPr id="8" name="08-footer-rule">
            <a:extLst xmlns:a="http://schemas.openxmlformats.org/drawingml/2006/main">
              <a:ext uri="{FF2B5EF4-FFF2-40B4-BE49-F238E27FC236}">
                <a16:creationId xmlns:a16="http://schemas.microsoft.com/office/drawing/2014/main" id="{C568A31C-9778-4138-BDEC-13B41EFA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635D"/>
            </a:solidFill>
            <a:prstDash val="solid"/>
          </a:ln>
        </p:spPr>
      </p:sp>
      <p:sp>
        <p:nvSpPr>
          <p:cNvPr id="9" name="09-footer-left">
            <a:extLst xmlns:a="http://schemas.openxmlformats.org/drawingml/2006/main">
              <a:ext uri="{FF2B5EF4-FFF2-40B4-BE49-F238E27FC236}">
                <a16:creationId xmlns:a16="http://schemas.microsoft.com/office/drawing/2014/main" id="{0F2F8C7E-B324-4790-BFDB-B87FE3FD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SESSION 04  /  01:59-02:00</a:t>
            </a:r>
          </a:p>
        </p:txBody>
      </p:sp>
      <p:sp>
        <p:nvSpPr>
          <p:cNvPr id="10" name="10-footer-right">
            <a:extLst xmlns:a="http://schemas.openxmlformats.org/drawingml/2006/main">
              <a:ext uri="{FF2B5EF4-FFF2-40B4-BE49-F238E27FC236}">
                <a16:creationId xmlns:a16="http://schemas.microsoft.com/office/drawing/2014/main" id="{12732169-29E9-49C1-81C6-10E845DE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43675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defRPr>
            </a:pPr>
            <a:r>
              <a:rPr sz="825" b="0" i="0">
                <a:solidFill>
                  <a:srgbClr val="C7D3CE"/>
                </a:solidFill>
                <a:latin typeface="Geist Mono"/>
                <a:ea typeface="Geist Mono"/>
                <a:cs typeface="Geist Mono"/>
              </a:rPr>
              <a:t>21 / 21</a:t>
            </a:r>
          </a:p>
        </p:txBody>
      </p:sp>
    </p:spTree>
    <p:extLst>
      <p:ext uri="{BB962C8B-B14F-4D97-AF65-F5344CB8AC3E}">
        <p14:creationId xmlns:p14="http://schemas.microsoft.com/office/powerpoint/2010/main" val="1573107374"/>
      </p:ext>
    </p:extLst>
  </p:cSld>
</p:sld>
</file>

<file path=ppt/theme/theme1.xml><?xml version="1.0" encoding="utf-8"?>
<a:theme xmlns:a="http://schemas.openxmlformats.org/drawingml/2006/main" name="ChatGPT">
  <a:themeElements>
    <a:clrScheme name="Session 04 - A $30K clue is not a build brief Editorial">
      <a:dk1>
        <a:srgbClr val="1F1A14"/>
      </a:dk1>
      <a:lt1>
        <a:srgbClr val="FFFFFF"/>
      </a:lt1>
      <a:dk2>
        <a:srgbClr val="1E3A35"/>
      </a:dk2>
      <a:lt2>
        <a:srgbClr val="F5F0E8"/>
      </a:lt2>
      <a:accent1>
        <a:srgbClr val="1E3A35"/>
      </a:accent1>
      <a:accent2>
        <a:srgbClr val="C4581A"/>
      </a:accent2>
      <a:accent3>
        <a:srgbClr val="F0D478"/>
      </a:accent3>
      <a:accent4>
        <a:srgbClr val="EDE5D8"/>
      </a:accent4>
      <a:accent5>
        <a:srgbClr val="5C5046"/>
      </a:accent5>
      <a:accent6>
        <a:srgbClr val="9C8E82"/>
      </a:accent6>
      <a:hlink>
        <a:srgbClr val="C4581A"/>
      </a:hlink>
      <a:folHlink>
        <a:srgbClr val="5C504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ession 04 - A $30K clue is not a build brief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2026-07-30T03:50:50.0110000Z</dcterms:created>
  <dcterms:modified xsi:type="dcterms:W3CDTF">2026-07-30T03:50:50.0110000Z</dcterms:modified>
</coreProperties>
</file>